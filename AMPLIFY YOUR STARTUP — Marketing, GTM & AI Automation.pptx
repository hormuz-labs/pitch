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6256000" cy="9144000"/>
  <p:notesSz cx="9144000" cy="16256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Data-Driven</c:v>
                </c:pt>
              </c:strCache>
            </c:strRef>
          </c:tx>
          <c:spPr>
            <a:solidFill>
              <a:srgbClr val="D91E18"/>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Conversion Rate</c:v>
                  </c:pt>
                  <c:pt idx="1">
                    <c:v>Email Open Rate</c:v>
                  </c:pt>
                  <c:pt idx="2">
                    <c:v>CAC Efficiency</c:v>
                  </c:pt>
                  <c:pt idx="3">
                    <c:v>Lead Quality Score</c:v>
                  </c:pt>
                </c:lvl>
              </c:multiLvlStrCache>
            </c:multiLvlStrRef>
          </c:cat>
          <c:val>
            <c:numRef>
              <c:f>Sheet1!$B$2:$B$5</c:f>
              <c:numCache>
                <c:formatCode>General</c:formatCode>
                <c:ptCount val="4"/>
                <c:pt idx="0">
                  <c:v>4.2</c:v>
                </c:pt>
                <c:pt idx="1">
                  <c:v>28.5</c:v>
                </c:pt>
                <c:pt idx="2">
                  <c:v>3.1</c:v>
                </c:pt>
                <c:pt idx="3">
                  <c:v>82</c:v>
                </c:pt>
              </c:numCache>
            </c:numRef>
          </c:val>
        </c:ser>
        <c:ser>
          <c:idx val="1"/>
          <c:order val="1"/>
          <c:tx>
            <c:strRef>
              <c:f>Sheet1!$C$1</c:f>
              <c:strCache>
                <c:ptCount val="1"/>
                <c:pt idx="0">
                  <c:v>Intuition-Led</c:v>
                </c:pt>
              </c:strCache>
            </c:strRef>
          </c:tx>
          <c:spPr>
            <a:solidFill>
              <a:srgbClr val="DDDDDD"/>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Conversion Rate</c:v>
                  </c:pt>
                  <c:pt idx="1">
                    <c:v>Email Open Rate</c:v>
                  </c:pt>
                  <c:pt idx="2">
                    <c:v>CAC Efficiency</c:v>
                  </c:pt>
                  <c:pt idx="3">
                    <c:v>Lead Quality Score</c:v>
                  </c:pt>
                </c:lvl>
              </c:multiLvlStrCache>
            </c:multiLvlStrRef>
          </c:cat>
          <c:val>
            <c:numRef>
              <c:f>Sheet1!$C$2:$C$5</c:f>
              <c:numCache>
                <c:formatCode>General</c:formatCode>
                <c:ptCount val="4"/>
                <c:pt idx="0">
                  <c:v>0.8</c:v>
                </c:pt>
                <c:pt idx="1">
                  <c:v>18.2</c:v>
                </c:pt>
                <c:pt idx="2">
                  <c:v>1</c:v>
                </c:pt>
                <c:pt idx="3">
                  <c:v>45</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56"/>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DDDDD"/>
            </a:solidFill>
            <a:prstDash val="solid"/>
            <a:round/>
          </a:ln>
        </c:spPr>
        <c:txPr>
          <a:bodyPr/>
          <a:lstStyle/>
          <a:p>
            <a:pPr>
              <a:defRPr sz="10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eeeee"/>
              </a:solidFill>
              <a:prstDash val="dash"/>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Benchmark Score</c:v>
                </c:pt>
              </c:strCache>
            </c:strRef>
          </c:tx>
          <c:spPr>
            <a:solidFill>
              <a:srgbClr val="D91E18"/>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Acquisition</c:v>
                  </c:pt>
                  <c:pt idx="1">
                    <c:v>Activation</c:v>
                  </c:pt>
                  <c:pt idx="2">
                    <c:v>Retention</c:v>
                  </c:pt>
                  <c:pt idx="3">
                    <c:v>Referral</c:v>
                  </c:pt>
                  <c:pt idx="4">
                    <c:v>Revenue</c:v>
                  </c:pt>
                </c:lvl>
              </c:multiLvlStrCache>
            </c:multiLvlStrRef>
          </c:cat>
          <c:val>
            <c:numRef>
              <c:f>Sheet1!$B$2:$B$6</c:f>
              <c:numCache>
                <c:formatCode>General</c:formatCode>
                <c:ptCount val="5"/>
                <c:pt idx="0">
                  <c:v>85</c:v>
                </c:pt>
                <c:pt idx="1">
                  <c:v>62</c:v>
                </c:pt>
                <c:pt idx="2">
                  <c:v>48</c:v>
                </c:pt>
                <c:pt idx="3">
                  <c:v>35</c:v>
                </c:pt>
                <c:pt idx="4">
                  <c:v>28</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56"/>
        <c:overlap val="0"/>
        <c:axId val="2094734554"/>
        <c:axId val="2094734552"/>
        <c:axId val="2094734556"/>
      </c:barChart>
      <c:catAx>
        <c:axId val="2094734554"/>
        <c:scaling>
          <c:orientation val="minMax"/>
        </c:scaling>
        <c:delete val="0"/>
        <c:axPos val="l"/>
        <c:majorGridlines>
          <c:spPr>
            <a:ln w="12700" cap="flat">
              <a:solidFill>
                <a:srgbClr val="eeeeee"/>
              </a:solidFill>
              <a:prstDash val="dash"/>
              <a:round/>
            </a:ln>
          </c:spPr>
        </c:majorGridlines>
        <c:numFmt formatCode="General" sourceLinked="1"/>
        <c:majorTickMark val="out"/>
        <c:minorTickMark val="none"/>
        <c:tickLblPos val="nextTo"/>
        <c:spPr>
          <a:ln w="12700" cap="flat">
            <a:noFill/>
            <a:prstDash val="solid"/>
            <a:round/>
          </a:ln>
        </c:spPr>
        <c:txPr>
          <a:bodyPr/>
          <a:lstStyle/>
          <a:p>
            <a:pPr>
              <a:defRPr sz="1100" b="0" i="0" u="none" strike="noStrike">
                <a:solidFill>
                  <a:srgbClr val="888888"/>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DDDDDD"/>
            </a:solidFill>
            <a:prstDash val="solid"/>
            <a:round/>
          </a:ln>
        </c:spPr>
        <c:txPr>
          <a:bodyPr/>
          <a:lstStyle/>
          <a:p>
            <a:pPr>
              <a:defRPr sz="11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EFCFB"/>
        </a:solidFill>
      </p:bgPr>
    </p:bg>
    <p:spTree>
      <p:nvGrpSpPr>
        <p:cNvPr id="1" name=""/>
        <p:cNvGrpSpPr/>
        <p:nvPr/>
      </p:nvGrpSpPr>
      <p:grpSpPr>
        <a:xfrm>
          <a:off x="0" y="0"/>
          <a:ext cx="0" cy="0"/>
          <a:chOff x="0" y="0"/>
          <a:chExt cx="0" cy="0"/>
        </a:xfrm>
      </p:grpSpPr>
      <p:sp>
        <p:nvSpPr>
          <p:cNvPr id="2" name="Shape 0"/>
          <p:cNvSpPr/>
          <p:nvPr/>
        </p:nvSpPr>
        <p:spPr>
          <a:xfrm>
            <a:off x="0" y="0"/>
            <a:ext cx="16256000" cy="25400"/>
          </a:xfrm>
          <a:prstGeom prst="rect">
            <a:avLst/>
          </a:prstGeom>
          <a:solidFill>
            <a:srgbClr val="D91E18"/>
          </a:solidFill>
          <a:ln/>
        </p:spPr>
      </p:sp>
      <p:sp>
        <p:nvSpPr>
          <p:cNvPr id="3" name="Text 1"/>
          <p:cNvSpPr/>
          <p:nvPr/>
        </p:nvSpPr>
        <p:spPr>
          <a:xfrm>
            <a:off x="1524000" y="2286000"/>
            <a:ext cx="13208000" cy="1524000"/>
          </a:xfrm>
          <a:prstGeom prst="rect">
            <a:avLst/>
          </a:prstGeom>
          <a:noFill/>
          <a:ln/>
        </p:spPr>
        <p:txBody>
          <a:bodyPr wrap="square" lIns="0" tIns="0" rIns="0" bIns="0" rtlCol="0" anchor="ctr"/>
          <a:lstStyle/>
          <a:p>
            <a:pPr algn="ctr">
              <a:lnSpc>
                <a:spcPct val="125000"/>
              </a:lnSpc>
            </a:pPr>
            <a:r>
              <a:rPr lang="en-US" sz="4800" b="1" dirty="0">
                <a:solidFill>
                  <a:srgbClr val="2C2C2C"/>
                </a:solidFill>
                <a:latin typeface="Liter" pitchFamily="34" charset="0"/>
                <a:ea typeface="Liter" pitchFamily="34" charset="-122"/>
                <a:cs typeface="Liter" pitchFamily="34" charset="-120"/>
              </a:rPr>
              <a:t>AMPLIFY YOUR STARTUP</a:t>
            </a:r>
            <a:endParaRPr lang="en-US" sz="4800" dirty="0"/>
          </a:p>
          <a:p>
            <a:pPr algn="ctr">
              <a:lnSpc>
                <a:spcPct val="125000"/>
              </a:lnSpc>
            </a:pPr>
            <a:r>
              <a:rPr lang="en-US" sz="2800" dirty="0">
                <a:solidFill>
                  <a:srgbClr val="2C2C2C"/>
                </a:solidFill>
                <a:latin typeface="Liter" pitchFamily="34" charset="0"/>
                <a:ea typeface="Liter" pitchFamily="34" charset="-122"/>
                <a:cs typeface="Liter" pitchFamily="34" charset="-120"/>
              </a:rPr>
              <a:t>Marketing, GTM &amp; AI Automation</a:t>
            </a:r>
            <a:endParaRPr lang="en-US" sz="4800" dirty="0"/>
          </a:p>
        </p:txBody>
      </p:sp>
      <p:sp>
        <p:nvSpPr>
          <p:cNvPr id="4" name="Shape 2"/>
          <p:cNvSpPr/>
          <p:nvPr/>
        </p:nvSpPr>
        <p:spPr>
          <a:xfrm>
            <a:off x="6858000" y="3962400"/>
            <a:ext cx="2540000" cy="0"/>
          </a:xfrm>
          <a:prstGeom prst="straightConnector1">
            <a:avLst/>
          </a:prstGeom>
          <a:noFill/>
          <a:ln w="25400">
            <a:solidFill>
              <a:srgbClr val="D91E18"/>
            </a:solidFill>
            <a:prstDash val="solid"/>
            <a:headEnd type="none"/>
            <a:tailEnd type="none"/>
          </a:ln>
        </p:spPr>
      </p:sp>
      <p:sp>
        <p:nvSpPr>
          <p:cNvPr id="5" name="Text 3"/>
          <p:cNvSpPr/>
          <p:nvPr/>
        </p:nvSpPr>
        <p:spPr>
          <a:xfrm>
            <a:off x="2032000" y="4191000"/>
            <a:ext cx="12192000" cy="406400"/>
          </a:xfrm>
          <a:prstGeom prst="rect">
            <a:avLst/>
          </a:prstGeom>
          <a:noFill/>
          <a:ln/>
        </p:spPr>
        <p:txBody>
          <a:bodyPr wrap="none" lIns="0" tIns="0" rIns="0" bIns="0" rtlCol="0" anchor="ctr"/>
          <a:lstStyle/>
          <a:p>
            <a:pPr algn="ctr">
              <a:lnSpc>
                <a:spcPct val="120000"/>
              </a:lnSpc>
            </a:pPr>
            <a:r>
              <a:rPr lang="en-US" sz="1800" dirty="0">
                <a:solidFill>
                  <a:srgbClr val="888888"/>
                </a:solidFill>
                <a:latin typeface="Liter" pitchFamily="34" charset="0"/>
                <a:ea typeface="Liter" pitchFamily="34" charset="-122"/>
                <a:cs typeface="Liter" pitchFamily="34" charset="-120"/>
              </a:rPr>
              <a:t>A Strategic Playbook for Founders Who Want to Scale Smart</a:t>
            </a:r>
            <a:endParaRPr lang="en-US" sz="1800" dirty="0"/>
          </a:p>
        </p:txBody>
      </p:sp>
      <p:sp>
        <p:nvSpPr>
          <p:cNvPr id="6" name="Text 4"/>
          <p:cNvSpPr/>
          <p:nvPr/>
        </p:nvSpPr>
        <p:spPr>
          <a:xfrm>
            <a:off x="2032000" y="4762500"/>
            <a:ext cx="12192000" cy="330200"/>
          </a:xfrm>
          <a:prstGeom prst="rect">
            <a:avLst/>
          </a:prstGeom>
          <a:noFill/>
          <a:ln/>
        </p:spPr>
        <p:txBody>
          <a:bodyPr wrap="none" lIns="0" tIns="0" rIns="0" bIns="0" rtlCol="0" anchor="ctr"/>
          <a:lstStyle/>
          <a:p>
            <a:pPr algn="ctr">
              <a:lnSpc>
                <a:spcPct val="120000"/>
              </a:lnSpc>
            </a:pPr>
            <a:r>
              <a:rPr lang="en-US" sz="1400" dirty="0">
                <a:solidFill>
                  <a:srgbClr val="888888"/>
                </a:solidFill>
                <a:latin typeface="Liter" pitchFamily="34" charset="0"/>
                <a:ea typeface="Liter" pitchFamily="34" charset="-122"/>
                <a:cs typeface="Liter" pitchFamily="34" charset="-120"/>
              </a:rPr>
              <a:t>July 2026 | Startup Growth Research</a:t>
            </a:r>
            <a:endParaRPr lang="en-US" sz="1400" dirty="0"/>
          </a:p>
        </p:txBody>
      </p:sp>
      <p:sp>
        <p:nvSpPr>
          <p:cNvPr id="7" name="Text 5"/>
          <p:cNvSpPr/>
          <p:nvPr/>
        </p:nvSpPr>
        <p:spPr>
          <a:xfrm>
            <a:off x="1397000" y="5588000"/>
            <a:ext cx="4064000" cy="812800"/>
          </a:xfrm>
          <a:prstGeom prst="rect">
            <a:avLst/>
          </a:prstGeom>
          <a:noFill/>
          <a:ln/>
        </p:spPr>
        <p:txBody>
          <a:bodyPr wrap="none" lIns="0" tIns="0" rIns="0" bIns="0" rtlCol="0" anchor="ctr"/>
          <a:lstStyle/>
          <a:p>
            <a:pPr algn="ctr">
              <a:lnSpc>
                <a:spcPct val="120000"/>
              </a:lnSpc>
            </a:pPr>
            <a:r>
              <a:rPr lang="en-US" sz="3800" b="1" dirty="0">
                <a:solidFill>
                  <a:srgbClr val="2C2C2C"/>
                </a:solidFill>
                <a:latin typeface="Liter" pitchFamily="34" charset="0"/>
                <a:ea typeface="Liter" pitchFamily="34" charset="-122"/>
                <a:cs typeface="Liter" pitchFamily="34" charset="-120"/>
              </a:rPr>
              <a:t>47%</a:t>
            </a:r>
            <a:endParaRPr lang="en-US" sz="3800" dirty="0"/>
          </a:p>
        </p:txBody>
      </p:sp>
      <p:sp>
        <p:nvSpPr>
          <p:cNvPr id="8" name="Text 6"/>
          <p:cNvSpPr/>
          <p:nvPr/>
        </p:nvSpPr>
        <p:spPr>
          <a:xfrm>
            <a:off x="1397000" y="6426200"/>
            <a:ext cx="4064000" cy="279400"/>
          </a:xfrm>
          <a:prstGeom prst="rect">
            <a:avLst/>
          </a:prstGeom>
          <a:noFill/>
          <a:ln/>
        </p:spPr>
        <p:txBody>
          <a:bodyPr wrap="none" lIns="0" tIns="0" rIns="0" bIns="0" rtlCol="0" anchor="ctr"/>
          <a:lstStyle/>
          <a:p>
            <a:pPr algn="ctr">
              <a:lnSpc>
                <a:spcPct val="120000"/>
              </a:lnSpc>
            </a:pPr>
            <a:r>
              <a:rPr lang="en-US" sz="1300" dirty="0">
                <a:solidFill>
                  <a:srgbClr val="888888"/>
                </a:solidFill>
                <a:latin typeface="Liter" pitchFamily="34" charset="0"/>
                <a:ea typeface="Liter" pitchFamily="34" charset="-122"/>
                <a:cs typeface="Liter" pitchFamily="34" charset="-120"/>
              </a:rPr>
              <a:t>Productivity Gain with AI GTM</a:t>
            </a:r>
            <a:endParaRPr lang="en-US" sz="1300" dirty="0"/>
          </a:p>
        </p:txBody>
      </p:sp>
      <p:sp>
        <p:nvSpPr>
          <p:cNvPr id="9" name="Text 7"/>
          <p:cNvSpPr/>
          <p:nvPr/>
        </p:nvSpPr>
        <p:spPr>
          <a:xfrm>
            <a:off x="6223000" y="5588000"/>
            <a:ext cx="3810000" cy="812800"/>
          </a:xfrm>
          <a:prstGeom prst="rect">
            <a:avLst/>
          </a:prstGeom>
          <a:noFill/>
          <a:ln/>
        </p:spPr>
        <p:txBody>
          <a:bodyPr wrap="none" lIns="0" tIns="0" rIns="0" bIns="0" rtlCol="0" anchor="ctr"/>
          <a:lstStyle/>
          <a:p>
            <a:pPr algn="ctr">
              <a:lnSpc>
                <a:spcPct val="120000"/>
              </a:lnSpc>
            </a:pPr>
            <a:r>
              <a:rPr lang="en-US" sz="3800" b="1" dirty="0">
                <a:solidFill>
                  <a:srgbClr val="D91E18"/>
                </a:solidFill>
                <a:latin typeface="Liter" pitchFamily="34" charset="0"/>
                <a:ea typeface="Liter" pitchFamily="34" charset="-122"/>
                <a:cs typeface="Liter" pitchFamily="34" charset="-120"/>
              </a:rPr>
              <a:t>4-7x</a:t>
            </a:r>
            <a:endParaRPr lang="en-US" sz="3800" dirty="0"/>
          </a:p>
        </p:txBody>
      </p:sp>
      <p:sp>
        <p:nvSpPr>
          <p:cNvPr id="10" name="Text 8"/>
          <p:cNvSpPr/>
          <p:nvPr/>
        </p:nvSpPr>
        <p:spPr>
          <a:xfrm>
            <a:off x="6223000" y="6426200"/>
            <a:ext cx="3810000" cy="279400"/>
          </a:xfrm>
          <a:prstGeom prst="rect">
            <a:avLst/>
          </a:prstGeom>
          <a:noFill/>
          <a:ln/>
        </p:spPr>
        <p:txBody>
          <a:bodyPr wrap="none" lIns="0" tIns="0" rIns="0" bIns="0" rtlCol="0" anchor="ctr"/>
          <a:lstStyle/>
          <a:p>
            <a:pPr algn="ctr">
              <a:lnSpc>
                <a:spcPct val="120000"/>
              </a:lnSpc>
            </a:pPr>
            <a:r>
              <a:rPr lang="en-US" sz="1300" dirty="0">
                <a:solidFill>
                  <a:srgbClr val="888888"/>
                </a:solidFill>
                <a:latin typeface="Liter" pitchFamily="34" charset="0"/>
                <a:ea typeface="Liter" pitchFamily="34" charset="-122"/>
                <a:cs typeface="Liter" pitchFamily="34" charset="-120"/>
              </a:rPr>
              <a:t>Conversion Rate Improvement</a:t>
            </a:r>
            <a:endParaRPr lang="en-US" sz="1300" dirty="0"/>
          </a:p>
        </p:txBody>
      </p:sp>
      <p:sp>
        <p:nvSpPr>
          <p:cNvPr id="11" name="Text 9"/>
          <p:cNvSpPr/>
          <p:nvPr/>
        </p:nvSpPr>
        <p:spPr>
          <a:xfrm>
            <a:off x="11049000" y="5588000"/>
            <a:ext cx="3810000" cy="812800"/>
          </a:xfrm>
          <a:prstGeom prst="rect">
            <a:avLst/>
          </a:prstGeom>
          <a:noFill/>
          <a:ln/>
        </p:spPr>
        <p:txBody>
          <a:bodyPr wrap="none" lIns="0" tIns="0" rIns="0" bIns="0" rtlCol="0" anchor="ctr"/>
          <a:lstStyle/>
          <a:p>
            <a:pPr algn="ctr">
              <a:lnSpc>
                <a:spcPct val="120000"/>
              </a:lnSpc>
            </a:pPr>
            <a:r>
              <a:rPr lang="en-US" sz="3800" b="1" dirty="0">
                <a:solidFill>
                  <a:srgbClr val="2C2C2C"/>
                </a:solidFill>
                <a:latin typeface="Liter" pitchFamily="34" charset="0"/>
                <a:ea typeface="Liter" pitchFamily="34" charset="-122"/>
                <a:cs typeface="Liter" pitchFamily="34" charset="-120"/>
              </a:rPr>
              <a:t>300%</a:t>
            </a:r>
            <a:endParaRPr lang="en-US" sz="3800" dirty="0"/>
          </a:p>
        </p:txBody>
      </p:sp>
      <p:sp>
        <p:nvSpPr>
          <p:cNvPr id="12" name="Text 10"/>
          <p:cNvSpPr/>
          <p:nvPr/>
        </p:nvSpPr>
        <p:spPr>
          <a:xfrm>
            <a:off x="11049000" y="6426200"/>
            <a:ext cx="3810000" cy="279400"/>
          </a:xfrm>
          <a:prstGeom prst="rect">
            <a:avLst/>
          </a:prstGeom>
          <a:noFill/>
          <a:ln/>
        </p:spPr>
        <p:txBody>
          <a:bodyPr wrap="none" lIns="0" tIns="0" rIns="0" bIns="0" rtlCol="0" anchor="ctr"/>
          <a:lstStyle/>
          <a:p>
            <a:pPr algn="ctr">
              <a:lnSpc>
                <a:spcPct val="120000"/>
              </a:lnSpc>
            </a:pPr>
            <a:r>
              <a:rPr lang="en-US" sz="1300" dirty="0">
                <a:solidFill>
                  <a:srgbClr val="888888"/>
                </a:solidFill>
                <a:latin typeface="Liter" pitchFamily="34" charset="0"/>
                <a:ea typeface="Liter" pitchFamily="34" charset="-122"/>
                <a:cs typeface="Liter" pitchFamily="34" charset="-120"/>
              </a:rPr>
              <a:t>Average ROI from AI Tools</a:t>
            </a:r>
            <a:endParaRPr lang="en-US" sz="1300" dirty="0"/>
          </a:p>
        </p:txBody>
      </p:sp>
      <p:sp>
        <p:nvSpPr>
          <p:cNvPr id="13" name="Shape 11"/>
          <p:cNvSpPr/>
          <p:nvPr/>
        </p:nvSpPr>
        <p:spPr>
          <a:xfrm>
            <a:off x="0" y="9118600"/>
            <a:ext cx="16256000" cy="25400"/>
          </a:xfrm>
          <a:prstGeom prst="rect">
            <a:avLst/>
          </a:prstGeom>
          <a:solidFill>
            <a:srgbClr val="D91E18"/>
          </a:solidFill>
          <a:ln/>
        </p:spPr>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762000" y="635000"/>
            <a:ext cx="6350000" cy="584200"/>
          </a:xfrm>
          <a:prstGeom prst="rect">
            <a:avLst/>
          </a:prstGeom>
          <a:noFill/>
          <a:ln/>
        </p:spPr>
        <p:txBody>
          <a:bodyPr wrap="none" lIns="0" tIns="0" rIns="0" bIns="0" rtlCol="0" anchor="ctr"/>
          <a:lstStyle/>
          <a:p>
            <a:pPr algn="l">
              <a:lnSpc>
                <a:spcPct val="120000"/>
              </a:lnSpc>
            </a:pPr>
            <a:r>
              <a:rPr lang="en-US" sz="2800" b="1" dirty="0">
                <a:solidFill>
                  <a:srgbClr val="2C2C2C"/>
                </a:solidFill>
                <a:latin typeface="Liter" pitchFamily="34" charset="0"/>
                <a:ea typeface="Liter" pitchFamily="34" charset="-122"/>
                <a:cs typeface="Liter" pitchFamily="34" charset="-120"/>
              </a:rPr>
              <a:t>CONTENTS</a:t>
            </a:r>
            <a:endParaRPr lang="en-US" sz="2800" dirty="0"/>
          </a:p>
        </p:txBody>
      </p:sp>
      <p:sp>
        <p:nvSpPr>
          <p:cNvPr id="3" name="Shape 1"/>
          <p:cNvSpPr/>
          <p:nvPr/>
        </p:nvSpPr>
        <p:spPr>
          <a:xfrm>
            <a:off x="762000" y="1270000"/>
            <a:ext cx="2540000" cy="0"/>
          </a:xfrm>
          <a:prstGeom prst="straightConnector1">
            <a:avLst/>
          </a:prstGeom>
          <a:noFill/>
          <a:ln w="25400">
            <a:solidFill>
              <a:srgbClr val="D91E18"/>
            </a:solidFill>
            <a:prstDash val="solid"/>
            <a:headEnd type="none"/>
            <a:tailEnd type="none"/>
          </a:ln>
        </p:spPr>
      </p:sp>
      <p:sp>
        <p:nvSpPr>
          <p:cNvPr id="4" name="Text 2"/>
          <p:cNvSpPr/>
          <p:nvPr/>
        </p:nvSpPr>
        <p:spPr>
          <a:xfrm>
            <a:off x="762000" y="1651000"/>
            <a:ext cx="1016000" cy="660400"/>
          </a:xfrm>
          <a:prstGeom prst="rect">
            <a:avLst/>
          </a:prstGeom>
          <a:noFill/>
          <a:ln/>
        </p:spPr>
        <p:txBody>
          <a:bodyPr wrap="none" lIns="0" tIns="0" rIns="0" bIns="0" rtlCol="0" anchor="ctr"/>
          <a:lstStyle/>
          <a:p>
            <a:pPr algn="l">
              <a:lnSpc>
                <a:spcPct val="120000"/>
              </a:lnSpc>
            </a:pPr>
            <a:r>
              <a:rPr lang="en-US" sz="5000" b="1" dirty="0">
                <a:solidFill>
                  <a:srgbClr val="2C2C2C"/>
                </a:solidFill>
                <a:latin typeface="Liter" pitchFamily="34" charset="0"/>
                <a:ea typeface="Liter" pitchFamily="34" charset="-122"/>
                <a:cs typeface="Liter" pitchFamily="34" charset="-120"/>
              </a:rPr>
              <a:t>01</a:t>
            </a:r>
            <a:endParaRPr lang="en-US" sz="5000" dirty="0"/>
          </a:p>
        </p:txBody>
      </p:sp>
      <p:sp>
        <p:nvSpPr>
          <p:cNvPr id="5" name="Text 3"/>
          <p:cNvSpPr/>
          <p:nvPr/>
        </p:nvSpPr>
        <p:spPr>
          <a:xfrm>
            <a:off x="1905000" y="1714500"/>
            <a:ext cx="11176000" cy="355600"/>
          </a:xfrm>
          <a:prstGeom prst="rect">
            <a:avLst/>
          </a:prstGeom>
          <a:noFill/>
          <a:ln/>
        </p:spPr>
        <p:txBody>
          <a:bodyPr wrap="none" lIns="0" tIns="0" rIns="0" bIns="0" rtlCol="0" anchor="ctr"/>
          <a:lstStyle/>
          <a:p>
            <a:pPr algn="l">
              <a:lnSpc>
                <a:spcPct val="120000"/>
              </a:lnSpc>
            </a:pPr>
            <a:r>
              <a:rPr lang="en-US" sz="2200" b="1" dirty="0">
                <a:solidFill>
                  <a:srgbClr val="2C2C2C"/>
                </a:solidFill>
                <a:latin typeface="Liter" pitchFamily="34" charset="0"/>
                <a:ea typeface="Liter" pitchFamily="34" charset="-122"/>
                <a:cs typeface="Liter" pitchFamily="34" charset="-120"/>
              </a:rPr>
              <a:t>MARKETING GROWTH ENGINE</a:t>
            </a:r>
            <a:endParaRPr lang="en-US" sz="2200" dirty="0"/>
          </a:p>
        </p:txBody>
      </p:sp>
      <p:sp>
        <p:nvSpPr>
          <p:cNvPr id="6" name="Text 4"/>
          <p:cNvSpPr/>
          <p:nvPr/>
        </p:nvSpPr>
        <p:spPr>
          <a:xfrm>
            <a:off x="1905000" y="2095500"/>
            <a:ext cx="7366000" cy="2794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Content, data-driven decisions &amp; social media strategy</a:t>
            </a:r>
            <a:endParaRPr lang="en-US" sz="1400" dirty="0"/>
          </a:p>
        </p:txBody>
      </p:sp>
      <p:sp>
        <p:nvSpPr>
          <p:cNvPr id="7" name="Text 5"/>
          <p:cNvSpPr/>
          <p:nvPr/>
        </p:nvSpPr>
        <p:spPr>
          <a:xfrm>
            <a:off x="14605000" y="1816100"/>
            <a:ext cx="1016000" cy="330200"/>
          </a:xfrm>
          <a:prstGeom prst="rect">
            <a:avLst/>
          </a:prstGeom>
          <a:noFill/>
          <a:ln/>
        </p:spPr>
        <p:txBody>
          <a:bodyPr wrap="none" lIns="0" tIns="0" rIns="0" bIns="0" rtlCol="0" anchor="ctr"/>
          <a:lstStyle/>
          <a:p>
            <a:pPr algn="r">
              <a:lnSpc>
                <a:spcPct val="120000"/>
              </a:lnSpc>
            </a:pPr>
            <a:r>
              <a:rPr lang="en-US" sz="1600" b="1" dirty="0">
                <a:solidFill>
                  <a:srgbClr val="D91E18"/>
                </a:solidFill>
                <a:latin typeface="Liter" pitchFamily="34" charset="0"/>
                <a:ea typeface="Liter" pitchFamily="34" charset="-122"/>
                <a:cs typeface="Liter" pitchFamily="34" charset="-120"/>
              </a:rPr>
              <a:t>03</a:t>
            </a:r>
            <a:endParaRPr lang="en-US" sz="1600" dirty="0"/>
          </a:p>
        </p:txBody>
      </p:sp>
      <p:sp>
        <p:nvSpPr>
          <p:cNvPr id="8" name="Shape 6"/>
          <p:cNvSpPr/>
          <p:nvPr/>
        </p:nvSpPr>
        <p:spPr>
          <a:xfrm>
            <a:off x="762000" y="2667000"/>
            <a:ext cx="14732000" cy="0"/>
          </a:xfrm>
          <a:prstGeom prst="straightConnector1">
            <a:avLst/>
          </a:prstGeom>
          <a:noFill/>
          <a:ln w="12700">
            <a:solidFill>
              <a:srgbClr val="DDDDDD"/>
            </a:solidFill>
            <a:prstDash val="solid"/>
            <a:headEnd type="none"/>
            <a:tailEnd type="none"/>
          </a:ln>
        </p:spPr>
      </p:sp>
      <p:sp>
        <p:nvSpPr>
          <p:cNvPr id="9" name="Text 7"/>
          <p:cNvSpPr/>
          <p:nvPr/>
        </p:nvSpPr>
        <p:spPr>
          <a:xfrm>
            <a:off x="762000" y="3048000"/>
            <a:ext cx="1079500" cy="711200"/>
          </a:xfrm>
          <a:prstGeom prst="rect">
            <a:avLst/>
          </a:prstGeom>
          <a:noFill/>
          <a:ln/>
        </p:spPr>
        <p:txBody>
          <a:bodyPr wrap="none" lIns="0" tIns="0" rIns="0" bIns="0" rtlCol="0" anchor="ctr"/>
          <a:lstStyle/>
          <a:p>
            <a:pPr algn="l">
              <a:lnSpc>
                <a:spcPct val="120000"/>
              </a:lnSpc>
            </a:pPr>
            <a:r>
              <a:rPr lang="en-US" sz="5000" b="1" dirty="0">
                <a:solidFill>
                  <a:srgbClr val="2C2C2C"/>
                </a:solidFill>
                <a:latin typeface="Liter" pitchFamily="34" charset="0"/>
                <a:ea typeface="Liter" pitchFamily="34" charset="-122"/>
                <a:cs typeface="Liter" pitchFamily="34" charset="-120"/>
              </a:rPr>
              <a:t>02</a:t>
            </a:r>
            <a:endParaRPr lang="en-US" sz="5000" dirty="0"/>
          </a:p>
        </p:txBody>
      </p:sp>
      <p:sp>
        <p:nvSpPr>
          <p:cNvPr id="10" name="Text 8"/>
          <p:cNvSpPr/>
          <p:nvPr/>
        </p:nvSpPr>
        <p:spPr>
          <a:xfrm>
            <a:off x="1905000" y="3149600"/>
            <a:ext cx="11176000" cy="355600"/>
          </a:xfrm>
          <a:prstGeom prst="rect">
            <a:avLst/>
          </a:prstGeom>
          <a:noFill/>
          <a:ln/>
        </p:spPr>
        <p:txBody>
          <a:bodyPr wrap="none" lIns="0" tIns="0" rIns="0" bIns="0" rtlCol="0" anchor="ctr"/>
          <a:lstStyle/>
          <a:p>
            <a:pPr algn="l">
              <a:lnSpc>
                <a:spcPct val="120000"/>
              </a:lnSpc>
            </a:pPr>
            <a:r>
              <a:rPr lang="en-US" sz="2200" b="1" dirty="0">
                <a:solidFill>
                  <a:srgbClr val="2C2C2C"/>
                </a:solidFill>
                <a:latin typeface="Liter" pitchFamily="34" charset="0"/>
                <a:ea typeface="Liter" pitchFamily="34" charset="-122"/>
                <a:cs typeface="Liter" pitchFamily="34" charset="-120"/>
              </a:rPr>
              <a:t>THE ROAD TO GTM</a:t>
            </a:r>
            <a:endParaRPr lang="en-US" sz="2200" dirty="0"/>
          </a:p>
        </p:txBody>
      </p:sp>
      <p:sp>
        <p:nvSpPr>
          <p:cNvPr id="11" name="Text 9"/>
          <p:cNvSpPr/>
          <p:nvPr/>
        </p:nvSpPr>
        <p:spPr>
          <a:xfrm>
            <a:off x="1905000" y="3530600"/>
            <a:ext cx="7366000" cy="2794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Framework, 90-day plan &amp; motion selection</a:t>
            </a:r>
            <a:endParaRPr lang="en-US" sz="1400" dirty="0"/>
          </a:p>
        </p:txBody>
      </p:sp>
      <p:sp>
        <p:nvSpPr>
          <p:cNvPr id="12" name="Text 10"/>
          <p:cNvSpPr/>
          <p:nvPr/>
        </p:nvSpPr>
        <p:spPr>
          <a:xfrm>
            <a:off x="14605000" y="3251200"/>
            <a:ext cx="1016000" cy="330200"/>
          </a:xfrm>
          <a:prstGeom prst="rect">
            <a:avLst/>
          </a:prstGeom>
          <a:noFill/>
          <a:ln/>
        </p:spPr>
        <p:txBody>
          <a:bodyPr wrap="none" lIns="0" tIns="0" rIns="0" bIns="0" rtlCol="0" anchor="ctr"/>
          <a:lstStyle/>
          <a:p>
            <a:pPr algn="r">
              <a:lnSpc>
                <a:spcPct val="120000"/>
              </a:lnSpc>
            </a:pPr>
            <a:r>
              <a:rPr lang="en-US" sz="1600" b="1" dirty="0">
                <a:solidFill>
                  <a:srgbClr val="D91E18"/>
                </a:solidFill>
                <a:latin typeface="Liter" pitchFamily="34" charset="0"/>
                <a:ea typeface="Liter" pitchFamily="34" charset="-122"/>
                <a:cs typeface="Liter" pitchFamily="34" charset="-120"/>
              </a:rPr>
              <a:t>07</a:t>
            </a:r>
            <a:endParaRPr lang="en-US" sz="1600" dirty="0"/>
          </a:p>
        </p:txBody>
      </p:sp>
      <p:sp>
        <p:nvSpPr>
          <p:cNvPr id="13" name="Shape 11"/>
          <p:cNvSpPr/>
          <p:nvPr/>
        </p:nvSpPr>
        <p:spPr>
          <a:xfrm>
            <a:off x="762000" y="4064000"/>
            <a:ext cx="14732000" cy="0"/>
          </a:xfrm>
          <a:prstGeom prst="straightConnector1">
            <a:avLst/>
          </a:prstGeom>
          <a:noFill/>
          <a:ln w="12700">
            <a:solidFill>
              <a:srgbClr val="DDDDDD"/>
            </a:solidFill>
            <a:prstDash val="solid"/>
            <a:headEnd type="none"/>
            <a:tailEnd type="none"/>
          </a:ln>
        </p:spPr>
      </p:sp>
      <p:sp>
        <p:nvSpPr>
          <p:cNvPr id="14" name="Text 12"/>
          <p:cNvSpPr/>
          <p:nvPr/>
        </p:nvSpPr>
        <p:spPr>
          <a:xfrm>
            <a:off x="762000" y="4445000"/>
            <a:ext cx="1079500" cy="711200"/>
          </a:xfrm>
          <a:prstGeom prst="rect">
            <a:avLst/>
          </a:prstGeom>
          <a:noFill/>
          <a:ln/>
        </p:spPr>
        <p:txBody>
          <a:bodyPr wrap="none" lIns="0" tIns="0" rIns="0" bIns="0" rtlCol="0" anchor="ctr"/>
          <a:lstStyle/>
          <a:p>
            <a:pPr algn="l">
              <a:lnSpc>
                <a:spcPct val="120000"/>
              </a:lnSpc>
            </a:pPr>
            <a:r>
              <a:rPr lang="en-US" sz="5000" b="1" dirty="0">
                <a:solidFill>
                  <a:srgbClr val="2C2C2C"/>
                </a:solidFill>
                <a:latin typeface="Liter" pitchFamily="34" charset="0"/>
                <a:ea typeface="Liter" pitchFamily="34" charset="-122"/>
                <a:cs typeface="Liter" pitchFamily="34" charset="-120"/>
              </a:rPr>
              <a:t>03</a:t>
            </a:r>
            <a:endParaRPr lang="en-US" sz="5000" dirty="0"/>
          </a:p>
        </p:txBody>
      </p:sp>
      <p:sp>
        <p:nvSpPr>
          <p:cNvPr id="15" name="Text 13"/>
          <p:cNvSpPr/>
          <p:nvPr/>
        </p:nvSpPr>
        <p:spPr>
          <a:xfrm>
            <a:off x="1905000" y="4546600"/>
            <a:ext cx="11176000" cy="355600"/>
          </a:xfrm>
          <a:prstGeom prst="rect">
            <a:avLst/>
          </a:prstGeom>
          <a:noFill/>
          <a:ln/>
        </p:spPr>
        <p:txBody>
          <a:bodyPr wrap="none" lIns="0" tIns="0" rIns="0" bIns="0" rtlCol="0" anchor="ctr"/>
          <a:lstStyle/>
          <a:p>
            <a:pPr algn="l">
              <a:lnSpc>
                <a:spcPct val="120000"/>
              </a:lnSpc>
            </a:pPr>
            <a:r>
              <a:rPr lang="en-US" sz="2200" b="1" dirty="0">
                <a:solidFill>
                  <a:srgbClr val="2C2C2C"/>
                </a:solidFill>
                <a:latin typeface="Liter" pitchFamily="34" charset="0"/>
                <a:ea typeface="Liter" pitchFamily="34" charset="-122"/>
                <a:cs typeface="Liter" pitchFamily="34" charset="-120"/>
              </a:rPr>
              <a:t>AI AUTOMATION FOR GTM</a:t>
            </a:r>
            <a:endParaRPr lang="en-US" sz="2200" dirty="0"/>
          </a:p>
        </p:txBody>
      </p:sp>
      <p:sp>
        <p:nvSpPr>
          <p:cNvPr id="16" name="Text 14"/>
          <p:cNvSpPr/>
          <p:nvPr/>
        </p:nvSpPr>
        <p:spPr>
          <a:xfrm>
            <a:off x="1905000" y="4927600"/>
            <a:ext cx="7366000" cy="2794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AI tools, autonomous platforms &amp; implementation roadmap</a:t>
            </a:r>
            <a:endParaRPr lang="en-US" sz="1400" dirty="0"/>
          </a:p>
        </p:txBody>
      </p:sp>
      <p:sp>
        <p:nvSpPr>
          <p:cNvPr id="17" name="Text 15"/>
          <p:cNvSpPr/>
          <p:nvPr/>
        </p:nvSpPr>
        <p:spPr>
          <a:xfrm>
            <a:off x="14605000" y="4648200"/>
            <a:ext cx="1016000" cy="330200"/>
          </a:xfrm>
          <a:prstGeom prst="rect">
            <a:avLst/>
          </a:prstGeom>
          <a:noFill/>
          <a:ln/>
        </p:spPr>
        <p:txBody>
          <a:bodyPr wrap="none" lIns="0" tIns="0" rIns="0" bIns="0" rtlCol="0" anchor="ctr"/>
          <a:lstStyle/>
          <a:p>
            <a:pPr algn="r">
              <a:lnSpc>
                <a:spcPct val="120000"/>
              </a:lnSpc>
            </a:pPr>
            <a:r>
              <a:rPr lang="en-US" sz="1600" b="1" dirty="0">
                <a:solidFill>
                  <a:srgbClr val="D91E18"/>
                </a:solidFill>
                <a:latin typeface="Liter" pitchFamily="34" charset="0"/>
                <a:ea typeface="Liter" pitchFamily="34" charset="-122"/>
                <a:cs typeface="Liter" pitchFamily="34" charset="-120"/>
              </a:rPr>
              <a:t>11</a:t>
            </a:r>
            <a:endParaRPr lang="en-US" sz="1600" dirty="0"/>
          </a:p>
        </p:txBody>
      </p:sp>
      <p:sp>
        <p:nvSpPr>
          <p:cNvPr id="18" name="Shape 16"/>
          <p:cNvSpPr/>
          <p:nvPr/>
        </p:nvSpPr>
        <p:spPr>
          <a:xfrm>
            <a:off x="762000" y="5461000"/>
            <a:ext cx="14732000" cy="0"/>
          </a:xfrm>
          <a:prstGeom prst="straightConnector1">
            <a:avLst/>
          </a:prstGeom>
          <a:noFill/>
          <a:ln w="12700">
            <a:solidFill>
              <a:srgbClr val="DDDDDD"/>
            </a:solidFill>
            <a:prstDash val="solid"/>
            <a:headEnd type="none"/>
            <a:tailEnd type="none"/>
          </a:ln>
        </p:spPr>
      </p:sp>
      <p:sp>
        <p:nvSpPr>
          <p:cNvPr id="19" name="Shape 17"/>
          <p:cNvSpPr/>
          <p:nvPr/>
        </p:nvSpPr>
        <p:spPr>
          <a:xfrm>
            <a:off x="762000" y="8331200"/>
            <a:ext cx="14732000" cy="0"/>
          </a:xfrm>
          <a:prstGeom prst="straightConnector1">
            <a:avLst/>
          </a:prstGeom>
          <a:noFill/>
          <a:ln w="12700">
            <a:solidFill>
              <a:srgbClr val="DDDDDD"/>
            </a:solidFill>
            <a:prstDash val="solid"/>
            <a:headEnd type="none"/>
            <a:tailEnd type="none"/>
          </a:ln>
        </p:spPr>
      </p:sp>
      <p:sp>
        <p:nvSpPr>
          <p:cNvPr id="20" name="Text 18"/>
          <p:cNvSpPr/>
          <p:nvPr/>
        </p:nvSpPr>
        <p:spPr>
          <a:xfrm>
            <a:off x="762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Startup Growth Research | July 2026</a:t>
            </a:r>
            <a:endParaRPr lang="en-US" sz="1300" dirty="0"/>
          </a:p>
        </p:txBody>
      </p:sp>
      <p:sp>
        <p:nvSpPr>
          <p:cNvPr id="21" name="Text 19"/>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02</a:t>
            </a:r>
            <a:endParaRPr lang="en-US" sz="12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B"/>
        </a:solidFill>
      </p:bgPr>
    </p:bg>
    <p:spTree>
      <p:nvGrpSpPr>
        <p:cNvPr id="1" name=""/>
        <p:cNvGrpSpPr/>
        <p:nvPr/>
      </p:nvGrpSpPr>
      <p:grpSpPr>
        <a:xfrm>
          <a:off x="0" y="0"/>
          <a:ext cx="0" cy="0"/>
          <a:chOff x="0" y="0"/>
          <a:chExt cx="0" cy="0"/>
        </a:xfrm>
      </p:grpSpPr>
      <p:sp>
        <p:nvSpPr>
          <p:cNvPr id="2" name="Shape 0"/>
          <p:cNvSpPr/>
          <p:nvPr/>
        </p:nvSpPr>
        <p:spPr>
          <a:xfrm>
            <a:off x="0" y="0"/>
            <a:ext cx="16256000" cy="25400"/>
          </a:xfrm>
          <a:prstGeom prst="rect">
            <a:avLst/>
          </a:prstGeom>
          <a:solidFill>
            <a:srgbClr val="D91E18"/>
          </a:solidFill>
          <a:ln/>
        </p:spPr>
      </p:sp>
      <p:sp>
        <p:nvSpPr>
          <p:cNvPr id="3" name="Text 1"/>
          <p:cNvSpPr/>
          <p:nvPr/>
        </p:nvSpPr>
        <p:spPr>
          <a:xfrm>
            <a:off x="12319000" y="1905000"/>
            <a:ext cx="3683000" cy="2794000"/>
          </a:xfrm>
          <a:prstGeom prst="rect">
            <a:avLst/>
          </a:prstGeom>
          <a:noFill/>
          <a:ln/>
        </p:spPr>
        <p:txBody>
          <a:bodyPr wrap="none" lIns="0" tIns="0" rIns="0" bIns="0" rtlCol="0" anchor="ctr"/>
          <a:lstStyle/>
          <a:p>
            <a:pPr algn="l">
              <a:lnSpc>
                <a:spcPct val="120000"/>
              </a:lnSpc>
            </a:pPr>
            <a:r>
              <a:rPr lang="en-US" sz="14000" b="1" dirty="0">
                <a:solidFill>
                  <a:srgbClr val="D91E18">
                    <a:alpha val="3137"/>
                  </a:srgbClr>
                </a:solidFill>
                <a:latin typeface="Liter" pitchFamily="34" charset="0"/>
                <a:ea typeface="Liter" pitchFamily="34" charset="-122"/>
                <a:cs typeface="Liter" pitchFamily="34" charset="-120"/>
              </a:rPr>
              <a:t>01</a:t>
            </a:r>
            <a:endParaRPr lang="en-US" sz="14000" dirty="0"/>
          </a:p>
        </p:txBody>
      </p:sp>
      <p:sp>
        <p:nvSpPr>
          <p:cNvPr id="4" name="Text 2"/>
          <p:cNvSpPr/>
          <p:nvPr/>
        </p:nvSpPr>
        <p:spPr>
          <a:xfrm>
            <a:off x="762000" y="2540000"/>
            <a:ext cx="3810000" cy="3810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CHAPTER 01</a:t>
            </a:r>
            <a:endParaRPr lang="en-US" sz="1100" dirty="0"/>
          </a:p>
        </p:txBody>
      </p:sp>
      <p:sp>
        <p:nvSpPr>
          <p:cNvPr id="5" name="Text 3"/>
          <p:cNvSpPr/>
          <p:nvPr/>
        </p:nvSpPr>
        <p:spPr>
          <a:xfrm>
            <a:off x="762000" y="3048000"/>
            <a:ext cx="11430000" cy="1066800"/>
          </a:xfrm>
          <a:prstGeom prst="rect">
            <a:avLst/>
          </a:prstGeom>
          <a:noFill/>
          <a:ln/>
        </p:spPr>
        <p:txBody>
          <a:bodyPr wrap="square" lIns="0" tIns="0" rIns="0" bIns="0" rtlCol="0" anchor="ctr"/>
          <a:lstStyle/>
          <a:p>
            <a:pPr algn="l">
              <a:lnSpc>
                <a:spcPct val="120000"/>
              </a:lnSpc>
            </a:pPr>
            <a:r>
              <a:rPr lang="en-US" sz="4200" b="1" dirty="0">
                <a:solidFill>
                  <a:srgbClr val="2C2C2C"/>
                </a:solidFill>
                <a:latin typeface="Liter" pitchFamily="34" charset="0"/>
                <a:ea typeface="Liter" pitchFamily="34" charset="-122"/>
                <a:cs typeface="Liter" pitchFamily="34" charset="-120"/>
              </a:rPr>
              <a:t>MARKETING GROWTH ENGINE</a:t>
            </a:r>
            <a:endParaRPr lang="en-US" sz="4200" dirty="0"/>
          </a:p>
        </p:txBody>
      </p:sp>
      <p:sp>
        <p:nvSpPr>
          <p:cNvPr id="6" name="Text 4"/>
          <p:cNvSpPr/>
          <p:nvPr/>
        </p:nvSpPr>
        <p:spPr>
          <a:xfrm>
            <a:off x="762000" y="4318000"/>
            <a:ext cx="10160000" cy="431800"/>
          </a:xfrm>
          <a:prstGeom prst="rect">
            <a:avLst/>
          </a:prstGeom>
          <a:noFill/>
          <a:ln/>
        </p:spPr>
        <p:txBody>
          <a:bodyPr wrap="square" lIns="0" tIns="0" rIns="0" bIns="0" rtlCol="0" anchor="t"/>
          <a:lstStyle/>
          <a:p>
            <a:pPr algn="l">
              <a:lnSpc>
                <a:spcPct val="160000"/>
              </a:lnSpc>
            </a:pPr>
            <a:r>
              <a:rPr lang="en-US" sz="1800" dirty="0">
                <a:solidFill>
                  <a:srgbClr val="888888"/>
                </a:solidFill>
                <a:latin typeface="Liter" pitchFamily="34" charset="0"/>
                <a:ea typeface="Liter" pitchFamily="34" charset="-122"/>
                <a:cs typeface="Liter" pitchFamily="34" charset="-120"/>
              </a:rPr>
              <a:t>How to increase visibility, attract customers, and build a scalable marketing foundation</a:t>
            </a:r>
            <a:endParaRPr lang="en-US" sz="1800" dirty="0"/>
          </a:p>
        </p:txBody>
      </p:sp>
      <p:sp>
        <p:nvSpPr>
          <p:cNvPr id="7" name="Shape 5"/>
          <p:cNvSpPr/>
          <p:nvPr/>
        </p:nvSpPr>
        <p:spPr>
          <a:xfrm>
            <a:off x="762000" y="4851400"/>
            <a:ext cx="2032000" cy="0"/>
          </a:xfrm>
          <a:prstGeom prst="straightConnector1">
            <a:avLst/>
          </a:prstGeom>
          <a:noFill/>
          <a:ln w="25400">
            <a:solidFill>
              <a:srgbClr val="D91E18"/>
            </a:solidFill>
            <a:prstDash val="solid"/>
            <a:headEnd type="none"/>
            <a:tailEnd type="none"/>
          </a:ln>
        </p:spPr>
      </p:sp>
      <p:sp>
        <p:nvSpPr>
          <p:cNvPr id="8" name="Shape 6"/>
          <p:cNvSpPr/>
          <p:nvPr/>
        </p:nvSpPr>
        <p:spPr>
          <a:xfrm>
            <a:off x="0" y="9118600"/>
            <a:ext cx="16256000" cy="25400"/>
          </a:xfrm>
          <a:prstGeom prst="rect">
            <a:avLst/>
          </a:prstGeom>
          <a:solidFill>
            <a:srgbClr val="D91E18"/>
          </a:solidFill>
          <a:ln/>
        </p:spPr>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143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Content marketing remains the highest-ROI channel for early-stage startups</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CONTENT MARKETING DELIVERS 3X MORE LEADS AT 62% LOWER COST</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1651000" y="1651000"/>
            <a:ext cx="457200" cy="457200"/>
          </a:xfrm>
          <a:prstGeom prst="ellipse">
            <a:avLst/>
          </a:prstGeom>
          <a:noFill/>
          <a:ln w="12700">
            <a:solidFill>
              <a:srgbClr val="2C2C2C"/>
            </a:solidFill>
            <a:prstDash val="solid"/>
          </a:ln>
        </p:spPr>
      </p:sp>
      <p:sp>
        <p:nvSpPr>
          <p:cNvPr id="6" name="Shape 4"/>
          <p:cNvSpPr/>
          <p:nvPr/>
        </p:nvSpPr>
        <p:spPr>
          <a:xfrm>
            <a:off x="1879600" y="2108200"/>
            <a:ext cx="0" cy="635000"/>
          </a:xfrm>
          <a:prstGeom prst="straightConnector1">
            <a:avLst/>
          </a:prstGeom>
          <a:noFill/>
          <a:ln w="25400">
            <a:solidFill>
              <a:srgbClr val="2C2C2C"/>
            </a:solidFill>
            <a:prstDash val="solid"/>
            <a:headEnd type="none"/>
            <a:tailEnd type="none"/>
          </a:ln>
        </p:spPr>
      </p:sp>
      <p:sp>
        <p:nvSpPr>
          <p:cNvPr id="7" name="Shape 5"/>
          <p:cNvSpPr/>
          <p:nvPr/>
        </p:nvSpPr>
        <p:spPr>
          <a:xfrm>
            <a:off x="1524000" y="2286000"/>
            <a:ext cx="355600" cy="254000"/>
          </a:xfrm>
          <a:prstGeom prst="straightConnector1">
            <a:avLst/>
          </a:prstGeom>
          <a:noFill/>
          <a:ln w="25400">
            <a:solidFill>
              <a:srgbClr val="2C2C2C"/>
            </a:solidFill>
            <a:prstDash val="solid"/>
            <a:headEnd type="none"/>
            <a:tailEnd type="none"/>
          </a:ln>
        </p:spPr>
      </p:sp>
      <p:sp>
        <p:nvSpPr>
          <p:cNvPr id="8" name="Shape 6"/>
          <p:cNvSpPr/>
          <p:nvPr/>
        </p:nvSpPr>
        <p:spPr>
          <a:xfrm>
            <a:off x="1879600" y="2286000"/>
            <a:ext cx="508000" cy="190500"/>
          </a:xfrm>
          <a:prstGeom prst="straightConnector1">
            <a:avLst/>
          </a:prstGeom>
          <a:noFill/>
          <a:ln w="25400">
            <a:solidFill>
              <a:srgbClr val="2C2C2C"/>
            </a:solidFill>
            <a:prstDash val="solid"/>
            <a:headEnd type="none"/>
            <a:tailEnd type="none"/>
          </a:ln>
        </p:spPr>
      </p:sp>
      <p:sp>
        <p:nvSpPr>
          <p:cNvPr id="9" name="Shape 7"/>
          <p:cNvSpPr/>
          <p:nvPr/>
        </p:nvSpPr>
        <p:spPr>
          <a:xfrm>
            <a:off x="1651000" y="2743200"/>
            <a:ext cx="317500" cy="444500"/>
          </a:xfrm>
          <a:prstGeom prst="straightConnector1">
            <a:avLst/>
          </a:prstGeom>
          <a:noFill/>
          <a:ln w="25400">
            <a:solidFill>
              <a:srgbClr val="2C2C2C"/>
            </a:solidFill>
            <a:prstDash val="solid"/>
            <a:headEnd type="none"/>
            <a:tailEnd type="none"/>
          </a:ln>
        </p:spPr>
      </p:sp>
      <p:sp>
        <p:nvSpPr>
          <p:cNvPr id="10" name="Shape 8"/>
          <p:cNvSpPr/>
          <p:nvPr/>
        </p:nvSpPr>
        <p:spPr>
          <a:xfrm>
            <a:off x="1879600" y="2743200"/>
            <a:ext cx="381000" cy="444500"/>
          </a:xfrm>
          <a:prstGeom prst="straightConnector1">
            <a:avLst/>
          </a:prstGeom>
          <a:noFill/>
          <a:ln w="25400">
            <a:solidFill>
              <a:srgbClr val="2C2C2C"/>
            </a:solidFill>
            <a:prstDash val="solid"/>
            <a:headEnd type="none"/>
            <a:tailEnd type="none"/>
          </a:ln>
        </p:spPr>
      </p:sp>
      <p:sp>
        <p:nvSpPr>
          <p:cNvPr id="11" name="Shape 9"/>
          <p:cNvSpPr/>
          <p:nvPr/>
        </p:nvSpPr>
        <p:spPr>
          <a:xfrm>
            <a:off x="2349500" y="2476500"/>
            <a:ext cx="635000" cy="381000"/>
          </a:xfrm>
          <a:prstGeom prst="rect">
            <a:avLst/>
          </a:prstGeom>
          <a:noFill/>
          <a:ln w="12700">
            <a:solidFill>
              <a:srgbClr val="2C2C2C"/>
            </a:solidFill>
            <a:prstDash val="solid"/>
          </a:ln>
        </p:spPr>
      </p:sp>
      <p:sp>
        <p:nvSpPr>
          <p:cNvPr id="12" name="Shape 10"/>
          <p:cNvSpPr/>
          <p:nvPr/>
        </p:nvSpPr>
        <p:spPr>
          <a:xfrm>
            <a:off x="2413000" y="2222500"/>
            <a:ext cx="508000" cy="279400"/>
          </a:xfrm>
          <a:prstGeom prst="rect">
            <a:avLst/>
          </a:prstGeom>
          <a:noFill/>
          <a:ln w="12700">
            <a:solidFill>
              <a:srgbClr val="2C2C2C"/>
            </a:solidFill>
            <a:prstDash val="solid"/>
          </a:ln>
        </p:spPr>
      </p:sp>
      <p:sp>
        <p:nvSpPr>
          <p:cNvPr id="13" name="Shape 11"/>
          <p:cNvSpPr/>
          <p:nvPr/>
        </p:nvSpPr>
        <p:spPr>
          <a:xfrm>
            <a:off x="3175000" y="2222500"/>
            <a:ext cx="1016000" cy="0"/>
          </a:xfrm>
          <a:prstGeom prst="straightConnector1">
            <a:avLst/>
          </a:prstGeom>
          <a:noFill/>
          <a:ln w="25400">
            <a:solidFill>
              <a:srgbClr val="D91E18"/>
            </a:solidFill>
            <a:prstDash val="solid"/>
            <a:headEnd type="none"/>
            <a:tailEnd type="arrow"/>
          </a:ln>
        </p:spPr>
      </p:sp>
      <p:sp>
        <p:nvSpPr>
          <p:cNvPr id="14" name="Shape 12"/>
          <p:cNvSpPr/>
          <p:nvPr/>
        </p:nvSpPr>
        <p:spPr>
          <a:xfrm>
            <a:off x="4572000" y="1651000"/>
            <a:ext cx="457200" cy="457200"/>
          </a:xfrm>
          <a:prstGeom prst="ellipse">
            <a:avLst/>
          </a:prstGeom>
          <a:noFill/>
          <a:ln w="12700">
            <a:solidFill>
              <a:srgbClr val="2C2C2C"/>
            </a:solidFill>
            <a:prstDash val="solid"/>
          </a:ln>
        </p:spPr>
      </p:sp>
      <p:sp>
        <p:nvSpPr>
          <p:cNvPr id="15" name="Shape 13"/>
          <p:cNvSpPr/>
          <p:nvPr/>
        </p:nvSpPr>
        <p:spPr>
          <a:xfrm>
            <a:off x="4800600" y="2108200"/>
            <a:ext cx="0" cy="635000"/>
          </a:xfrm>
          <a:prstGeom prst="straightConnector1">
            <a:avLst/>
          </a:prstGeom>
          <a:noFill/>
          <a:ln w="25400">
            <a:solidFill>
              <a:srgbClr val="2C2C2C"/>
            </a:solidFill>
            <a:prstDash val="solid"/>
            <a:headEnd type="none"/>
            <a:tailEnd type="none"/>
          </a:ln>
        </p:spPr>
      </p:sp>
      <p:sp>
        <p:nvSpPr>
          <p:cNvPr id="16" name="Shape 14"/>
          <p:cNvSpPr/>
          <p:nvPr/>
        </p:nvSpPr>
        <p:spPr>
          <a:xfrm>
            <a:off x="4445000" y="2286000"/>
            <a:ext cx="355600" cy="254000"/>
          </a:xfrm>
          <a:prstGeom prst="straightConnector1">
            <a:avLst/>
          </a:prstGeom>
          <a:noFill/>
          <a:ln w="25400">
            <a:solidFill>
              <a:srgbClr val="2C2C2C"/>
            </a:solidFill>
            <a:prstDash val="solid"/>
            <a:headEnd type="none"/>
            <a:tailEnd type="none"/>
          </a:ln>
        </p:spPr>
      </p:sp>
      <p:sp>
        <p:nvSpPr>
          <p:cNvPr id="17" name="Shape 15"/>
          <p:cNvSpPr/>
          <p:nvPr/>
        </p:nvSpPr>
        <p:spPr>
          <a:xfrm>
            <a:off x="4800600" y="2286000"/>
            <a:ext cx="508000" cy="190500"/>
          </a:xfrm>
          <a:prstGeom prst="straightConnector1">
            <a:avLst/>
          </a:prstGeom>
          <a:noFill/>
          <a:ln w="25400">
            <a:solidFill>
              <a:srgbClr val="2C2C2C"/>
            </a:solidFill>
            <a:prstDash val="solid"/>
            <a:headEnd type="none"/>
            <a:tailEnd type="none"/>
          </a:ln>
        </p:spPr>
      </p:sp>
      <p:sp>
        <p:nvSpPr>
          <p:cNvPr id="18" name="Shape 16"/>
          <p:cNvSpPr/>
          <p:nvPr/>
        </p:nvSpPr>
        <p:spPr>
          <a:xfrm>
            <a:off x="4572000" y="2743200"/>
            <a:ext cx="317500" cy="444500"/>
          </a:xfrm>
          <a:prstGeom prst="straightConnector1">
            <a:avLst/>
          </a:prstGeom>
          <a:noFill/>
          <a:ln w="25400">
            <a:solidFill>
              <a:srgbClr val="2C2C2C"/>
            </a:solidFill>
            <a:prstDash val="solid"/>
            <a:headEnd type="none"/>
            <a:tailEnd type="none"/>
          </a:ln>
        </p:spPr>
      </p:sp>
      <p:sp>
        <p:nvSpPr>
          <p:cNvPr id="19" name="Shape 17"/>
          <p:cNvSpPr/>
          <p:nvPr/>
        </p:nvSpPr>
        <p:spPr>
          <a:xfrm>
            <a:off x="4800600" y="2743200"/>
            <a:ext cx="381000" cy="444500"/>
          </a:xfrm>
          <a:prstGeom prst="straightConnector1">
            <a:avLst/>
          </a:prstGeom>
          <a:noFill/>
          <a:ln w="25400">
            <a:solidFill>
              <a:srgbClr val="2C2C2C"/>
            </a:solidFill>
            <a:prstDash val="solid"/>
            <a:headEnd type="none"/>
            <a:tailEnd type="none"/>
          </a:ln>
        </p:spPr>
      </p:sp>
      <p:sp>
        <p:nvSpPr>
          <p:cNvPr id="20" name="Shape 18"/>
          <p:cNvSpPr/>
          <p:nvPr/>
        </p:nvSpPr>
        <p:spPr>
          <a:xfrm>
            <a:off x="5270500" y="2349500"/>
            <a:ext cx="228600" cy="355600"/>
          </a:xfrm>
          <a:prstGeom prst="rect">
            <a:avLst/>
          </a:prstGeom>
          <a:noFill/>
          <a:ln w="12700">
            <a:solidFill>
              <a:srgbClr val="2C2C2C"/>
            </a:solidFill>
            <a:prstDash val="solid"/>
          </a:ln>
        </p:spPr>
      </p:sp>
      <p:sp>
        <p:nvSpPr>
          <p:cNvPr id="21" name="Shape 19"/>
          <p:cNvSpPr/>
          <p:nvPr/>
        </p:nvSpPr>
        <p:spPr>
          <a:xfrm>
            <a:off x="5715000" y="2222500"/>
            <a:ext cx="1016000" cy="0"/>
          </a:xfrm>
          <a:prstGeom prst="straightConnector1">
            <a:avLst/>
          </a:prstGeom>
          <a:noFill/>
          <a:ln w="25400">
            <a:solidFill>
              <a:srgbClr val="D91E18"/>
            </a:solidFill>
            <a:prstDash val="solid"/>
            <a:headEnd type="none"/>
            <a:tailEnd type="arrow"/>
          </a:ln>
        </p:spPr>
      </p:sp>
      <p:sp>
        <p:nvSpPr>
          <p:cNvPr id="22" name="Shape 20"/>
          <p:cNvSpPr/>
          <p:nvPr/>
        </p:nvSpPr>
        <p:spPr>
          <a:xfrm>
            <a:off x="7112000" y="1651000"/>
            <a:ext cx="457200" cy="457200"/>
          </a:xfrm>
          <a:prstGeom prst="ellipse">
            <a:avLst/>
          </a:prstGeom>
          <a:noFill/>
          <a:ln w="12700">
            <a:solidFill>
              <a:srgbClr val="2C2C2C"/>
            </a:solidFill>
            <a:prstDash val="solid"/>
          </a:ln>
        </p:spPr>
      </p:sp>
      <p:sp>
        <p:nvSpPr>
          <p:cNvPr id="23" name="Shape 21"/>
          <p:cNvSpPr/>
          <p:nvPr/>
        </p:nvSpPr>
        <p:spPr>
          <a:xfrm>
            <a:off x="7340600" y="2108200"/>
            <a:ext cx="0" cy="635000"/>
          </a:xfrm>
          <a:prstGeom prst="straightConnector1">
            <a:avLst/>
          </a:prstGeom>
          <a:noFill/>
          <a:ln w="25400">
            <a:solidFill>
              <a:srgbClr val="2C2C2C"/>
            </a:solidFill>
            <a:prstDash val="solid"/>
            <a:headEnd type="none"/>
            <a:tailEnd type="none"/>
          </a:ln>
        </p:spPr>
      </p:sp>
      <p:sp>
        <p:nvSpPr>
          <p:cNvPr id="24" name="Shape 22"/>
          <p:cNvSpPr/>
          <p:nvPr/>
        </p:nvSpPr>
        <p:spPr>
          <a:xfrm>
            <a:off x="6985000" y="2286000"/>
            <a:ext cx="355600" cy="254000"/>
          </a:xfrm>
          <a:prstGeom prst="straightConnector1">
            <a:avLst/>
          </a:prstGeom>
          <a:noFill/>
          <a:ln w="25400">
            <a:solidFill>
              <a:srgbClr val="2C2C2C"/>
            </a:solidFill>
            <a:prstDash val="solid"/>
            <a:headEnd type="none"/>
            <a:tailEnd type="none"/>
          </a:ln>
        </p:spPr>
      </p:sp>
      <p:sp>
        <p:nvSpPr>
          <p:cNvPr id="25" name="Shape 23"/>
          <p:cNvSpPr/>
          <p:nvPr/>
        </p:nvSpPr>
        <p:spPr>
          <a:xfrm>
            <a:off x="7340600" y="2159000"/>
            <a:ext cx="444500" cy="317500"/>
          </a:xfrm>
          <a:prstGeom prst="straightConnector1">
            <a:avLst/>
          </a:prstGeom>
          <a:noFill/>
          <a:ln w="25400">
            <a:solidFill>
              <a:srgbClr val="2C2C2C"/>
            </a:solidFill>
            <a:prstDash val="solid"/>
            <a:headEnd type="none"/>
            <a:tailEnd type="none"/>
          </a:ln>
        </p:spPr>
      </p:sp>
      <p:sp>
        <p:nvSpPr>
          <p:cNvPr id="26" name="Shape 24"/>
          <p:cNvSpPr/>
          <p:nvPr/>
        </p:nvSpPr>
        <p:spPr>
          <a:xfrm>
            <a:off x="7112000" y="2743200"/>
            <a:ext cx="317500" cy="444500"/>
          </a:xfrm>
          <a:prstGeom prst="straightConnector1">
            <a:avLst/>
          </a:prstGeom>
          <a:noFill/>
          <a:ln w="25400">
            <a:solidFill>
              <a:srgbClr val="2C2C2C"/>
            </a:solidFill>
            <a:prstDash val="solid"/>
            <a:headEnd type="none"/>
            <a:tailEnd type="none"/>
          </a:ln>
        </p:spPr>
      </p:sp>
      <p:sp>
        <p:nvSpPr>
          <p:cNvPr id="27" name="Shape 25"/>
          <p:cNvSpPr/>
          <p:nvPr/>
        </p:nvSpPr>
        <p:spPr>
          <a:xfrm>
            <a:off x="7340600" y="2743200"/>
            <a:ext cx="381000" cy="444500"/>
          </a:xfrm>
          <a:prstGeom prst="straightConnector1">
            <a:avLst/>
          </a:prstGeom>
          <a:noFill/>
          <a:ln w="25400">
            <a:solidFill>
              <a:srgbClr val="2C2C2C"/>
            </a:solidFill>
            <a:prstDash val="solid"/>
            <a:headEnd type="none"/>
            <a:tailEnd type="none"/>
          </a:ln>
        </p:spPr>
      </p:sp>
      <p:sp>
        <p:nvSpPr>
          <p:cNvPr id="28" name="Shape 26"/>
          <p:cNvSpPr/>
          <p:nvPr/>
        </p:nvSpPr>
        <p:spPr>
          <a:xfrm>
            <a:off x="7874000" y="2032000"/>
            <a:ext cx="381000" cy="381000"/>
          </a:xfrm>
          <a:prstGeom prst="ellipse">
            <a:avLst/>
          </a:prstGeom>
          <a:noFill/>
          <a:ln w="12700">
            <a:solidFill>
              <a:srgbClr val="D91E18"/>
            </a:solidFill>
            <a:prstDash val="solid"/>
          </a:ln>
        </p:spPr>
      </p:sp>
      <p:sp>
        <p:nvSpPr>
          <p:cNvPr id="29" name="Text 27"/>
          <p:cNvSpPr/>
          <p:nvPr/>
        </p:nvSpPr>
        <p:spPr>
          <a:xfrm>
            <a:off x="1270000" y="3302000"/>
            <a:ext cx="1778000" cy="279400"/>
          </a:xfrm>
          <a:prstGeom prst="rect">
            <a:avLst/>
          </a:prstGeom>
          <a:noFill/>
          <a:ln/>
        </p:spPr>
        <p:txBody>
          <a:bodyPr wrap="none" lIns="0" tIns="0" rIns="0" bIns="0" rtlCol="0" anchor="ctr"/>
          <a:lstStyle/>
          <a:p>
            <a:pPr algn="ctr">
              <a:lnSpc>
                <a:spcPct val="120000"/>
              </a:lnSpc>
            </a:pPr>
            <a:r>
              <a:rPr lang="en-US" sz="1200" dirty="0">
                <a:solidFill>
                  <a:srgbClr val="888888"/>
                </a:solidFill>
                <a:latin typeface="Liter" pitchFamily="34" charset="0"/>
                <a:ea typeface="Liter" pitchFamily="34" charset="-122"/>
                <a:cs typeface="Liter" pitchFamily="34" charset="-120"/>
              </a:rPr>
              <a:t>CREATE</a:t>
            </a:r>
            <a:endParaRPr lang="en-US" sz="1200" dirty="0"/>
          </a:p>
        </p:txBody>
      </p:sp>
      <p:sp>
        <p:nvSpPr>
          <p:cNvPr id="30" name="Text 28"/>
          <p:cNvSpPr/>
          <p:nvPr/>
        </p:nvSpPr>
        <p:spPr>
          <a:xfrm>
            <a:off x="4191000" y="3302000"/>
            <a:ext cx="1778000" cy="279400"/>
          </a:xfrm>
          <a:prstGeom prst="rect">
            <a:avLst/>
          </a:prstGeom>
          <a:noFill/>
          <a:ln/>
        </p:spPr>
        <p:txBody>
          <a:bodyPr wrap="none" lIns="0" tIns="0" rIns="0" bIns="0" rtlCol="0" anchor="ctr"/>
          <a:lstStyle/>
          <a:p>
            <a:pPr algn="ctr">
              <a:lnSpc>
                <a:spcPct val="120000"/>
              </a:lnSpc>
            </a:pPr>
            <a:r>
              <a:rPr lang="en-US" sz="1200" dirty="0">
                <a:solidFill>
                  <a:srgbClr val="888888"/>
                </a:solidFill>
                <a:latin typeface="Liter" pitchFamily="34" charset="0"/>
                <a:ea typeface="Liter" pitchFamily="34" charset="-122"/>
                <a:cs typeface="Liter" pitchFamily="34" charset="-120"/>
              </a:rPr>
              <a:t>CONSUME</a:t>
            </a:r>
            <a:endParaRPr lang="en-US" sz="1200" dirty="0"/>
          </a:p>
        </p:txBody>
      </p:sp>
      <p:sp>
        <p:nvSpPr>
          <p:cNvPr id="31" name="Text 29"/>
          <p:cNvSpPr/>
          <p:nvPr/>
        </p:nvSpPr>
        <p:spPr>
          <a:xfrm>
            <a:off x="6858000" y="3302000"/>
            <a:ext cx="1778000" cy="279400"/>
          </a:xfrm>
          <a:prstGeom prst="rect">
            <a:avLst/>
          </a:prstGeom>
          <a:noFill/>
          <a:ln/>
        </p:spPr>
        <p:txBody>
          <a:bodyPr wrap="none" lIns="0" tIns="0" rIns="0" bIns="0" rtlCol="0" anchor="ctr"/>
          <a:lstStyle/>
          <a:p>
            <a:pPr algn="ctr">
              <a:lnSpc>
                <a:spcPct val="120000"/>
              </a:lnSpc>
            </a:pPr>
            <a:r>
              <a:rPr lang="en-US" sz="1200" dirty="0">
                <a:solidFill>
                  <a:srgbClr val="888888"/>
                </a:solidFill>
                <a:latin typeface="Liter" pitchFamily="34" charset="0"/>
                <a:ea typeface="Liter" pitchFamily="34" charset="-122"/>
                <a:cs typeface="Liter" pitchFamily="34" charset="-120"/>
              </a:rPr>
              <a:t>SHARE</a:t>
            </a:r>
            <a:endParaRPr lang="en-US" sz="1200" dirty="0"/>
          </a:p>
        </p:txBody>
      </p:sp>
      <p:sp>
        <p:nvSpPr>
          <p:cNvPr id="32" name="Shape 30"/>
          <p:cNvSpPr/>
          <p:nvPr/>
        </p:nvSpPr>
        <p:spPr>
          <a:xfrm>
            <a:off x="9144000" y="1397000"/>
            <a:ext cx="38100" cy="304800"/>
          </a:xfrm>
          <a:prstGeom prst="rect">
            <a:avLst/>
          </a:prstGeom>
          <a:solidFill>
            <a:srgbClr val="D91E18"/>
          </a:solidFill>
          <a:ln/>
        </p:spPr>
      </p:sp>
      <p:sp>
        <p:nvSpPr>
          <p:cNvPr id="33" name="Text 31"/>
          <p:cNvSpPr/>
          <p:nvPr/>
        </p:nvSpPr>
        <p:spPr>
          <a:xfrm>
            <a:off x="9245600" y="1397000"/>
            <a:ext cx="6375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CONTENT STRATEGY BEST PRACTICES</a:t>
            </a:r>
            <a:endParaRPr lang="en-US" sz="1100" dirty="0"/>
          </a:p>
        </p:txBody>
      </p:sp>
      <p:sp>
        <p:nvSpPr>
          <p:cNvPr id="34" name="Text 32"/>
          <p:cNvSpPr/>
          <p:nvPr/>
        </p:nvSpPr>
        <p:spPr>
          <a:xfrm>
            <a:off x="9245600" y="1778000"/>
            <a:ext cx="6375400" cy="1778000"/>
          </a:xfrm>
          <a:prstGeom prst="rect">
            <a:avLst/>
          </a:prstGeom>
          <a:noFill/>
          <a:ln/>
        </p:spPr>
        <p:txBody>
          <a:bodyPr wrap="square" lIns="0" tIns="0" rIns="0" bIns="0" rtlCol="0" anchor="t"/>
          <a:lstStyle/>
          <a:p>
            <a:pPr algn="l">
              <a:lnSpc>
                <a:spcPct val="160000"/>
              </a:lnSpc>
            </a:pPr>
            <a:r>
              <a:rPr lang="en-US" sz="1400" dirty="0">
                <a:solidFill>
                  <a:srgbClr val="2C2C2C"/>
                </a:solidFill>
                <a:latin typeface="Liter" pitchFamily="34" charset="0"/>
                <a:ea typeface="Liter" pitchFamily="34" charset="-122"/>
                <a:cs typeface="Liter" pitchFamily="34" charset="-120"/>
              </a:rPr>
              <a:t>■ Identify persona needs and pain points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Produce original, high-value content</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Optimize for SEO across all formats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Distribute via website, social, email</a:t>
            </a:r>
            <a:endParaRPr lang="en-US" sz="1400" dirty="0"/>
          </a:p>
        </p:txBody>
      </p:sp>
      <p:sp>
        <p:nvSpPr>
          <p:cNvPr id="35" name="Shape 33"/>
          <p:cNvSpPr/>
          <p:nvPr/>
        </p:nvSpPr>
        <p:spPr>
          <a:xfrm>
            <a:off x="9144000" y="3683000"/>
            <a:ext cx="38100" cy="304800"/>
          </a:xfrm>
          <a:prstGeom prst="rect">
            <a:avLst/>
          </a:prstGeom>
          <a:solidFill>
            <a:srgbClr val="D91E18"/>
          </a:solidFill>
          <a:ln/>
        </p:spPr>
      </p:sp>
      <p:sp>
        <p:nvSpPr>
          <p:cNvPr id="36" name="Text 34"/>
          <p:cNvSpPr/>
          <p:nvPr/>
        </p:nvSpPr>
        <p:spPr>
          <a:xfrm>
            <a:off x="9245600" y="3683000"/>
            <a:ext cx="6375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CONTENT FORMATS THAT WORK</a:t>
            </a:r>
            <a:endParaRPr lang="en-US" sz="1100" dirty="0"/>
          </a:p>
        </p:txBody>
      </p:sp>
      <p:sp>
        <p:nvSpPr>
          <p:cNvPr id="37" name="Text 35"/>
          <p:cNvSpPr/>
          <p:nvPr/>
        </p:nvSpPr>
        <p:spPr>
          <a:xfrm>
            <a:off x="9245600" y="4064000"/>
            <a:ext cx="6375400" cy="1651000"/>
          </a:xfrm>
          <a:prstGeom prst="rect">
            <a:avLst/>
          </a:prstGeom>
          <a:noFill/>
          <a:ln/>
        </p:spPr>
        <p:txBody>
          <a:bodyPr wrap="square" lIns="0" tIns="0" rIns="0" bIns="0" rtlCol="0" anchor="t"/>
          <a:lstStyle/>
          <a:p>
            <a:pPr algn="l">
              <a:lnSpc>
                <a:spcPct val="160000"/>
              </a:lnSpc>
            </a:pPr>
            <a:r>
              <a:rPr lang="en-US" sz="1400" dirty="0">
                <a:solidFill>
                  <a:srgbClr val="2C2C2C"/>
                </a:solidFill>
                <a:latin typeface="Liter" pitchFamily="34" charset="0"/>
                <a:ea typeface="Liter" pitchFamily="34" charset="-122"/>
                <a:cs typeface="Liter" pitchFamily="34" charset="-120"/>
              </a:rPr>
              <a:t>■ Blog posts &amp; long-form articles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Video content &amp; product demos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Whitepapers &amp; case studies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Newsletters &amp; email sequences</a:t>
            </a:r>
            <a:endParaRPr lang="en-US" sz="1400" dirty="0"/>
          </a:p>
        </p:txBody>
      </p:sp>
      <p:sp>
        <p:nvSpPr>
          <p:cNvPr id="38" name="Text 36"/>
          <p:cNvSpPr/>
          <p:nvPr/>
        </p:nvSpPr>
        <p:spPr>
          <a:xfrm>
            <a:off x="635000" y="5969000"/>
            <a:ext cx="2540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3x</a:t>
            </a:r>
            <a:endParaRPr lang="en-US" sz="3600" dirty="0"/>
          </a:p>
        </p:txBody>
      </p:sp>
      <p:sp>
        <p:nvSpPr>
          <p:cNvPr id="39" name="Text 37"/>
          <p:cNvSpPr/>
          <p:nvPr/>
        </p:nvSpPr>
        <p:spPr>
          <a:xfrm>
            <a:off x="635000" y="6604000"/>
            <a:ext cx="2540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More leads vs paid-only</a:t>
            </a:r>
            <a:endParaRPr lang="en-US" sz="1300" dirty="0"/>
          </a:p>
        </p:txBody>
      </p:sp>
      <p:sp>
        <p:nvSpPr>
          <p:cNvPr id="40" name="Text 38"/>
          <p:cNvSpPr/>
          <p:nvPr/>
        </p:nvSpPr>
        <p:spPr>
          <a:xfrm>
            <a:off x="3429000" y="5969000"/>
            <a:ext cx="2540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62%</a:t>
            </a:r>
            <a:endParaRPr lang="en-US" sz="3600" dirty="0"/>
          </a:p>
        </p:txBody>
      </p:sp>
      <p:sp>
        <p:nvSpPr>
          <p:cNvPr id="41" name="Text 39"/>
          <p:cNvSpPr/>
          <p:nvPr/>
        </p:nvSpPr>
        <p:spPr>
          <a:xfrm>
            <a:off x="3429000" y="6604000"/>
            <a:ext cx="2540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Lower cost per lead</a:t>
            </a:r>
            <a:endParaRPr lang="en-US" sz="1300" dirty="0"/>
          </a:p>
        </p:txBody>
      </p:sp>
      <p:sp>
        <p:nvSpPr>
          <p:cNvPr id="42" name="Text 40"/>
          <p:cNvSpPr/>
          <p:nvPr/>
        </p:nvSpPr>
        <p:spPr>
          <a:xfrm>
            <a:off x="6223000" y="5969000"/>
            <a:ext cx="2540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72%</a:t>
            </a:r>
            <a:endParaRPr lang="en-US" sz="3600" dirty="0"/>
          </a:p>
        </p:txBody>
      </p:sp>
      <p:sp>
        <p:nvSpPr>
          <p:cNvPr id="43" name="Text 41"/>
          <p:cNvSpPr/>
          <p:nvPr/>
        </p:nvSpPr>
        <p:spPr>
          <a:xfrm>
            <a:off x="6223000" y="6604000"/>
            <a:ext cx="2540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B2B buyers read 3+ pieces before buying</a:t>
            </a:r>
            <a:endParaRPr lang="en-US" sz="1300" dirty="0"/>
          </a:p>
        </p:txBody>
      </p:sp>
      <p:sp>
        <p:nvSpPr>
          <p:cNvPr id="44" name="Shape 42"/>
          <p:cNvSpPr/>
          <p:nvPr/>
        </p:nvSpPr>
        <p:spPr>
          <a:xfrm>
            <a:off x="635000" y="7239000"/>
            <a:ext cx="8382000" cy="914400"/>
          </a:xfrm>
          <a:prstGeom prst="rect">
            <a:avLst/>
          </a:prstGeom>
          <a:solidFill>
            <a:srgbClr val="FFFFFF"/>
          </a:solidFill>
          <a:ln w="12700">
            <a:solidFill>
              <a:srgbClr val="DDDDDD"/>
            </a:solidFill>
            <a:prstDash val="solid"/>
          </a:ln>
        </p:spPr>
      </p:sp>
      <p:sp>
        <p:nvSpPr>
          <p:cNvPr id="45" name="Shape 43"/>
          <p:cNvSpPr/>
          <p:nvPr/>
        </p:nvSpPr>
        <p:spPr>
          <a:xfrm>
            <a:off x="635000" y="7239000"/>
            <a:ext cx="50800" cy="914400"/>
          </a:xfrm>
          <a:prstGeom prst="rect">
            <a:avLst/>
          </a:prstGeom>
          <a:solidFill>
            <a:srgbClr val="D91E18"/>
          </a:solidFill>
          <a:ln/>
        </p:spPr>
      </p:sp>
      <p:sp>
        <p:nvSpPr>
          <p:cNvPr id="46" name="Text 44"/>
          <p:cNvSpPr/>
          <p:nvPr/>
        </p:nvSpPr>
        <p:spPr>
          <a:xfrm>
            <a:off x="838200" y="7315200"/>
            <a:ext cx="8001000" cy="762000"/>
          </a:xfrm>
          <a:prstGeom prst="rect">
            <a:avLst/>
          </a:prstGeom>
          <a:noFill/>
          <a:ln/>
        </p:spPr>
        <p:txBody>
          <a:bodyPr wrap="square" lIns="0" tIns="0" rIns="0" bIns="0" rtlCol="0" anchor="t"/>
          <a:lstStyle/>
          <a:p>
            <a:pPr algn="l">
              <a:lnSpc>
                <a:spcPct val="150000"/>
              </a:lnSpc>
            </a:pPr>
            <a:r>
              <a:rPr lang="en-US" sz="1300" b="1" dirty="0">
                <a:solidFill>
                  <a:srgbClr val="D91E18"/>
                </a:solidFill>
                <a:latin typeface="MiSans" pitchFamily="34" charset="0"/>
                <a:ea typeface="MiSans" pitchFamily="34" charset="-122"/>
                <a:cs typeface="MiSans" pitchFamily="34" charset="-120"/>
              </a:rPr>
              <a:t>Key insight:</a:t>
            </a:r>
            <a:pPr algn="l">
              <a:lnSpc>
                <a:spcPct val="150000"/>
              </a:lnSpc>
            </a:pPr>
            <a:r>
              <a:rPr lang="en-US" sz="1300" dirty="0">
                <a:solidFill>
                  <a:srgbClr val="2C2C2C"/>
                </a:solidFill>
                <a:latin typeface="MiSans" pitchFamily="34" charset="0"/>
                <a:ea typeface="MiSans" pitchFamily="34" charset="-122"/>
                <a:cs typeface="MiSans" pitchFamily="34" charset="-120"/>
              </a:rPr>
              <a:t> Content builds trust before the first sales touch. Startups that publish consistently see compounding returns — each piece of content becomes a permanent asset working 24/7.</a:t>
            </a:r>
            <a:endParaRPr lang="en-US" sz="1300" dirty="0"/>
          </a:p>
        </p:txBody>
      </p:sp>
      <p:sp>
        <p:nvSpPr>
          <p:cNvPr id="47" name="Shape 45"/>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48" name="Text 46"/>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Content Marketing Institute, HubSpot Research 2025</a:t>
            </a:r>
            <a:endParaRPr lang="en-US" sz="1300" dirty="0"/>
          </a:p>
        </p:txBody>
      </p:sp>
      <p:sp>
        <p:nvSpPr>
          <p:cNvPr id="49" name="Text 47"/>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04</a:t>
            </a:r>
            <a:endParaRPr lang="en-US" sz="12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Data-driven marketing decisions outperform intuition by 5x in conversion</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DATA-DRIVEN STARTUPS ACHIEVE 40% HIGHER CONVERSION RATES</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Text 3"/>
          <p:cNvSpPr/>
          <p:nvPr/>
        </p:nvSpPr>
        <p:spPr>
          <a:xfrm>
            <a:off x="635000" y="1270000"/>
            <a:ext cx="7112000" cy="304800"/>
          </a:xfrm>
          <a:prstGeom prst="rect">
            <a:avLst/>
          </a:prstGeom>
          <a:noFill/>
          <a:ln/>
        </p:spPr>
        <p:txBody>
          <a:bodyPr wrap="none" lIns="0" tIns="0" rIns="0" bIns="0" rtlCol="0" anchor="ctr"/>
          <a:lstStyle/>
          <a:p>
            <a:pPr algn="l">
              <a:lnSpc>
                <a:spcPct val="120000"/>
              </a:lnSpc>
            </a:pPr>
            <a:r>
              <a:rPr lang="en-US" sz="1400" b="1" dirty="0">
                <a:solidFill>
                  <a:srgbClr val="2C2C2C"/>
                </a:solidFill>
                <a:latin typeface="Liter" pitchFamily="34" charset="0"/>
                <a:ea typeface="Liter" pitchFamily="34" charset="-122"/>
                <a:cs typeface="Liter" pitchFamily="34" charset="-120"/>
              </a:rPr>
              <a:t>Data-Driven vs Intuition-Led: Conversion Rate (%)</a:t>
            </a:r>
            <a:endParaRPr lang="en-US" sz="1400" dirty="0"/>
          </a:p>
        </p:txBody>
      </p:sp>
      <p:graphicFrame>
        <p:nvGraphicFramePr>
          <p:cNvPr id="6" name="Chart 0" descr=""/>
          <p:cNvGraphicFramePr/>
          <p:nvPr/>
        </p:nvGraphicFramePr>
        <p:xfrm>
          <a:off x="635000" y="1625600"/>
          <a:ext cx="7112000" cy="3810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128000" y="1270000"/>
            <a:ext cx="38100" cy="304800"/>
          </a:xfrm>
          <a:prstGeom prst="rect">
            <a:avLst/>
          </a:prstGeom>
          <a:solidFill>
            <a:srgbClr val="D91E18"/>
          </a:solidFill>
          <a:ln/>
        </p:spPr>
      </p:sp>
      <p:sp>
        <p:nvSpPr>
          <p:cNvPr id="8" name="Text 5"/>
          <p:cNvSpPr/>
          <p:nvPr/>
        </p:nvSpPr>
        <p:spPr>
          <a:xfrm>
            <a:off x="8229600" y="1270000"/>
            <a:ext cx="7391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DATA PRACTICES THAT DRIVE RESULTS</a:t>
            </a:r>
            <a:endParaRPr lang="en-US" sz="1100" dirty="0"/>
          </a:p>
        </p:txBody>
      </p:sp>
      <p:sp>
        <p:nvSpPr>
          <p:cNvPr id="9" name="Text 6"/>
          <p:cNvSpPr/>
          <p:nvPr/>
        </p:nvSpPr>
        <p:spPr>
          <a:xfrm>
            <a:off x="8229600" y="1651000"/>
            <a:ext cx="7391400" cy="1651000"/>
          </a:xfrm>
          <a:prstGeom prst="rect">
            <a:avLst/>
          </a:prstGeom>
          <a:noFill/>
          <a:ln/>
        </p:spPr>
        <p:txBody>
          <a:bodyPr wrap="square" lIns="0" tIns="0" rIns="0" bIns="0" rtlCol="0" anchor="t"/>
          <a:lstStyle/>
          <a:p>
            <a:pPr algn="l">
              <a:lnSpc>
                <a:spcPct val="160000"/>
              </a:lnSpc>
            </a:pPr>
            <a:r>
              <a:rPr lang="en-US" sz="1400" dirty="0">
                <a:solidFill>
                  <a:srgbClr val="2C2C2C"/>
                </a:solidFill>
                <a:latin typeface="Liter" pitchFamily="34" charset="0"/>
                <a:ea typeface="Liter" pitchFamily="34" charset="-122"/>
                <a:cs typeface="Liter" pitchFamily="34" charset="-120"/>
              </a:rPr>
              <a:t>■ Monitor KPIs: traffic, conversion, engagement</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Analyze customer journeys for friction points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Segment audiences for targeted campaigns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A/B test messaging and creative continuously</a:t>
            </a:r>
            <a:endParaRPr lang="en-US" sz="1400" dirty="0"/>
          </a:p>
        </p:txBody>
      </p:sp>
      <p:sp>
        <p:nvSpPr>
          <p:cNvPr id="10" name="Shape 7"/>
          <p:cNvSpPr/>
          <p:nvPr/>
        </p:nvSpPr>
        <p:spPr>
          <a:xfrm>
            <a:off x="8128000" y="3429000"/>
            <a:ext cx="38100" cy="304800"/>
          </a:xfrm>
          <a:prstGeom prst="rect">
            <a:avLst/>
          </a:prstGeom>
          <a:solidFill>
            <a:srgbClr val="D91E18"/>
          </a:solidFill>
          <a:ln/>
        </p:spPr>
      </p:sp>
      <p:sp>
        <p:nvSpPr>
          <p:cNvPr id="11" name="Text 8"/>
          <p:cNvSpPr/>
          <p:nvPr/>
        </p:nvSpPr>
        <p:spPr>
          <a:xfrm>
            <a:off x="8229600" y="3429000"/>
            <a:ext cx="7391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KEY METRICS TO TRACK</a:t>
            </a:r>
            <a:endParaRPr lang="en-US" sz="1100" dirty="0"/>
          </a:p>
        </p:txBody>
      </p:sp>
      <p:sp>
        <p:nvSpPr>
          <p:cNvPr id="12" name="Text 9"/>
          <p:cNvSpPr/>
          <p:nvPr/>
        </p:nvSpPr>
        <p:spPr>
          <a:xfrm>
            <a:off x="8229600" y="3810000"/>
            <a:ext cx="7391400" cy="1651000"/>
          </a:xfrm>
          <a:prstGeom prst="rect">
            <a:avLst/>
          </a:prstGeom>
          <a:noFill/>
          <a:ln/>
        </p:spPr>
        <p:txBody>
          <a:bodyPr wrap="square" lIns="0" tIns="0" rIns="0" bIns="0" rtlCol="0" anchor="t"/>
          <a:lstStyle/>
          <a:p>
            <a:pPr algn="l">
              <a:lnSpc>
                <a:spcPct val="160000"/>
              </a:lnSpc>
            </a:pPr>
            <a:r>
              <a:rPr lang="en-US" sz="1400" dirty="0">
                <a:solidFill>
                  <a:srgbClr val="2C2C2C"/>
                </a:solidFill>
                <a:latin typeface="Liter" pitchFamily="34" charset="0"/>
                <a:ea typeface="Liter" pitchFamily="34" charset="-122"/>
                <a:cs typeface="Liter" pitchFamily="34" charset="-120"/>
              </a:rPr>
              <a:t>■ CAC: Target recovery in &lt;6 months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LTV:CAC ratio: Target 3:1 or higher</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Sales cycle length: Measure weekly</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Pipeline coverage: 3-5x quota</a:t>
            </a:r>
            <a:endParaRPr lang="en-US" sz="1400" dirty="0"/>
          </a:p>
        </p:txBody>
      </p:sp>
      <p:sp>
        <p:nvSpPr>
          <p:cNvPr id="13" name="Text 10"/>
          <p:cNvSpPr/>
          <p:nvPr/>
        </p:nvSpPr>
        <p:spPr>
          <a:xfrm>
            <a:off x="635000" y="5715000"/>
            <a:ext cx="4699000" cy="2286000"/>
          </a:xfrm>
          <a:prstGeom prst="rect">
            <a:avLst/>
          </a:prstGeom>
          <a:noFill/>
          <a:ln/>
        </p:spPr>
        <p:txBody>
          <a:bodyPr wrap="square" lIns="0" tIns="0" rIns="0" bIns="0" rtlCol="0" anchor="t"/>
          <a:lstStyle/>
          <a:p>
            <a:pPr algn="l">
              <a:lnSpc>
                <a:spcPct val="160000"/>
              </a:lnSpc>
            </a:pPr>
            <a:r>
              <a:rPr lang="en-US" sz="1400" b="1" dirty="0">
                <a:solidFill>
                  <a:srgbClr val="D91E18"/>
                </a:solidFill>
                <a:latin typeface="Liter" pitchFamily="34" charset="0"/>
                <a:ea typeface="Liter" pitchFamily="34" charset="-122"/>
                <a:cs typeface="Liter" pitchFamily="34" charset="-120"/>
              </a:rPr>
              <a:t>40% Higher Conversion</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Data-driven startups achieve 40% higher conversion rates through precise audience targeting and message optimization based on behavioral data.</a:t>
            </a:r>
            <a:endParaRPr lang="en-US" sz="1400" dirty="0"/>
          </a:p>
        </p:txBody>
      </p:sp>
      <p:sp>
        <p:nvSpPr>
          <p:cNvPr id="14" name="Shape 11"/>
          <p:cNvSpPr/>
          <p:nvPr/>
        </p:nvSpPr>
        <p:spPr>
          <a:xfrm>
            <a:off x="5461000" y="5715000"/>
            <a:ext cx="0" cy="2286000"/>
          </a:xfrm>
          <a:prstGeom prst="straightConnector1">
            <a:avLst/>
          </a:prstGeom>
          <a:noFill/>
          <a:ln w="12700">
            <a:solidFill>
              <a:srgbClr val="DDDDDD"/>
            </a:solidFill>
            <a:prstDash val="solid"/>
            <a:headEnd type="none"/>
            <a:tailEnd type="none"/>
          </a:ln>
        </p:spPr>
      </p:sp>
      <p:sp>
        <p:nvSpPr>
          <p:cNvPr id="15" name="Text 12"/>
          <p:cNvSpPr/>
          <p:nvPr/>
        </p:nvSpPr>
        <p:spPr>
          <a:xfrm>
            <a:off x="5638800" y="5715000"/>
            <a:ext cx="4699000" cy="2286000"/>
          </a:xfrm>
          <a:prstGeom prst="rect">
            <a:avLst/>
          </a:prstGeom>
          <a:noFill/>
          <a:ln/>
        </p:spPr>
        <p:txBody>
          <a:bodyPr wrap="square" lIns="0" tIns="0" rIns="0" bIns="0" rtlCol="0" anchor="t"/>
          <a:lstStyle/>
          <a:p>
            <a:pPr algn="l">
              <a:lnSpc>
                <a:spcPct val="160000"/>
              </a:lnSpc>
            </a:pPr>
            <a:r>
              <a:rPr lang="en-US" sz="1400" b="1" dirty="0">
                <a:solidFill>
                  <a:srgbClr val="D91E18"/>
                </a:solidFill>
                <a:latin typeface="Liter" pitchFamily="34" charset="0"/>
                <a:ea typeface="Liter" pitchFamily="34" charset="-122"/>
                <a:cs typeface="Liter" pitchFamily="34" charset="-120"/>
              </a:rPr>
              <a:t>37% Lower CAC</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Customer acquisition costs drop by 37% when marketing decisions are guided by data rather than assumptions and gut feelings.</a:t>
            </a:r>
            <a:endParaRPr lang="en-US" sz="1400" dirty="0"/>
          </a:p>
        </p:txBody>
      </p:sp>
      <p:sp>
        <p:nvSpPr>
          <p:cNvPr id="16" name="Shape 13"/>
          <p:cNvSpPr/>
          <p:nvPr/>
        </p:nvSpPr>
        <p:spPr>
          <a:xfrm>
            <a:off x="10464800" y="5715000"/>
            <a:ext cx="0" cy="2286000"/>
          </a:xfrm>
          <a:prstGeom prst="straightConnector1">
            <a:avLst/>
          </a:prstGeom>
          <a:noFill/>
          <a:ln w="12700">
            <a:solidFill>
              <a:srgbClr val="DDDDDD"/>
            </a:solidFill>
            <a:prstDash val="solid"/>
            <a:headEnd type="none"/>
            <a:tailEnd type="none"/>
          </a:ln>
        </p:spPr>
      </p:sp>
      <p:sp>
        <p:nvSpPr>
          <p:cNvPr id="17" name="Text 14"/>
          <p:cNvSpPr/>
          <p:nvPr/>
        </p:nvSpPr>
        <p:spPr>
          <a:xfrm>
            <a:off x="10642600" y="5715000"/>
            <a:ext cx="4978400" cy="2286000"/>
          </a:xfrm>
          <a:prstGeom prst="rect">
            <a:avLst/>
          </a:prstGeom>
          <a:noFill/>
          <a:ln/>
        </p:spPr>
        <p:txBody>
          <a:bodyPr wrap="square" lIns="0" tIns="0" rIns="0" bIns="0" rtlCol="0" anchor="t"/>
          <a:lstStyle/>
          <a:p>
            <a:pPr algn="l">
              <a:lnSpc>
                <a:spcPct val="160000"/>
              </a:lnSpc>
            </a:pPr>
            <a:r>
              <a:rPr lang="en-US" sz="1400" b="1" dirty="0">
                <a:solidFill>
                  <a:srgbClr val="D91E18"/>
                </a:solidFill>
                <a:latin typeface="Liter" pitchFamily="34" charset="0"/>
                <a:ea typeface="Liter" pitchFamily="34" charset="-122"/>
                <a:cs typeface="Liter" pitchFamily="34" charset="-120"/>
              </a:rPr>
              <a:t>5x Better Decisions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Teams using data-driven frameworks make decisions that are 5x more likely to improve conversion rates than intuition-based approaches.</a:t>
            </a:r>
            <a:endParaRPr lang="en-US" sz="1400" dirty="0"/>
          </a:p>
        </p:txBody>
      </p:sp>
      <p:sp>
        <p:nvSpPr>
          <p:cNvPr id="18" name="Shape 15"/>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19" name="Text 16"/>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McKinsey Digital, BCG Marketing Analytics Survey 2025</a:t>
            </a:r>
            <a:endParaRPr lang="en-US" sz="1300" dirty="0"/>
          </a:p>
        </p:txBody>
      </p:sp>
      <p:sp>
        <p:nvSpPr>
          <p:cNvPr id="20" name="Text 17"/>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05</a:t>
            </a:r>
            <a:endParaRPr lang="en-US" sz="12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Social media strategy amplifies reach when platforms match your ICP</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SOCIAL PRESENCE REINFORCES PROXIMITY AND HUMANIZES THE BRAND</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1016000" y="1524000"/>
            <a:ext cx="2540000" cy="1270000"/>
          </a:xfrm>
          <a:prstGeom prst="rect">
            <a:avLst/>
          </a:prstGeom>
          <a:noFill/>
          <a:ln w="12700">
            <a:solidFill>
              <a:srgbClr val="2C2C2C"/>
            </a:solidFill>
            <a:prstDash val="solid"/>
          </a:ln>
        </p:spPr>
      </p:sp>
      <p:sp>
        <p:nvSpPr>
          <p:cNvPr id="6" name="Text 4"/>
          <p:cNvSpPr/>
          <p:nvPr/>
        </p:nvSpPr>
        <p:spPr>
          <a:xfrm>
            <a:off x="1143000" y="1625600"/>
            <a:ext cx="2286000" cy="381000"/>
          </a:xfrm>
          <a:prstGeom prst="rect">
            <a:avLst/>
          </a:prstGeom>
          <a:noFill/>
          <a:ln/>
        </p:spPr>
        <p:txBody>
          <a:bodyPr wrap="none" lIns="0" tIns="0" rIns="0" bIns="0" rtlCol="0" anchor="ctr"/>
          <a:lstStyle/>
          <a:p>
            <a:pPr algn="ctr">
              <a:lnSpc>
                <a:spcPct val="120000"/>
              </a:lnSpc>
            </a:pPr>
            <a:r>
              <a:rPr lang="en-US" sz="1600" b="1" dirty="0">
                <a:solidFill>
                  <a:srgbClr val="2C2C2C"/>
                </a:solidFill>
                <a:latin typeface="Liter" pitchFamily="34" charset="0"/>
                <a:ea typeface="Liter" pitchFamily="34" charset="-122"/>
                <a:cs typeface="Liter" pitchFamily="34" charset="-120"/>
              </a:rPr>
              <a:t>LinkedIn</a:t>
            </a:r>
            <a:endParaRPr lang="en-US" sz="1600" dirty="0"/>
          </a:p>
        </p:txBody>
      </p:sp>
      <p:sp>
        <p:nvSpPr>
          <p:cNvPr id="7" name="Text 5"/>
          <p:cNvSpPr/>
          <p:nvPr/>
        </p:nvSpPr>
        <p:spPr>
          <a:xfrm>
            <a:off x="1143000" y="2032000"/>
            <a:ext cx="2286000" cy="635000"/>
          </a:xfrm>
          <a:prstGeom prst="rect">
            <a:avLst/>
          </a:prstGeom>
          <a:noFill/>
          <a:ln/>
        </p:spPr>
        <p:txBody>
          <a:bodyPr wrap="square" lIns="0" tIns="0" rIns="0" bIns="0" rtlCol="0" anchor="t"/>
          <a:lstStyle/>
          <a:p>
            <a:pPr algn="ctr">
              <a:lnSpc>
                <a:spcPct val="140000"/>
              </a:lnSpc>
            </a:pPr>
            <a:r>
              <a:rPr lang="en-US" sz="1200" dirty="0">
                <a:solidFill>
                  <a:srgbClr val="888888"/>
                </a:solidFill>
                <a:latin typeface="MiSans" pitchFamily="34" charset="0"/>
                <a:ea typeface="MiSans" pitchFamily="34" charset="-122"/>
                <a:cs typeface="MiSans" pitchFamily="34" charset="-120"/>
              </a:rPr>
              <a:t>B2B, thought leadership, professional networking</a:t>
            </a:r>
            <a:endParaRPr lang="en-US" sz="1200" dirty="0"/>
          </a:p>
        </p:txBody>
      </p:sp>
      <p:sp>
        <p:nvSpPr>
          <p:cNvPr id="8" name="Shape 6"/>
          <p:cNvSpPr/>
          <p:nvPr/>
        </p:nvSpPr>
        <p:spPr>
          <a:xfrm>
            <a:off x="2286000" y="2794000"/>
            <a:ext cx="0" cy="381000"/>
          </a:xfrm>
          <a:prstGeom prst="straightConnector1">
            <a:avLst/>
          </a:prstGeom>
          <a:noFill/>
          <a:ln w="25400">
            <a:solidFill>
              <a:srgbClr val="D91E18"/>
            </a:solidFill>
            <a:prstDash val="solid"/>
            <a:headEnd type="none"/>
            <a:tailEnd type="arrow"/>
          </a:ln>
        </p:spPr>
      </p:sp>
      <p:sp>
        <p:nvSpPr>
          <p:cNvPr id="9" name="Shape 7"/>
          <p:cNvSpPr/>
          <p:nvPr/>
        </p:nvSpPr>
        <p:spPr>
          <a:xfrm>
            <a:off x="3937000" y="1524000"/>
            <a:ext cx="2540000" cy="1270000"/>
          </a:xfrm>
          <a:prstGeom prst="rect">
            <a:avLst/>
          </a:prstGeom>
          <a:noFill/>
          <a:ln w="12700">
            <a:solidFill>
              <a:srgbClr val="2C2C2C"/>
            </a:solidFill>
            <a:prstDash val="solid"/>
          </a:ln>
        </p:spPr>
      </p:sp>
      <p:sp>
        <p:nvSpPr>
          <p:cNvPr id="10" name="Text 8"/>
          <p:cNvSpPr/>
          <p:nvPr/>
        </p:nvSpPr>
        <p:spPr>
          <a:xfrm>
            <a:off x="4064000" y="1625600"/>
            <a:ext cx="2286000" cy="381000"/>
          </a:xfrm>
          <a:prstGeom prst="rect">
            <a:avLst/>
          </a:prstGeom>
          <a:noFill/>
          <a:ln/>
        </p:spPr>
        <p:txBody>
          <a:bodyPr wrap="none" lIns="0" tIns="0" rIns="0" bIns="0" rtlCol="0" anchor="ctr"/>
          <a:lstStyle/>
          <a:p>
            <a:pPr algn="ctr">
              <a:lnSpc>
                <a:spcPct val="120000"/>
              </a:lnSpc>
            </a:pPr>
            <a:r>
              <a:rPr lang="en-US" sz="1600" b="1" dirty="0">
                <a:solidFill>
                  <a:srgbClr val="2C2C2C"/>
                </a:solidFill>
                <a:latin typeface="Liter" pitchFamily="34" charset="0"/>
                <a:ea typeface="Liter" pitchFamily="34" charset="-122"/>
                <a:cs typeface="Liter" pitchFamily="34" charset="-120"/>
              </a:rPr>
              <a:t>Instagram</a:t>
            </a:r>
            <a:endParaRPr lang="en-US" sz="1600" dirty="0"/>
          </a:p>
        </p:txBody>
      </p:sp>
      <p:sp>
        <p:nvSpPr>
          <p:cNvPr id="11" name="Text 9"/>
          <p:cNvSpPr/>
          <p:nvPr/>
        </p:nvSpPr>
        <p:spPr>
          <a:xfrm>
            <a:off x="4064000" y="2032000"/>
            <a:ext cx="2286000" cy="635000"/>
          </a:xfrm>
          <a:prstGeom prst="rect">
            <a:avLst/>
          </a:prstGeom>
          <a:noFill/>
          <a:ln/>
        </p:spPr>
        <p:txBody>
          <a:bodyPr wrap="square" lIns="0" tIns="0" rIns="0" bIns="0" rtlCol="0" anchor="t"/>
          <a:lstStyle/>
          <a:p>
            <a:pPr algn="ctr">
              <a:lnSpc>
                <a:spcPct val="140000"/>
              </a:lnSpc>
            </a:pPr>
            <a:r>
              <a:rPr lang="en-US" sz="1200" dirty="0">
                <a:solidFill>
                  <a:srgbClr val="888888"/>
                </a:solidFill>
                <a:latin typeface="MiSans" pitchFamily="34" charset="0"/>
                <a:ea typeface="MiSans" pitchFamily="34" charset="-122"/>
                <a:cs typeface="MiSans" pitchFamily="34" charset="-120"/>
              </a:rPr>
              <a:t>Visual brands, lifestyle, community building</a:t>
            </a:r>
            <a:endParaRPr lang="en-US" sz="1200" dirty="0"/>
          </a:p>
        </p:txBody>
      </p:sp>
      <p:sp>
        <p:nvSpPr>
          <p:cNvPr id="12" name="Shape 10"/>
          <p:cNvSpPr/>
          <p:nvPr/>
        </p:nvSpPr>
        <p:spPr>
          <a:xfrm>
            <a:off x="5207000" y="2794000"/>
            <a:ext cx="0" cy="381000"/>
          </a:xfrm>
          <a:prstGeom prst="straightConnector1">
            <a:avLst/>
          </a:prstGeom>
          <a:noFill/>
          <a:ln w="25400">
            <a:solidFill>
              <a:srgbClr val="D91E18"/>
            </a:solidFill>
            <a:prstDash val="solid"/>
            <a:headEnd type="none"/>
            <a:tailEnd type="arrow"/>
          </a:ln>
        </p:spPr>
      </p:sp>
      <p:sp>
        <p:nvSpPr>
          <p:cNvPr id="13" name="Shape 11"/>
          <p:cNvSpPr/>
          <p:nvPr/>
        </p:nvSpPr>
        <p:spPr>
          <a:xfrm>
            <a:off x="6858000" y="1524000"/>
            <a:ext cx="2540000" cy="1270000"/>
          </a:xfrm>
          <a:prstGeom prst="rect">
            <a:avLst/>
          </a:prstGeom>
          <a:noFill/>
          <a:ln w="12700">
            <a:solidFill>
              <a:srgbClr val="2C2C2C"/>
            </a:solidFill>
            <a:prstDash val="solid"/>
          </a:ln>
        </p:spPr>
      </p:sp>
      <p:sp>
        <p:nvSpPr>
          <p:cNvPr id="14" name="Text 12"/>
          <p:cNvSpPr/>
          <p:nvPr/>
        </p:nvSpPr>
        <p:spPr>
          <a:xfrm>
            <a:off x="6985000" y="1625600"/>
            <a:ext cx="2286000" cy="381000"/>
          </a:xfrm>
          <a:prstGeom prst="rect">
            <a:avLst/>
          </a:prstGeom>
          <a:noFill/>
          <a:ln/>
        </p:spPr>
        <p:txBody>
          <a:bodyPr wrap="none" lIns="0" tIns="0" rIns="0" bIns="0" rtlCol="0" anchor="ctr"/>
          <a:lstStyle/>
          <a:p>
            <a:pPr algn="ctr">
              <a:lnSpc>
                <a:spcPct val="120000"/>
              </a:lnSpc>
            </a:pPr>
            <a:r>
              <a:rPr lang="en-US" sz="1600" b="1" dirty="0">
                <a:solidFill>
                  <a:srgbClr val="2C2C2C"/>
                </a:solidFill>
                <a:latin typeface="Liter" pitchFamily="34" charset="0"/>
                <a:ea typeface="Liter" pitchFamily="34" charset="-122"/>
                <a:cs typeface="Liter" pitchFamily="34" charset="-120"/>
              </a:rPr>
              <a:t>TikTok</a:t>
            </a:r>
            <a:endParaRPr lang="en-US" sz="1600" dirty="0"/>
          </a:p>
        </p:txBody>
      </p:sp>
      <p:sp>
        <p:nvSpPr>
          <p:cNvPr id="15" name="Text 13"/>
          <p:cNvSpPr/>
          <p:nvPr/>
        </p:nvSpPr>
        <p:spPr>
          <a:xfrm>
            <a:off x="6985000" y="2032000"/>
            <a:ext cx="2286000" cy="635000"/>
          </a:xfrm>
          <a:prstGeom prst="rect">
            <a:avLst/>
          </a:prstGeom>
          <a:noFill/>
          <a:ln/>
        </p:spPr>
        <p:txBody>
          <a:bodyPr wrap="square" lIns="0" tIns="0" rIns="0" bIns="0" rtlCol="0" anchor="t"/>
          <a:lstStyle/>
          <a:p>
            <a:pPr algn="ctr">
              <a:lnSpc>
                <a:spcPct val="140000"/>
              </a:lnSpc>
            </a:pPr>
            <a:r>
              <a:rPr lang="en-US" sz="1200" dirty="0">
                <a:solidFill>
                  <a:srgbClr val="888888"/>
                </a:solidFill>
                <a:latin typeface="MiSans" pitchFamily="34" charset="0"/>
                <a:ea typeface="MiSans" pitchFamily="34" charset="-122"/>
                <a:cs typeface="MiSans" pitchFamily="34" charset="-120"/>
              </a:rPr>
              <a:t>Gen Z, short-form video, viral potential</a:t>
            </a:r>
            <a:endParaRPr lang="en-US" sz="1200" dirty="0"/>
          </a:p>
        </p:txBody>
      </p:sp>
      <p:sp>
        <p:nvSpPr>
          <p:cNvPr id="16" name="Shape 14"/>
          <p:cNvSpPr/>
          <p:nvPr/>
        </p:nvSpPr>
        <p:spPr>
          <a:xfrm>
            <a:off x="8128000" y="2794000"/>
            <a:ext cx="0" cy="381000"/>
          </a:xfrm>
          <a:prstGeom prst="straightConnector1">
            <a:avLst/>
          </a:prstGeom>
          <a:noFill/>
          <a:ln w="25400">
            <a:solidFill>
              <a:srgbClr val="D91E18"/>
            </a:solidFill>
            <a:prstDash val="solid"/>
            <a:headEnd type="none"/>
            <a:tailEnd type="arrow"/>
          </a:ln>
        </p:spPr>
      </p:sp>
      <p:sp>
        <p:nvSpPr>
          <p:cNvPr id="17" name="Shape 15"/>
          <p:cNvSpPr/>
          <p:nvPr/>
        </p:nvSpPr>
        <p:spPr>
          <a:xfrm>
            <a:off x="1651000" y="3429000"/>
            <a:ext cx="7620000" cy="1016000"/>
          </a:xfrm>
          <a:prstGeom prst="rect">
            <a:avLst/>
          </a:prstGeom>
          <a:solidFill>
            <a:srgbClr val="D91E18"/>
          </a:solidFill>
          <a:ln/>
        </p:spPr>
      </p:sp>
      <p:sp>
        <p:nvSpPr>
          <p:cNvPr id="18" name="Text 16"/>
          <p:cNvSpPr/>
          <p:nvPr/>
        </p:nvSpPr>
        <p:spPr>
          <a:xfrm>
            <a:off x="1651000" y="3429000"/>
            <a:ext cx="7620000" cy="10160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Liter" pitchFamily="34" charset="0"/>
                <a:ea typeface="Liter" pitchFamily="34" charset="-122"/>
                <a:cs typeface="Liter" pitchFamily="34" charset="-120"/>
              </a:rPr>
              <a:t>MATCH PLATFORM TO YOUR ICP</a:t>
            </a:r>
            <a:endParaRPr lang="en-US" sz="1800" dirty="0"/>
          </a:p>
        </p:txBody>
      </p:sp>
      <p:sp>
        <p:nvSpPr>
          <p:cNvPr id="19" name="Shape 17"/>
          <p:cNvSpPr/>
          <p:nvPr/>
        </p:nvSpPr>
        <p:spPr>
          <a:xfrm>
            <a:off x="9906000" y="1397000"/>
            <a:ext cx="38100" cy="304800"/>
          </a:xfrm>
          <a:prstGeom prst="rect">
            <a:avLst/>
          </a:prstGeom>
          <a:solidFill>
            <a:srgbClr val="D91E18"/>
          </a:solidFill>
          <a:ln/>
        </p:spPr>
      </p:sp>
      <p:sp>
        <p:nvSpPr>
          <p:cNvPr id="20" name="Text 18"/>
          <p:cNvSpPr/>
          <p:nvPr/>
        </p:nvSpPr>
        <p:spPr>
          <a:xfrm>
            <a:off x="10007600" y="1397000"/>
            <a:ext cx="5613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KEYS TO SOCIAL SUCCESS</a:t>
            </a:r>
            <a:endParaRPr lang="en-US" sz="1100" dirty="0"/>
          </a:p>
        </p:txBody>
      </p:sp>
      <p:sp>
        <p:nvSpPr>
          <p:cNvPr id="21" name="Text 19"/>
          <p:cNvSpPr/>
          <p:nvPr/>
        </p:nvSpPr>
        <p:spPr>
          <a:xfrm>
            <a:off x="10007600" y="1778000"/>
            <a:ext cx="5613400" cy="1905000"/>
          </a:xfrm>
          <a:prstGeom prst="rect">
            <a:avLst/>
          </a:prstGeom>
          <a:noFill/>
          <a:ln/>
        </p:spPr>
        <p:txBody>
          <a:bodyPr wrap="square" lIns="0" tIns="0" rIns="0" bIns="0" rtlCol="0" anchor="t"/>
          <a:lstStyle/>
          <a:p>
            <a:pPr algn="l">
              <a:lnSpc>
                <a:spcPct val="160000"/>
              </a:lnSpc>
            </a:pPr>
            <a:r>
              <a:rPr lang="en-US" sz="1400" dirty="0">
                <a:solidFill>
                  <a:srgbClr val="2C2C2C"/>
                </a:solidFill>
                <a:latin typeface="Liter" pitchFamily="34" charset="0"/>
                <a:ea typeface="Liter" pitchFamily="34" charset="-122"/>
                <a:cs typeface="Liter" pitchFamily="34" charset="-120"/>
              </a:rPr>
              <a:t>■ Choose platforms based on your targets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Publish short, useful, authentic content</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Encourage engagement: polls, quizzes, videos</a:t>
            </a:r>
            <a:endParaRPr lang="en-US" sz="1400" dirty="0"/>
          </a:p>
          <a:p>
            <a:pPr algn="l">
              <a:lnSpc>
                <a:spcPct val="160000"/>
              </a:lnSpc>
            </a:pPr>
            <a:r>
              <a:rPr lang="en-US" sz="1400" dirty="0">
                <a:solidFill>
                  <a:srgbClr val="2C2C2C"/>
                </a:solidFill>
                <a:latin typeface="Liter" pitchFamily="34" charset="0"/>
                <a:ea typeface="Liter" pitchFamily="34" charset="-122"/>
                <a:cs typeface="Liter" pitchFamily="34" charset="-120"/>
              </a:rPr>
              <a:t>■ Vary formats to boost organic reach</a:t>
            </a:r>
            <a:endParaRPr lang="en-US" sz="1400" dirty="0"/>
          </a:p>
        </p:txBody>
      </p:sp>
      <p:sp>
        <p:nvSpPr>
          <p:cNvPr id="22" name="Shape 20"/>
          <p:cNvSpPr/>
          <p:nvPr/>
        </p:nvSpPr>
        <p:spPr>
          <a:xfrm>
            <a:off x="9906000" y="3810000"/>
            <a:ext cx="38100" cy="304800"/>
          </a:xfrm>
          <a:prstGeom prst="rect">
            <a:avLst/>
          </a:prstGeom>
          <a:solidFill>
            <a:srgbClr val="D91E18"/>
          </a:solidFill>
          <a:ln/>
        </p:spPr>
      </p:sp>
      <p:sp>
        <p:nvSpPr>
          <p:cNvPr id="23" name="Text 21"/>
          <p:cNvSpPr/>
          <p:nvPr/>
        </p:nvSpPr>
        <p:spPr>
          <a:xfrm>
            <a:off x="10007600" y="3810000"/>
            <a:ext cx="5613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CONTENT FORMATS BY PLATFORM</a:t>
            </a:r>
            <a:endParaRPr lang="en-US" sz="1100" dirty="0"/>
          </a:p>
        </p:txBody>
      </p:sp>
      <p:sp>
        <p:nvSpPr>
          <p:cNvPr id="24" name="Text 22"/>
          <p:cNvSpPr/>
          <p:nvPr/>
        </p:nvSpPr>
        <p:spPr>
          <a:xfrm>
            <a:off x="10007600" y="4191000"/>
            <a:ext cx="5613400" cy="838200"/>
          </a:xfrm>
          <a:prstGeom prst="rect">
            <a:avLst/>
          </a:prstGeom>
          <a:noFill/>
          <a:ln/>
        </p:spPr>
        <p:txBody>
          <a:bodyPr wrap="square" lIns="0" tIns="0" rIns="0" bIns="0" rtlCol="0" anchor="t"/>
          <a:lstStyle/>
          <a:p>
            <a:pPr algn="l">
              <a:lnSpc>
                <a:spcPct val="140000"/>
              </a:lnSpc>
            </a:pPr>
            <a:r>
              <a:rPr lang="en-US" sz="1200" dirty="0">
                <a:solidFill>
                  <a:srgbClr val="2C2C2C"/>
                </a:solidFill>
                <a:latin typeface="Liter" pitchFamily="34" charset="0"/>
                <a:ea typeface="Liter" pitchFamily="34" charset="-122"/>
                <a:cs typeface="Liter" pitchFamily="34" charset="-120"/>
              </a:rPr>
              <a:t>■ LinkedIn: Articles, carousels, polls</a:t>
            </a:r>
            <a:endParaRPr lang="en-US" sz="1200" dirty="0"/>
          </a:p>
          <a:p>
            <a:pPr algn="l">
              <a:lnSpc>
                <a:spcPct val="140000"/>
              </a:lnSpc>
            </a:pPr>
            <a:r>
              <a:rPr lang="en-US" sz="1200" dirty="0">
                <a:solidFill>
                  <a:srgbClr val="2C2C2C"/>
                </a:solidFill>
                <a:latin typeface="Liter" pitchFamily="34" charset="0"/>
                <a:ea typeface="Liter" pitchFamily="34" charset="-122"/>
                <a:cs typeface="Liter" pitchFamily="34" charset="-120"/>
              </a:rPr>
              <a:t>■ Instagram: Reels, stories</a:t>
            </a:r>
            <a:endParaRPr lang="en-US" sz="1200" dirty="0"/>
          </a:p>
          <a:p>
            <a:pPr algn="l">
              <a:lnSpc>
                <a:spcPct val="140000"/>
              </a:lnSpc>
            </a:pPr>
            <a:r>
              <a:rPr lang="en-US" sz="1200" dirty="0">
                <a:solidFill>
                  <a:srgbClr val="2C2C2C"/>
                </a:solidFill>
                <a:latin typeface="Liter" pitchFamily="34" charset="0"/>
                <a:ea typeface="Liter" pitchFamily="34" charset="-122"/>
                <a:cs typeface="Liter" pitchFamily="34" charset="-120"/>
              </a:rPr>
              <a:t>■ TikTok: Short tutorials</a:t>
            </a:r>
            <a:endParaRPr lang="en-US" sz="1200" dirty="0"/>
          </a:p>
        </p:txBody>
      </p:sp>
      <p:sp>
        <p:nvSpPr>
          <p:cNvPr id="25" name="Text 23"/>
          <p:cNvSpPr/>
          <p:nvPr/>
        </p:nvSpPr>
        <p:spPr>
          <a:xfrm>
            <a:off x="635000" y="5080000"/>
            <a:ext cx="3175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4.9B</a:t>
            </a:r>
            <a:endParaRPr lang="en-US" sz="3600" dirty="0"/>
          </a:p>
        </p:txBody>
      </p:sp>
      <p:sp>
        <p:nvSpPr>
          <p:cNvPr id="26" name="Text 24"/>
          <p:cNvSpPr/>
          <p:nvPr/>
        </p:nvSpPr>
        <p:spPr>
          <a:xfrm>
            <a:off x="635000" y="5715000"/>
            <a:ext cx="3175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Active social media users globally</a:t>
            </a:r>
            <a:endParaRPr lang="en-US" sz="1300" dirty="0"/>
          </a:p>
        </p:txBody>
      </p:sp>
      <p:sp>
        <p:nvSpPr>
          <p:cNvPr id="27" name="Text 25"/>
          <p:cNvSpPr/>
          <p:nvPr/>
        </p:nvSpPr>
        <p:spPr>
          <a:xfrm>
            <a:off x="4064000" y="5080000"/>
            <a:ext cx="3175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73%</a:t>
            </a:r>
            <a:endParaRPr lang="en-US" sz="3600" dirty="0"/>
          </a:p>
        </p:txBody>
      </p:sp>
      <p:sp>
        <p:nvSpPr>
          <p:cNvPr id="28" name="Text 26"/>
          <p:cNvSpPr/>
          <p:nvPr/>
        </p:nvSpPr>
        <p:spPr>
          <a:xfrm>
            <a:off x="4064000" y="5715000"/>
            <a:ext cx="3175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B2B buyers use social for purchase decisions</a:t>
            </a:r>
            <a:endParaRPr lang="en-US" sz="1300" dirty="0"/>
          </a:p>
        </p:txBody>
      </p:sp>
      <p:sp>
        <p:nvSpPr>
          <p:cNvPr id="29" name="Text 27"/>
          <p:cNvSpPr/>
          <p:nvPr/>
        </p:nvSpPr>
        <p:spPr>
          <a:xfrm>
            <a:off x="7493000" y="5080000"/>
            <a:ext cx="2540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2.5x</a:t>
            </a:r>
            <a:endParaRPr lang="en-US" sz="3600" dirty="0"/>
          </a:p>
        </p:txBody>
      </p:sp>
      <p:sp>
        <p:nvSpPr>
          <p:cNvPr id="30" name="Text 28"/>
          <p:cNvSpPr/>
          <p:nvPr/>
        </p:nvSpPr>
        <p:spPr>
          <a:xfrm>
            <a:off x="7493000" y="5715000"/>
            <a:ext cx="2540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Higher engagement with video content</a:t>
            </a:r>
            <a:endParaRPr lang="en-US" sz="1300" dirty="0"/>
          </a:p>
        </p:txBody>
      </p:sp>
      <p:sp>
        <p:nvSpPr>
          <p:cNvPr id="31" name="Shape 29"/>
          <p:cNvSpPr/>
          <p:nvPr/>
        </p:nvSpPr>
        <p:spPr>
          <a:xfrm>
            <a:off x="635000" y="6477000"/>
            <a:ext cx="8382000" cy="914400"/>
          </a:xfrm>
          <a:prstGeom prst="rect">
            <a:avLst/>
          </a:prstGeom>
          <a:solidFill>
            <a:srgbClr val="FFFFFF"/>
          </a:solidFill>
          <a:ln w="12700">
            <a:solidFill>
              <a:srgbClr val="DDDDDD"/>
            </a:solidFill>
            <a:prstDash val="solid"/>
          </a:ln>
        </p:spPr>
      </p:sp>
      <p:sp>
        <p:nvSpPr>
          <p:cNvPr id="32" name="Shape 30"/>
          <p:cNvSpPr/>
          <p:nvPr/>
        </p:nvSpPr>
        <p:spPr>
          <a:xfrm>
            <a:off x="635000" y="6477000"/>
            <a:ext cx="50800" cy="914400"/>
          </a:xfrm>
          <a:prstGeom prst="rect">
            <a:avLst/>
          </a:prstGeom>
          <a:solidFill>
            <a:srgbClr val="D91E18"/>
          </a:solidFill>
          <a:ln/>
        </p:spPr>
      </p:sp>
      <p:sp>
        <p:nvSpPr>
          <p:cNvPr id="33" name="Text 31"/>
          <p:cNvSpPr/>
          <p:nvPr/>
        </p:nvSpPr>
        <p:spPr>
          <a:xfrm>
            <a:off x="838200" y="6553200"/>
            <a:ext cx="8001000" cy="762000"/>
          </a:xfrm>
          <a:prstGeom prst="rect">
            <a:avLst/>
          </a:prstGeom>
          <a:noFill/>
          <a:ln/>
        </p:spPr>
        <p:txBody>
          <a:bodyPr wrap="square" lIns="0" tIns="0" rIns="0" bIns="0" rtlCol="0" anchor="t"/>
          <a:lstStyle/>
          <a:p>
            <a:pPr algn="l">
              <a:lnSpc>
                <a:spcPct val="150000"/>
              </a:lnSpc>
            </a:pPr>
            <a:r>
              <a:rPr lang="en-US" sz="1300" b="1" dirty="0">
                <a:solidFill>
                  <a:srgbClr val="D91E18"/>
                </a:solidFill>
                <a:latin typeface="MiSans" pitchFamily="34" charset="0"/>
                <a:ea typeface="MiSans" pitchFamily="34" charset="-122"/>
                <a:cs typeface="MiSans" pitchFamily="34" charset="-120"/>
              </a:rPr>
              <a:t>Key insight:</a:t>
            </a:r>
            <a:pPr algn="l">
              <a:lnSpc>
                <a:spcPct val="150000"/>
              </a:lnSpc>
            </a:pPr>
            <a:r>
              <a:rPr lang="en-US" sz="1300" dirty="0">
                <a:solidFill>
                  <a:srgbClr val="2C2C2C"/>
                </a:solidFill>
                <a:latin typeface="MiSans" pitchFamily="34" charset="0"/>
                <a:ea typeface="MiSans" pitchFamily="34" charset="-122"/>
                <a:cs typeface="MiSans" pitchFamily="34" charset="-120"/>
              </a:rPr>
              <a:t> A well-thought-out social presence reinforces proximity and humanizes the brand. Focus on 1-2 platforms where your ICP spends time rather than spreading thin across all channels.</a:t>
            </a:r>
            <a:endParaRPr lang="en-US" sz="1300" dirty="0"/>
          </a:p>
        </p:txBody>
      </p:sp>
      <p:sp>
        <p:nvSpPr>
          <p:cNvPr id="34" name="Shape 32"/>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35" name="Text 33"/>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Hootsuite Digital Trends 2025, LinkedIn B2B Institute</a:t>
            </a:r>
            <a:endParaRPr lang="en-US" sz="1300" dirty="0"/>
          </a:p>
        </p:txBody>
      </p:sp>
      <p:sp>
        <p:nvSpPr>
          <p:cNvPr id="36" name="Text 34"/>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06</a:t>
            </a:r>
            <a:endParaRPr lang="en-US" sz="12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CFB"/>
        </a:solidFill>
      </p:bgPr>
    </p:bg>
    <p:spTree>
      <p:nvGrpSpPr>
        <p:cNvPr id="1" name=""/>
        <p:cNvGrpSpPr/>
        <p:nvPr/>
      </p:nvGrpSpPr>
      <p:grpSpPr>
        <a:xfrm>
          <a:off x="0" y="0"/>
          <a:ext cx="0" cy="0"/>
          <a:chOff x="0" y="0"/>
          <a:chExt cx="0" cy="0"/>
        </a:xfrm>
      </p:grpSpPr>
      <p:sp>
        <p:nvSpPr>
          <p:cNvPr id="2" name="Shape 0"/>
          <p:cNvSpPr/>
          <p:nvPr/>
        </p:nvSpPr>
        <p:spPr>
          <a:xfrm>
            <a:off x="0" y="0"/>
            <a:ext cx="16256000" cy="25400"/>
          </a:xfrm>
          <a:prstGeom prst="rect">
            <a:avLst/>
          </a:prstGeom>
          <a:solidFill>
            <a:srgbClr val="D91E18"/>
          </a:solidFill>
          <a:ln/>
        </p:spPr>
      </p:sp>
      <p:sp>
        <p:nvSpPr>
          <p:cNvPr id="3" name="Text 1"/>
          <p:cNvSpPr/>
          <p:nvPr/>
        </p:nvSpPr>
        <p:spPr>
          <a:xfrm>
            <a:off x="12319000" y="1905000"/>
            <a:ext cx="3683000" cy="2794000"/>
          </a:xfrm>
          <a:prstGeom prst="rect">
            <a:avLst/>
          </a:prstGeom>
          <a:noFill/>
          <a:ln/>
        </p:spPr>
        <p:txBody>
          <a:bodyPr wrap="none" lIns="0" tIns="0" rIns="0" bIns="0" rtlCol="0" anchor="ctr"/>
          <a:lstStyle/>
          <a:p>
            <a:pPr algn="l">
              <a:lnSpc>
                <a:spcPct val="120000"/>
              </a:lnSpc>
            </a:pPr>
            <a:r>
              <a:rPr lang="en-US" sz="14000" b="1" dirty="0">
                <a:solidFill>
                  <a:srgbClr val="D91E18">
                    <a:alpha val="3137"/>
                  </a:srgbClr>
                </a:solidFill>
                <a:latin typeface="Liter" pitchFamily="34" charset="0"/>
                <a:ea typeface="Liter" pitchFamily="34" charset="-122"/>
                <a:cs typeface="Liter" pitchFamily="34" charset="-120"/>
              </a:rPr>
              <a:t>02</a:t>
            </a:r>
            <a:endParaRPr lang="en-US" sz="14000" dirty="0"/>
          </a:p>
        </p:txBody>
      </p:sp>
      <p:sp>
        <p:nvSpPr>
          <p:cNvPr id="4" name="Text 2"/>
          <p:cNvSpPr/>
          <p:nvPr/>
        </p:nvSpPr>
        <p:spPr>
          <a:xfrm>
            <a:off x="762000" y="2540000"/>
            <a:ext cx="3810000" cy="3810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CHAPTER 02</a:t>
            </a:r>
            <a:endParaRPr lang="en-US" sz="1100" dirty="0"/>
          </a:p>
        </p:txBody>
      </p:sp>
      <p:sp>
        <p:nvSpPr>
          <p:cNvPr id="5" name="Text 3"/>
          <p:cNvSpPr/>
          <p:nvPr/>
        </p:nvSpPr>
        <p:spPr>
          <a:xfrm>
            <a:off x="762000" y="3048000"/>
            <a:ext cx="11430000" cy="1066800"/>
          </a:xfrm>
          <a:prstGeom prst="rect">
            <a:avLst/>
          </a:prstGeom>
          <a:noFill/>
          <a:ln/>
        </p:spPr>
        <p:txBody>
          <a:bodyPr wrap="square" lIns="0" tIns="0" rIns="0" bIns="0" rtlCol="0" anchor="ctr"/>
          <a:lstStyle/>
          <a:p>
            <a:pPr algn="l">
              <a:lnSpc>
                <a:spcPct val="120000"/>
              </a:lnSpc>
            </a:pPr>
            <a:r>
              <a:rPr lang="en-US" sz="4200" b="1" dirty="0">
                <a:solidFill>
                  <a:srgbClr val="2C2C2C"/>
                </a:solidFill>
                <a:latin typeface="Liter" pitchFamily="34" charset="0"/>
                <a:ea typeface="Liter" pitchFamily="34" charset="-122"/>
                <a:cs typeface="Liter" pitchFamily="34" charset="-120"/>
              </a:rPr>
              <a:t>THE ROAD TO GTM</a:t>
            </a:r>
            <a:endParaRPr lang="en-US" sz="4200" dirty="0"/>
          </a:p>
        </p:txBody>
      </p:sp>
      <p:sp>
        <p:nvSpPr>
          <p:cNvPr id="6" name="Text 4"/>
          <p:cNvSpPr/>
          <p:nvPr/>
        </p:nvSpPr>
        <p:spPr>
          <a:xfrm>
            <a:off x="762000" y="4318000"/>
            <a:ext cx="10160000" cy="431800"/>
          </a:xfrm>
          <a:prstGeom prst="rect">
            <a:avLst/>
          </a:prstGeom>
          <a:noFill/>
          <a:ln/>
        </p:spPr>
        <p:txBody>
          <a:bodyPr wrap="square" lIns="0" tIns="0" rIns="0" bIns="0" rtlCol="0" anchor="t"/>
          <a:lstStyle/>
          <a:p>
            <a:pPr algn="l">
              <a:lnSpc>
                <a:spcPct val="160000"/>
              </a:lnSpc>
            </a:pPr>
            <a:r>
              <a:rPr lang="en-US" sz="1800" dirty="0">
                <a:solidFill>
                  <a:srgbClr val="888888"/>
                </a:solidFill>
                <a:latin typeface="Liter" pitchFamily="34" charset="0"/>
                <a:ea typeface="Liter" pitchFamily="34" charset="-122"/>
                <a:cs typeface="Liter" pitchFamily="34" charset="-120"/>
              </a:rPr>
              <a:t>From market definition to launch — the five components of a winning go-to-market strategy</a:t>
            </a:r>
            <a:endParaRPr lang="en-US" sz="1800" dirty="0"/>
          </a:p>
        </p:txBody>
      </p:sp>
      <p:sp>
        <p:nvSpPr>
          <p:cNvPr id="7" name="Shape 5"/>
          <p:cNvSpPr/>
          <p:nvPr/>
        </p:nvSpPr>
        <p:spPr>
          <a:xfrm>
            <a:off x="762000" y="4851400"/>
            <a:ext cx="2032000" cy="0"/>
          </a:xfrm>
          <a:prstGeom prst="straightConnector1">
            <a:avLst/>
          </a:prstGeom>
          <a:noFill/>
          <a:ln w="25400">
            <a:solidFill>
              <a:srgbClr val="D91E18"/>
            </a:solidFill>
            <a:prstDash val="solid"/>
            <a:headEnd type="none"/>
            <a:tailEnd type="none"/>
          </a:ln>
        </p:spPr>
      </p:sp>
      <p:sp>
        <p:nvSpPr>
          <p:cNvPr id="8" name="Shape 6"/>
          <p:cNvSpPr/>
          <p:nvPr/>
        </p:nvSpPr>
        <p:spPr>
          <a:xfrm>
            <a:off x="0" y="9118600"/>
            <a:ext cx="16256000" cy="25400"/>
          </a:xfrm>
          <a:prstGeom prst="rect">
            <a:avLst/>
          </a:prstGeom>
          <a:solidFill>
            <a:srgbClr val="D91E18"/>
          </a:solidFill>
          <a:ln/>
        </p:spPr>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Five interconnected components define every successful GTM strategy</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MISS ANY ONE COMPONENT AND THE ENTIRE SYSTEM BECOMES UNSTABLE</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6223000" y="3048000"/>
            <a:ext cx="2032000" cy="1270000"/>
          </a:xfrm>
          <a:prstGeom prst="ellipse">
            <a:avLst/>
          </a:prstGeom>
          <a:solidFill>
            <a:srgbClr val="D91E18"/>
          </a:solidFill>
          <a:ln/>
        </p:spPr>
      </p:sp>
      <p:sp>
        <p:nvSpPr>
          <p:cNvPr id="6" name="Text 4"/>
          <p:cNvSpPr/>
          <p:nvPr/>
        </p:nvSpPr>
        <p:spPr>
          <a:xfrm>
            <a:off x="6223000" y="3048000"/>
            <a:ext cx="2032000" cy="12700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Liter" pitchFamily="34" charset="0"/>
                <a:ea typeface="Liter" pitchFamily="34" charset="-122"/>
                <a:cs typeface="Liter" pitchFamily="34" charset="-120"/>
              </a:rPr>
              <a:t>GTM</a:t>
            </a:r>
            <a:endParaRPr lang="en-US" sz="1400" dirty="0"/>
          </a:p>
        </p:txBody>
      </p:sp>
      <p:sp>
        <p:nvSpPr>
          <p:cNvPr id="7" name="Shape 5"/>
          <p:cNvSpPr/>
          <p:nvPr/>
        </p:nvSpPr>
        <p:spPr>
          <a:xfrm>
            <a:off x="5842000" y="1524000"/>
            <a:ext cx="2794000" cy="889000"/>
          </a:xfrm>
          <a:prstGeom prst="rect">
            <a:avLst/>
          </a:prstGeom>
          <a:noFill/>
          <a:ln w="12700">
            <a:solidFill>
              <a:srgbClr val="2C2C2C"/>
            </a:solidFill>
            <a:prstDash val="solid"/>
          </a:ln>
        </p:spPr>
      </p:sp>
      <p:sp>
        <p:nvSpPr>
          <p:cNvPr id="8" name="Text 6"/>
          <p:cNvSpPr/>
          <p:nvPr/>
        </p:nvSpPr>
        <p:spPr>
          <a:xfrm>
            <a:off x="5842000" y="1524000"/>
            <a:ext cx="2794000" cy="889000"/>
          </a:xfrm>
          <a:prstGeom prst="rect">
            <a:avLst/>
          </a:prstGeom>
          <a:noFill/>
          <a:ln/>
        </p:spPr>
        <p:txBody>
          <a:bodyPr wrap="square" lIns="0" tIns="0" rIns="0" bIns="0" rtlCol="0" anchor="ctr"/>
          <a:lstStyle/>
          <a:p>
            <a:pPr algn="ctr">
              <a:lnSpc>
                <a:spcPct val="130000"/>
              </a:lnSpc>
            </a:pPr>
            <a:r>
              <a:rPr lang="en-US" sz="1300" b="1" dirty="0">
                <a:solidFill>
                  <a:srgbClr val="2C2C2C"/>
                </a:solidFill>
                <a:latin typeface="Liter" pitchFamily="34" charset="0"/>
                <a:ea typeface="Liter" pitchFamily="34" charset="-122"/>
                <a:cs typeface="Liter" pitchFamily="34" charset="-120"/>
              </a:rPr>
              <a:t>Market Definition</a:t>
            </a:r>
            <a:endParaRPr lang="en-US" sz="1300" dirty="0"/>
          </a:p>
          <a:p>
            <a:pPr algn="ctr">
              <a:lnSpc>
                <a:spcPct val="130000"/>
              </a:lnSpc>
            </a:pPr>
            <a:r>
              <a:rPr lang="en-US" sz="1100" dirty="0">
                <a:solidFill>
                  <a:srgbClr val="888888"/>
                </a:solidFill>
                <a:latin typeface="Liter" pitchFamily="34" charset="0"/>
                <a:ea typeface="Liter" pitchFamily="34" charset="-122"/>
                <a:cs typeface="Liter" pitchFamily="34" charset="-120"/>
              </a:rPr>
              <a:t>TAM / SAM / SOM</a:t>
            </a:r>
            <a:endParaRPr lang="en-US" sz="1300" dirty="0"/>
          </a:p>
        </p:txBody>
      </p:sp>
      <p:sp>
        <p:nvSpPr>
          <p:cNvPr id="9" name="Shape 7"/>
          <p:cNvSpPr/>
          <p:nvPr/>
        </p:nvSpPr>
        <p:spPr>
          <a:xfrm>
            <a:off x="7239000" y="2413000"/>
            <a:ext cx="0" cy="635000"/>
          </a:xfrm>
          <a:prstGeom prst="straightConnector1">
            <a:avLst/>
          </a:prstGeom>
          <a:noFill/>
          <a:ln w="25400">
            <a:solidFill>
              <a:srgbClr val="D91E18"/>
            </a:solidFill>
            <a:prstDash val="solid"/>
            <a:headEnd type="arrow"/>
            <a:tailEnd type="none"/>
          </a:ln>
        </p:spPr>
      </p:sp>
      <p:sp>
        <p:nvSpPr>
          <p:cNvPr id="10" name="Shape 8"/>
          <p:cNvSpPr/>
          <p:nvPr/>
        </p:nvSpPr>
        <p:spPr>
          <a:xfrm>
            <a:off x="9144000" y="3048000"/>
            <a:ext cx="2794000" cy="889000"/>
          </a:xfrm>
          <a:prstGeom prst="rect">
            <a:avLst/>
          </a:prstGeom>
          <a:noFill/>
          <a:ln w="12700">
            <a:solidFill>
              <a:srgbClr val="2C2C2C"/>
            </a:solidFill>
            <a:prstDash val="solid"/>
          </a:ln>
        </p:spPr>
      </p:sp>
      <p:sp>
        <p:nvSpPr>
          <p:cNvPr id="11" name="Text 9"/>
          <p:cNvSpPr/>
          <p:nvPr/>
        </p:nvSpPr>
        <p:spPr>
          <a:xfrm>
            <a:off x="9144000" y="3048000"/>
            <a:ext cx="2794000" cy="889000"/>
          </a:xfrm>
          <a:prstGeom prst="rect">
            <a:avLst/>
          </a:prstGeom>
          <a:noFill/>
          <a:ln/>
        </p:spPr>
        <p:txBody>
          <a:bodyPr wrap="square" lIns="0" tIns="0" rIns="0" bIns="0" rtlCol="0" anchor="ctr"/>
          <a:lstStyle/>
          <a:p>
            <a:pPr algn="ctr">
              <a:lnSpc>
                <a:spcPct val="130000"/>
              </a:lnSpc>
            </a:pPr>
            <a:r>
              <a:rPr lang="en-US" sz="1300" b="1" dirty="0">
                <a:solidFill>
                  <a:srgbClr val="2C2C2C"/>
                </a:solidFill>
                <a:latin typeface="Liter" pitchFamily="34" charset="0"/>
                <a:ea typeface="Liter" pitchFamily="34" charset="-122"/>
                <a:cs typeface="Liter" pitchFamily="34" charset="-120"/>
              </a:rPr>
              <a:t>Ideal Customer Profile</a:t>
            </a:r>
            <a:endParaRPr lang="en-US" sz="1300" dirty="0"/>
          </a:p>
          <a:p>
            <a:pPr algn="ctr">
              <a:lnSpc>
                <a:spcPct val="130000"/>
              </a:lnSpc>
            </a:pPr>
            <a:r>
              <a:rPr lang="en-US" sz="1100" dirty="0">
                <a:solidFill>
                  <a:srgbClr val="888888"/>
                </a:solidFill>
                <a:latin typeface="Liter" pitchFamily="34" charset="0"/>
                <a:ea typeface="Liter" pitchFamily="34" charset="-122"/>
                <a:cs typeface="Liter" pitchFamily="34" charset="-120"/>
              </a:rPr>
              <a:t>Who, Pain, Trigger</a:t>
            </a:r>
            <a:endParaRPr lang="en-US" sz="1300" dirty="0"/>
          </a:p>
        </p:txBody>
      </p:sp>
      <p:sp>
        <p:nvSpPr>
          <p:cNvPr id="12" name="Shape 10"/>
          <p:cNvSpPr/>
          <p:nvPr/>
        </p:nvSpPr>
        <p:spPr>
          <a:xfrm>
            <a:off x="8255000" y="3683000"/>
            <a:ext cx="889000" cy="0"/>
          </a:xfrm>
          <a:prstGeom prst="straightConnector1">
            <a:avLst/>
          </a:prstGeom>
          <a:noFill/>
          <a:ln w="25400">
            <a:solidFill>
              <a:srgbClr val="D91E18"/>
            </a:solidFill>
            <a:prstDash val="solid"/>
            <a:headEnd type="none"/>
            <a:tailEnd type="arrow"/>
          </a:ln>
        </p:spPr>
      </p:sp>
      <p:sp>
        <p:nvSpPr>
          <p:cNvPr id="13" name="Shape 11"/>
          <p:cNvSpPr/>
          <p:nvPr/>
        </p:nvSpPr>
        <p:spPr>
          <a:xfrm>
            <a:off x="5842000" y="5080000"/>
            <a:ext cx="2794000" cy="889000"/>
          </a:xfrm>
          <a:prstGeom prst="rect">
            <a:avLst/>
          </a:prstGeom>
          <a:noFill/>
          <a:ln w="12700">
            <a:solidFill>
              <a:srgbClr val="2C2C2C"/>
            </a:solidFill>
            <a:prstDash val="solid"/>
          </a:ln>
        </p:spPr>
      </p:sp>
      <p:sp>
        <p:nvSpPr>
          <p:cNvPr id="14" name="Text 12"/>
          <p:cNvSpPr/>
          <p:nvPr/>
        </p:nvSpPr>
        <p:spPr>
          <a:xfrm>
            <a:off x="5842000" y="5080000"/>
            <a:ext cx="2794000" cy="889000"/>
          </a:xfrm>
          <a:prstGeom prst="rect">
            <a:avLst/>
          </a:prstGeom>
          <a:noFill/>
          <a:ln/>
        </p:spPr>
        <p:txBody>
          <a:bodyPr wrap="square" lIns="0" tIns="0" rIns="0" bIns="0" rtlCol="0" anchor="ctr"/>
          <a:lstStyle/>
          <a:p>
            <a:pPr algn="ctr">
              <a:lnSpc>
                <a:spcPct val="130000"/>
              </a:lnSpc>
            </a:pPr>
            <a:r>
              <a:rPr lang="en-US" sz="1300" b="1" dirty="0">
                <a:solidFill>
                  <a:srgbClr val="2C2C2C"/>
                </a:solidFill>
                <a:latin typeface="Liter" pitchFamily="34" charset="0"/>
                <a:ea typeface="Liter" pitchFamily="34" charset="-122"/>
                <a:cs typeface="Liter" pitchFamily="34" charset="-120"/>
              </a:rPr>
              <a:t>Value Proposition</a:t>
            </a:r>
            <a:endParaRPr lang="en-US" sz="1300" dirty="0"/>
          </a:p>
          <a:p>
            <a:pPr algn="ctr">
              <a:lnSpc>
                <a:spcPct val="130000"/>
              </a:lnSpc>
            </a:pPr>
            <a:r>
              <a:rPr lang="en-US" sz="1100" dirty="0">
                <a:solidFill>
                  <a:srgbClr val="888888"/>
                </a:solidFill>
                <a:latin typeface="Liter" pitchFamily="34" charset="0"/>
                <a:ea typeface="Liter" pitchFamily="34" charset="-122"/>
                <a:cs typeface="Liter" pitchFamily="34" charset="-120"/>
              </a:rPr>
              <a:t>Why you, why now</a:t>
            </a:r>
            <a:endParaRPr lang="en-US" sz="1300" dirty="0"/>
          </a:p>
        </p:txBody>
      </p:sp>
      <p:sp>
        <p:nvSpPr>
          <p:cNvPr id="15" name="Shape 13"/>
          <p:cNvSpPr/>
          <p:nvPr/>
        </p:nvSpPr>
        <p:spPr>
          <a:xfrm>
            <a:off x="7239000" y="4318000"/>
            <a:ext cx="0" cy="762000"/>
          </a:xfrm>
          <a:prstGeom prst="straightConnector1">
            <a:avLst/>
          </a:prstGeom>
          <a:noFill/>
          <a:ln w="25400">
            <a:solidFill>
              <a:srgbClr val="D91E18"/>
            </a:solidFill>
            <a:prstDash val="solid"/>
            <a:headEnd type="none"/>
            <a:tailEnd type="arrow"/>
          </a:ln>
        </p:spPr>
      </p:sp>
      <p:sp>
        <p:nvSpPr>
          <p:cNvPr id="16" name="Shape 14"/>
          <p:cNvSpPr/>
          <p:nvPr/>
        </p:nvSpPr>
        <p:spPr>
          <a:xfrm>
            <a:off x="2540000" y="3048000"/>
            <a:ext cx="2794000" cy="889000"/>
          </a:xfrm>
          <a:prstGeom prst="rect">
            <a:avLst/>
          </a:prstGeom>
          <a:noFill/>
          <a:ln w="12700">
            <a:solidFill>
              <a:srgbClr val="2C2C2C"/>
            </a:solidFill>
            <a:prstDash val="solid"/>
          </a:ln>
        </p:spPr>
      </p:sp>
      <p:sp>
        <p:nvSpPr>
          <p:cNvPr id="17" name="Text 15"/>
          <p:cNvSpPr/>
          <p:nvPr/>
        </p:nvSpPr>
        <p:spPr>
          <a:xfrm>
            <a:off x="2540000" y="3048000"/>
            <a:ext cx="2794000" cy="889000"/>
          </a:xfrm>
          <a:prstGeom prst="rect">
            <a:avLst/>
          </a:prstGeom>
          <a:noFill/>
          <a:ln/>
        </p:spPr>
        <p:txBody>
          <a:bodyPr wrap="square" lIns="0" tIns="0" rIns="0" bIns="0" rtlCol="0" anchor="ctr"/>
          <a:lstStyle/>
          <a:p>
            <a:pPr algn="ctr">
              <a:lnSpc>
                <a:spcPct val="130000"/>
              </a:lnSpc>
            </a:pPr>
            <a:r>
              <a:rPr lang="en-US" sz="1300" b="1" dirty="0">
                <a:solidFill>
                  <a:srgbClr val="2C2C2C"/>
                </a:solidFill>
                <a:latin typeface="Liter" pitchFamily="34" charset="0"/>
                <a:ea typeface="Liter" pitchFamily="34" charset="-122"/>
                <a:cs typeface="Liter" pitchFamily="34" charset="-120"/>
              </a:rPr>
              <a:t>Channel Strategy</a:t>
            </a:r>
            <a:endParaRPr lang="en-US" sz="1300" dirty="0"/>
          </a:p>
          <a:p>
            <a:pPr algn="ctr">
              <a:lnSpc>
                <a:spcPct val="130000"/>
              </a:lnSpc>
            </a:pPr>
            <a:r>
              <a:rPr lang="en-US" sz="1100" dirty="0">
                <a:solidFill>
                  <a:srgbClr val="888888"/>
                </a:solidFill>
                <a:latin typeface="Liter" pitchFamily="34" charset="0"/>
                <a:ea typeface="Liter" pitchFamily="34" charset="-122"/>
                <a:cs typeface="Liter" pitchFamily="34" charset="-120"/>
              </a:rPr>
              <a:t>How you reach customers</a:t>
            </a:r>
            <a:endParaRPr lang="en-US" sz="1300" dirty="0"/>
          </a:p>
        </p:txBody>
      </p:sp>
      <p:sp>
        <p:nvSpPr>
          <p:cNvPr id="18" name="Shape 16"/>
          <p:cNvSpPr/>
          <p:nvPr/>
        </p:nvSpPr>
        <p:spPr>
          <a:xfrm>
            <a:off x="5334000" y="3683000"/>
            <a:ext cx="889000" cy="0"/>
          </a:xfrm>
          <a:prstGeom prst="straightConnector1">
            <a:avLst/>
          </a:prstGeom>
          <a:noFill/>
          <a:ln w="25400">
            <a:solidFill>
              <a:srgbClr val="D91E18"/>
            </a:solidFill>
            <a:prstDash val="solid"/>
            <a:headEnd type="arrow"/>
            <a:tailEnd type="none"/>
          </a:ln>
        </p:spPr>
      </p:sp>
      <p:sp>
        <p:nvSpPr>
          <p:cNvPr id="19" name="Shape 17"/>
          <p:cNvSpPr/>
          <p:nvPr/>
        </p:nvSpPr>
        <p:spPr>
          <a:xfrm>
            <a:off x="9144000" y="1524000"/>
            <a:ext cx="2794000" cy="889000"/>
          </a:xfrm>
          <a:prstGeom prst="rect">
            <a:avLst/>
          </a:prstGeom>
          <a:noFill/>
          <a:ln w="12700">
            <a:solidFill>
              <a:srgbClr val="2C2C2C"/>
            </a:solidFill>
            <a:prstDash val="solid"/>
          </a:ln>
        </p:spPr>
      </p:sp>
      <p:sp>
        <p:nvSpPr>
          <p:cNvPr id="20" name="Text 18"/>
          <p:cNvSpPr/>
          <p:nvPr/>
        </p:nvSpPr>
        <p:spPr>
          <a:xfrm>
            <a:off x="9144000" y="1524000"/>
            <a:ext cx="2794000" cy="889000"/>
          </a:xfrm>
          <a:prstGeom prst="rect">
            <a:avLst/>
          </a:prstGeom>
          <a:noFill/>
          <a:ln/>
        </p:spPr>
        <p:txBody>
          <a:bodyPr wrap="square" lIns="0" tIns="0" rIns="0" bIns="0" rtlCol="0" anchor="ctr"/>
          <a:lstStyle/>
          <a:p>
            <a:pPr algn="ctr">
              <a:lnSpc>
                <a:spcPct val="130000"/>
              </a:lnSpc>
            </a:pPr>
            <a:r>
              <a:rPr lang="en-US" sz="1300" b="1" dirty="0">
                <a:solidFill>
                  <a:srgbClr val="2C2C2C"/>
                </a:solidFill>
                <a:latin typeface="Liter" pitchFamily="34" charset="0"/>
                <a:ea typeface="Liter" pitchFamily="34" charset="-122"/>
                <a:cs typeface="Liter" pitchFamily="34" charset="-120"/>
              </a:rPr>
              <a:t>Pricing Model</a:t>
            </a:r>
            <a:endParaRPr lang="en-US" sz="1300" dirty="0"/>
          </a:p>
          <a:p>
            <a:pPr algn="ctr">
              <a:lnSpc>
                <a:spcPct val="130000"/>
              </a:lnSpc>
            </a:pPr>
            <a:r>
              <a:rPr lang="en-US" sz="1100" dirty="0">
                <a:solidFill>
                  <a:srgbClr val="888888"/>
                </a:solidFill>
                <a:latin typeface="Liter" pitchFamily="34" charset="0"/>
                <a:ea typeface="Liter" pitchFamily="34" charset="-122"/>
                <a:cs typeface="Liter" pitchFamily="34" charset="-120"/>
              </a:rPr>
              <a:t>How you monetize</a:t>
            </a:r>
            <a:endParaRPr lang="en-US" sz="1300" dirty="0"/>
          </a:p>
        </p:txBody>
      </p:sp>
      <p:sp>
        <p:nvSpPr>
          <p:cNvPr id="21" name="Shape 19"/>
          <p:cNvSpPr/>
          <p:nvPr/>
        </p:nvSpPr>
        <p:spPr>
          <a:xfrm>
            <a:off x="8255000" y="2413000"/>
            <a:ext cx="635000" cy="635000"/>
          </a:xfrm>
          <a:prstGeom prst="straightConnector1">
            <a:avLst/>
          </a:prstGeom>
          <a:noFill/>
          <a:ln w="25400">
            <a:solidFill>
              <a:srgbClr val="D91E18"/>
            </a:solidFill>
            <a:prstDash val="solid"/>
            <a:headEnd type="arrow"/>
            <a:tailEnd type="none"/>
          </a:ln>
        </p:spPr>
      </p:sp>
      <p:sp>
        <p:nvSpPr>
          <p:cNvPr id="22" name="Shape 20"/>
          <p:cNvSpPr/>
          <p:nvPr/>
        </p:nvSpPr>
        <p:spPr>
          <a:xfrm>
            <a:off x="635000" y="1397000"/>
            <a:ext cx="38100" cy="304800"/>
          </a:xfrm>
          <a:prstGeom prst="rect">
            <a:avLst/>
          </a:prstGeom>
          <a:solidFill>
            <a:srgbClr val="D91E18"/>
          </a:solidFill>
          <a:ln/>
        </p:spPr>
      </p:sp>
      <p:sp>
        <p:nvSpPr>
          <p:cNvPr id="23" name="Text 21"/>
          <p:cNvSpPr/>
          <p:nvPr/>
        </p:nvSpPr>
        <p:spPr>
          <a:xfrm>
            <a:off x="736600" y="1397000"/>
            <a:ext cx="38100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COMPONENT DETAILS</a:t>
            </a:r>
            <a:endParaRPr lang="en-US" sz="1100" dirty="0"/>
          </a:p>
        </p:txBody>
      </p:sp>
      <p:sp>
        <p:nvSpPr>
          <p:cNvPr id="24" name="Text 22"/>
          <p:cNvSpPr/>
          <p:nvPr/>
        </p:nvSpPr>
        <p:spPr>
          <a:xfrm>
            <a:off x="635000" y="1778000"/>
            <a:ext cx="1778000" cy="2159000"/>
          </a:xfrm>
          <a:prstGeom prst="rect">
            <a:avLst/>
          </a:prstGeom>
          <a:noFill/>
          <a:ln/>
        </p:spPr>
        <p:txBody>
          <a:bodyPr wrap="square" lIns="0" tIns="0" rIns="0" bIns="0" rtlCol="0" anchor="t"/>
          <a:lstStyle/>
          <a:p>
            <a:pPr algn="l">
              <a:lnSpc>
                <a:spcPct val="140000"/>
              </a:lnSpc>
            </a:pPr>
            <a:r>
              <a:rPr lang="en-US" sz="1200" b="1" dirty="0">
                <a:solidFill>
                  <a:srgbClr val="D91E18"/>
                </a:solidFill>
                <a:latin typeface="MiSans" pitchFamily="34" charset="0"/>
                <a:ea typeface="MiSans" pitchFamily="34" charset="-122"/>
                <a:cs typeface="MiSans" pitchFamily="34" charset="-120"/>
              </a:rPr>
              <a:t>1. Market Definition</a:t>
            </a:r>
            <a:endParaRPr lang="en-US" sz="1200" dirty="0"/>
          </a:p>
          <a:p>
            <a:pPr algn="l">
              <a:lnSpc>
                <a:spcPct val="140000"/>
              </a:lnSpc>
            </a:pPr>
            <a:r>
              <a:rPr lang="en-US" sz="1200" dirty="0">
                <a:solidFill>
                  <a:srgbClr val="2C2C2C"/>
                </a:solidFill>
                <a:latin typeface="MiSans" pitchFamily="34" charset="0"/>
                <a:ea typeface="MiSans" pitchFamily="34" charset="-122"/>
                <a:cs typeface="MiSans" pitchFamily="34" charset="-120"/>
              </a:rPr>
              <a:t>TAM/SAM/SOM sizing</a:t>
            </a:r>
            <a:endParaRPr lang="en-US" sz="1200" dirty="0"/>
          </a:p>
          <a:p>
            <a:pPr algn="l">
              <a:lnSpc>
                <a:spcPct val="140000"/>
              </a:lnSpc>
              <a:spcBef>
                <a:spcPts val="400"/>
              </a:spcBef>
            </a:pPr>
            <a:r>
              <a:rPr lang="en-US" sz="1200" b="1" dirty="0">
                <a:solidFill>
                  <a:srgbClr val="D91E18"/>
                </a:solidFill>
                <a:latin typeface="MiSans" pitchFamily="34" charset="0"/>
                <a:ea typeface="MiSans" pitchFamily="34" charset="-122"/>
                <a:cs typeface="MiSans" pitchFamily="34" charset="-120"/>
              </a:rPr>
              <a:t>2. ICP</a:t>
            </a:r>
            <a:endParaRPr lang="en-US" sz="1200" dirty="0"/>
          </a:p>
          <a:p>
            <a:pPr algn="l">
              <a:lnSpc>
                <a:spcPct val="140000"/>
              </a:lnSpc>
            </a:pPr>
            <a:r>
              <a:rPr lang="en-US" sz="1200" dirty="0">
                <a:solidFill>
                  <a:srgbClr val="2C2C2C"/>
                </a:solidFill>
                <a:latin typeface="MiSans" pitchFamily="34" charset="0"/>
                <a:ea typeface="MiSans" pitchFamily="34" charset="-122"/>
                <a:cs typeface="MiSans" pitchFamily="34" charset="-120"/>
              </a:rPr>
              <a:t>Who, pain, trigger</a:t>
            </a:r>
            <a:endParaRPr lang="en-US" sz="1200" dirty="0"/>
          </a:p>
          <a:p>
            <a:pPr algn="l">
              <a:lnSpc>
                <a:spcPct val="140000"/>
              </a:lnSpc>
              <a:spcBef>
                <a:spcPts val="400"/>
              </a:spcBef>
            </a:pPr>
            <a:r>
              <a:rPr lang="en-US" sz="1200" b="1" dirty="0">
                <a:solidFill>
                  <a:srgbClr val="D91E18"/>
                </a:solidFill>
                <a:latin typeface="MiSans" pitchFamily="34" charset="0"/>
                <a:ea typeface="MiSans" pitchFamily="34" charset="-122"/>
                <a:cs typeface="MiSans" pitchFamily="34" charset="-120"/>
              </a:rPr>
              <a:t>3. Value Prop</a:t>
            </a:r>
            <a:endParaRPr lang="en-US" sz="1200" dirty="0"/>
          </a:p>
          <a:p>
            <a:pPr algn="l">
              <a:lnSpc>
                <a:spcPct val="140000"/>
              </a:lnSpc>
            </a:pPr>
            <a:r>
              <a:rPr lang="en-US" sz="1200" dirty="0">
                <a:solidFill>
                  <a:srgbClr val="2C2C2C"/>
                </a:solidFill>
                <a:latin typeface="MiSans" pitchFamily="34" charset="0"/>
                <a:ea typeface="MiSans" pitchFamily="34" charset="-122"/>
                <a:cs typeface="MiSans" pitchFamily="34" charset="-120"/>
              </a:rPr>
              <a:t>Why you, why now</a:t>
            </a:r>
            <a:endParaRPr lang="en-US" sz="1200" dirty="0"/>
          </a:p>
        </p:txBody>
      </p:sp>
      <p:sp>
        <p:nvSpPr>
          <p:cNvPr id="25" name="Shape 23"/>
          <p:cNvSpPr/>
          <p:nvPr/>
        </p:nvSpPr>
        <p:spPr>
          <a:xfrm>
            <a:off x="12446000" y="1397000"/>
            <a:ext cx="38100" cy="304800"/>
          </a:xfrm>
          <a:prstGeom prst="rect">
            <a:avLst/>
          </a:prstGeom>
          <a:solidFill>
            <a:srgbClr val="D91E18"/>
          </a:solidFill>
          <a:ln/>
        </p:spPr>
      </p:sp>
      <p:sp>
        <p:nvSpPr>
          <p:cNvPr id="26" name="Text 24"/>
          <p:cNvSpPr/>
          <p:nvPr/>
        </p:nvSpPr>
        <p:spPr>
          <a:xfrm>
            <a:off x="12547600" y="1397000"/>
            <a:ext cx="3073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COMPONENT DETAILS</a:t>
            </a:r>
            <a:endParaRPr lang="en-US" sz="1100" dirty="0"/>
          </a:p>
        </p:txBody>
      </p:sp>
      <p:sp>
        <p:nvSpPr>
          <p:cNvPr id="27" name="Text 25"/>
          <p:cNvSpPr/>
          <p:nvPr/>
        </p:nvSpPr>
        <p:spPr>
          <a:xfrm>
            <a:off x="12446000" y="1778000"/>
            <a:ext cx="3175000" cy="45720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4. Channel Strategy</a:t>
            </a:r>
            <a:endParaRPr lang="en-US" sz="1300" dirty="0"/>
          </a:p>
          <a:p>
            <a:pPr algn="l">
              <a:lnSpc>
                <a:spcPct val="160000"/>
              </a:lnSpc>
            </a:pPr>
            <a:r>
              <a:rPr lang="en-US" sz="1300" dirty="0">
                <a:solidFill>
                  <a:srgbClr val="2C2C2C"/>
                </a:solidFill>
                <a:latin typeface="MiSans" pitchFamily="34" charset="0"/>
                <a:ea typeface="MiSans" pitchFamily="34" charset="-122"/>
                <a:cs typeface="MiSans" pitchFamily="34" charset="-120"/>
              </a:rPr>
              <a:t>How you reach, acquire, and retain. Channel selection determines your cost of growth.</a:t>
            </a:r>
            <a:endParaRPr lang="en-US" sz="1300" dirty="0"/>
          </a:p>
          <a:p>
            <a:pPr algn="l">
              <a:lnSpc>
                <a:spcPct val="160000"/>
              </a:lnSpc>
              <a:spcBef>
                <a:spcPts val="800"/>
              </a:spcBef>
            </a:pPr>
            <a:r>
              <a:rPr lang="en-US" sz="1300" b="1" dirty="0">
                <a:solidFill>
                  <a:srgbClr val="D91E18"/>
                </a:solidFill>
                <a:latin typeface="MiSans" pitchFamily="34" charset="0"/>
                <a:ea typeface="MiSans" pitchFamily="34" charset="-122"/>
                <a:cs typeface="MiSans" pitchFamily="34" charset="-120"/>
              </a:rPr>
              <a:t>5. Pricing Model</a:t>
            </a:r>
            <a:endParaRPr lang="en-US" sz="1300" dirty="0"/>
          </a:p>
          <a:p>
            <a:pPr algn="l">
              <a:lnSpc>
                <a:spcPct val="160000"/>
              </a:lnSpc>
            </a:pPr>
            <a:r>
              <a:rPr lang="en-US" sz="1300" dirty="0">
                <a:solidFill>
                  <a:srgbClr val="2C2C2C"/>
                </a:solidFill>
                <a:latin typeface="MiSans" pitchFamily="34" charset="0"/>
                <a:ea typeface="MiSans" pitchFamily="34" charset="-122"/>
                <a:cs typeface="MiSans" pitchFamily="34" charset="-120"/>
              </a:rPr>
              <a:t>How you monetize. Pricing is a strategic signal — it tells the market who your product is for.</a:t>
            </a:r>
            <a:endParaRPr lang="en-US" sz="1300" dirty="0"/>
          </a:p>
          <a:p>
            <a:pPr algn="l">
              <a:lnSpc>
                <a:spcPct val="160000"/>
              </a:lnSpc>
              <a:spcBef>
                <a:spcPts val="800"/>
              </a:spcBef>
            </a:pPr>
            <a:r>
              <a:rPr lang="en-US" sz="1300" b="1" dirty="0">
                <a:solidFill>
                  <a:srgbClr val="D91E18"/>
                </a:solidFill>
                <a:latin typeface="MiSans" pitchFamily="34" charset="0"/>
                <a:ea typeface="MiSans" pitchFamily="34" charset="-122"/>
                <a:cs typeface="MiSans" pitchFamily="34" charset="-120"/>
              </a:rPr>
              <a:t>Interdependence</a:t>
            </a:r>
            <a:endParaRPr lang="en-US" sz="1300" dirty="0"/>
          </a:p>
          <a:p>
            <a:pPr algn="l">
              <a:lnSpc>
                <a:spcPct val="160000"/>
              </a:lnSpc>
            </a:pPr>
            <a:r>
              <a:rPr lang="en-US" sz="1300" dirty="0">
                <a:solidFill>
                  <a:srgbClr val="2C2C2C"/>
                </a:solidFill>
                <a:latin typeface="MiSans" pitchFamily="34" charset="0"/>
                <a:ea typeface="MiSans" pitchFamily="34" charset="-122"/>
                <a:cs typeface="MiSans" pitchFamily="34" charset="-120"/>
              </a:rPr>
              <a:t>A change in one always ripples through the others. The five components are a system, not a checklist.</a:t>
            </a:r>
            <a:endParaRPr lang="en-US" sz="1300" dirty="0"/>
          </a:p>
        </p:txBody>
      </p:sp>
      <p:sp>
        <p:nvSpPr>
          <p:cNvPr id="28" name="Shape 26"/>
          <p:cNvSpPr/>
          <p:nvPr/>
        </p:nvSpPr>
        <p:spPr>
          <a:xfrm>
            <a:off x="635000" y="6604000"/>
            <a:ext cx="14986000" cy="1016000"/>
          </a:xfrm>
          <a:prstGeom prst="rect">
            <a:avLst/>
          </a:prstGeom>
          <a:solidFill>
            <a:srgbClr val="FFFFFF"/>
          </a:solidFill>
          <a:ln w="12700">
            <a:solidFill>
              <a:srgbClr val="DDDDDD"/>
            </a:solidFill>
            <a:prstDash val="solid"/>
          </a:ln>
        </p:spPr>
      </p:sp>
      <p:sp>
        <p:nvSpPr>
          <p:cNvPr id="29" name="Shape 27"/>
          <p:cNvSpPr/>
          <p:nvPr/>
        </p:nvSpPr>
        <p:spPr>
          <a:xfrm>
            <a:off x="635000" y="6604000"/>
            <a:ext cx="50800" cy="1016000"/>
          </a:xfrm>
          <a:prstGeom prst="rect">
            <a:avLst/>
          </a:prstGeom>
          <a:solidFill>
            <a:srgbClr val="D91E18"/>
          </a:solidFill>
          <a:ln/>
        </p:spPr>
      </p:sp>
      <p:sp>
        <p:nvSpPr>
          <p:cNvPr id="30" name="Text 28"/>
          <p:cNvSpPr/>
          <p:nvPr/>
        </p:nvSpPr>
        <p:spPr>
          <a:xfrm>
            <a:off x="838200" y="6680200"/>
            <a:ext cx="14579600" cy="863600"/>
          </a:xfrm>
          <a:prstGeom prst="rect">
            <a:avLst/>
          </a:prstGeom>
          <a:noFill/>
          <a:ln/>
        </p:spPr>
        <p:txBody>
          <a:bodyPr wrap="square" lIns="0" tIns="0" rIns="0" bIns="0" rtlCol="0" anchor="t"/>
          <a:lstStyle/>
          <a:p>
            <a:pPr algn="l">
              <a:lnSpc>
                <a:spcPct val="150000"/>
              </a:lnSpc>
            </a:pPr>
            <a:r>
              <a:rPr lang="en-US" sz="1300" b="1" dirty="0">
                <a:solidFill>
                  <a:srgbClr val="D91E18"/>
                </a:solidFill>
                <a:latin typeface="MiSans" pitchFamily="34" charset="0"/>
                <a:ea typeface="MiSans" pitchFamily="34" charset="-122"/>
                <a:cs typeface="MiSans" pitchFamily="34" charset="-120"/>
              </a:rPr>
              <a:t>Key insight:</a:t>
            </a:r>
            <a:pPr algn="l">
              <a:lnSpc>
                <a:spcPct val="150000"/>
              </a:lnSpc>
            </a:pPr>
            <a:r>
              <a:rPr lang="en-US" sz="1300" dirty="0">
                <a:solidFill>
                  <a:srgbClr val="2C2C2C"/>
                </a:solidFill>
                <a:latin typeface="MiSans" pitchFamily="34" charset="0"/>
                <a:ea typeface="MiSans" pitchFamily="34" charset="-122"/>
                <a:cs typeface="MiSans" pitchFamily="34" charset="-120"/>
              </a:rPr>
              <a:t> Companies with structured GTM strategies are 2-3x more likely to achieve commercial success. The ICP is the most important document — everything flows from it: messaging, channel selection, sales process, and onboarding.</a:t>
            </a:r>
            <a:endParaRPr lang="en-US" sz="1300" dirty="0"/>
          </a:p>
        </p:txBody>
      </p:sp>
      <p:sp>
        <p:nvSpPr>
          <p:cNvPr id="31" name="Shape 29"/>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32" name="Text 30"/>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GTM Strategy Framework, Tommaso Maria Ricci 2026</a:t>
            </a:r>
            <a:endParaRPr lang="en-US" sz="1300" dirty="0"/>
          </a:p>
        </p:txBody>
      </p:sp>
      <p:sp>
        <p:nvSpPr>
          <p:cNvPr id="33" name="Text 31"/>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08</a:t>
            </a:r>
            <a:endParaRPr lang="en-US" sz="12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The 90-day GTM launch plan separates learning from mere execution</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THE GOAL IS LEARNING VELOCITY, NOT REVENUE MAXIMIZATION</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635000" y="1346200"/>
            <a:ext cx="4699000" cy="889000"/>
          </a:xfrm>
          <a:prstGeom prst="rect">
            <a:avLst/>
          </a:prstGeom>
          <a:solidFill>
            <a:srgbClr val="FFFFFF"/>
          </a:solidFill>
          <a:ln w="12700">
            <a:solidFill>
              <a:srgbClr val="DDDDDD"/>
            </a:solidFill>
            <a:prstDash val="solid"/>
          </a:ln>
        </p:spPr>
      </p:sp>
      <p:sp>
        <p:nvSpPr>
          <p:cNvPr id="6" name="Text 4"/>
          <p:cNvSpPr/>
          <p:nvPr/>
        </p:nvSpPr>
        <p:spPr>
          <a:xfrm>
            <a:off x="736600" y="1422400"/>
            <a:ext cx="698500" cy="381000"/>
          </a:xfrm>
          <a:prstGeom prst="rect">
            <a:avLst/>
          </a:prstGeom>
          <a:noFill/>
          <a:ln/>
        </p:spPr>
        <p:txBody>
          <a:bodyPr wrap="none" lIns="0" tIns="0" rIns="0" bIns="0" rtlCol="0" anchor="ctr"/>
          <a:lstStyle/>
          <a:p>
            <a:pPr algn="l">
              <a:lnSpc>
                <a:spcPct val="120000"/>
              </a:lnSpc>
            </a:pPr>
            <a:r>
              <a:rPr lang="en-US" sz="2000" b="1" dirty="0">
                <a:solidFill>
                  <a:srgbClr val="D91E18"/>
                </a:solidFill>
                <a:latin typeface="Liter" pitchFamily="34" charset="0"/>
                <a:ea typeface="Liter" pitchFamily="34" charset="-122"/>
                <a:cs typeface="Liter" pitchFamily="34" charset="-120"/>
              </a:rPr>
              <a:t>01</a:t>
            </a:r>
            <a:endParaRPr lang="en-US" sz="2000" dirty="0"/>
          </a:p>
        </p:txBody>
      </p:sp>
      <p:sp>
        <p:nvSpPr>
          <p:cNvPr id="7" name="Text 5"/>
          <p:cNvSpPr/>
          <p:nvPr/>
        </p:nvSpPr>
        <p:spPr>
          <a:xfrm>
            <a:off x="1498600" y="1422400"/>
            <a:ext cx="2540000" cy="381000"/>
          </a:xfrm>
          <a:prstGeom prst="rect">
            <a:avLst/>
          </a:prstGeom>
          <a:noFill/>
          <a:ln/>
        </p:spPr>
        <p:txBody>
          <a:bodyPr wrap="none" lIns="0" tIns="0" rIns="0" bIns="0" rtlCol="0" anchor="ctr"/>
          <a:lstStyle/>
          <a:p>
            <a:pPr algn="l">
              <a:lnSpc>
                <a:spcPct val="120000"/>
              </a:lnSpc>
            </a:pPr>
            <a:r>
              <a:rPr lang="en-US" sz="1400" b="1" dirty="0">
                <a:solidFill>
                  <a:srgbClr val="2C2C2C"/>
                </a:solidFill>
                <a:latin typeface="Liter" pitchFamily="34" charset="0"/>
                <a:ea typeface="Liter" pitchFamily="34" charset="-122"/>
                <a:cs typeface="Liter" pitchFamily="34" charset="-120"/>
              </a:rPr>
              <a:t>FOUNDATION</a:t>
            </a:r>
            <a:endParaRPr lang="en-US" sz="1400" dirty="0"/>
          </a:p>
        </p:txBody>
      </p:sp>
      <p:sp>
        <p:nvSpPr>
          <p:cNvPr id="8" name="Text 6"/>
          <p:cNvSpPr/>
          <p:nvPr/>
        </p:nvSpPr>
        <p:spPr>
          <a:xfrm>
            <a:off x="736600" y="1828800"/>
            <a:ext cx="4445000" cy="279400"/>
          </a:xfrm>
          <a:prstGeom prst="rect">
            <a:avLst/>
          </a:prstGeom>
          <a:noFill/>
          <a:ln/>
        </p:spPr>
        <p:txBody>
          <a:bodyPr wrap="none" lIns="0" tIns="0" rIns="0" bIns="0" rtlCol="0" anchor="ctr"/>
          <a:lstStyle/>
          <a:p>
            <a:pPr algn="l">
              <a:lnSpc>
                <a:spcPct val="120000"/>
              </a:lnSpc>
            </a:pPr>
            <a:r>
              <a:rPr lang="en-US" sz="1200" dirty="0">
                <a:solidFill>
                  <a:srgbClr val="888888"/>
                </a:solidFill>
                <a:latin typeface="Liter" pitchFamily="34" charset="0"/>
                <a:ea typeface="Liter" pitchFamily="34" charset="-122"/>
                <a:cs typeface="Liter" pitchFamily="34" charset="-120"/>
              </a:rPr>
              <a:t>Days 1-30</a:t>
            </a:r>
            <a:endParaRPr lang="en-US" sz="1200" dirty="0"/>
          </a:p>
        </p:txBody>
      </p:sp>
      <p:sp>
        <p:nvSpPr>
          <p:cNvPr id="9" name="Shape 7"/>
          <p:cNvSpPr/>
          <p:nvPr/>
        </p:nvSpPr>
        <p:spPr>
          <a:xfrm>
            <a:off x="5435600" y="1778000"/>
            <a:ext cx="304800" cy="0"/>
          </a:xfrm>
          <a:prstGeom prst="straightConnector1">
            <a:avLst/>
          </a:prstGeom>
          <a:noFill/>
          <a:ln w="25400">
            <a:solidFill>
              <a:srgbClr val="D91E18"/>
            </a:solidFill>
            <a:prstDash val="solid"/>
            <a:headEnd type="none"/>
            <a:tailEnd type="arrow"/>
          </a:ln>
        </p:spPr>
      </p:sp>
      <p:sp>
        <p:nvSpPr>
          <p:cNvPr id="10" name="Shape 8"/>
          <p:cNvSpPr/>
          <p:nvPr/>
        </p:nvSpPr>
        <p:spPr>
          <a:xfrm>
            <a:off x="5842000" y="1346200"/>
            <a:ext cx="4699000" cy="889000"/>
          </a:xfrm>
          <a:prstGeom prst="rect">
            <a:avLst/>
          </a:prstGeom>
          <a:solidFill>
            <a:srgbClr val="FFFFFF"/>
          </a:solidFill>
          <a:ln w="12700">
            <a:solidFill>
              <a:srgbClr val="DDDDDD"/>
            </a:solidFill>
            <a:prstDash val="solid"/>
          </a:ln>
        </p:spPr>
      </p:sp>
      <p:sp>
        <p:nvSpPr>
          <p:cNvPr id="11" name="Text 9"/>
          <p:cNvSpPr/>
          <p:nvPr/>
        </p:nvSpPr>
        <p:spPr>
          <a:xfrm>
            <a:off x="5943600" y="1422400"/>
            <a:ext cx="698500" cy="381000"/>
          </a:xfrm>
          <a:prstGeom prst="rect">
            <a:avLst/>
          </a:prstGeom>
          <a:noFill/>
          <a:ln/>
        </p:spPr>
        <p:txBody>
          <a:bodyPr wrap="none" lIns="0" tIns="0" rIns="0" bIns="0" rtlCol="0" anchor="ctr"/>
          <a:lstStyle/>
          <a:p>
            <a:pPr algn="l">
              <a:lnSpc>
                <a:spcPct val="120000"/>
              </a:lnSpc>
            </a:pPr>
            <a:r>
              <a:rPr lang="en-US" sz="2000" b="1" dirty="0">
                <a:solidFill>
                  <a:srgbClr val="D91E18"/>
                </a:solidFill>
                <a:latin typeface="Liter" pitchFamily="34" charset="0"/>
                <a:ea typeface="Liter" pitchFamily="34" charset="-122"/>
                <a:cs typeface="Liter" pitchFamily="34" charset="-120"/>
              </a:rPr>
              <a:t>02</a:t>
            </a:r>
            <a:endParaRPr lang="en-US" sz="2000" dirty="0"/>
          </a:p>
        </p:txBody>
      </p:sp>
      <p:sp>
        <p:nvSpPr>
          <p:cNvPr id="12" name="Text 10"/>
          <p:cNvSpPr/>
          <p:nvPr/>
        </p:nvSpPr>
        <p:spPr>
          <a:xfrm>
            <a:off x="6705600" y="1422400"/>
            <a:ext cx="2540000" cy="381000"/>
          </a:xfrm>
          <a:prstGeom prst="rect">
            <a:avLst/>
          </a:prstGeom>
          <a:noFill/>
          <a:ln/>
        </p:spPr>
        <p:txBody>
          <a:bodyPr wrap="none" lIns="0" tIns="0" rIns="0" bIns="0" rtlCol="0" anchor="ctr"/>
          <a:lstStyle/>
          <a:p>
            <a:pPr algn="l">
              <a:lnSpc>
                <a:spcPct val="120000"/>
              </a:lnSpc>
            </a:pPr>
            <a:r>
              <a:rPr lang="en-US" sz="1400" b="1" dirty="0">
                <a:solidFill>
                  <a:srgbClr val="2C2C2C"/>
                </a:solidFill>
                <a:latin typeface="Liter" pitchFamily="34" charset="0"/>
                <a:ea typeface="Liter" pitchFamily="34" charset="-122"/>
                <a:cs typeface="Liter" pitchFamily="34" charset="-120"/>
              </a:rPr>
              <a:t>ACTIVATION</a:t>
            </a:r>
            <a:endParaRPr lang="en-US" sz="1400" dirty="0"/>
          </a:p>
        </p:txBody>
      </p:sp>
      <p:sp>
        <p:nvSpPr>
          <p:cNvPr id="13" name="Text 11"/>
          <p:cNvSpPr/>
          <p:nvPr/>
        </p:nvSpPr>
        <p:spPr>
          <a:xfrm>
            <a:off x="5943600" y="1828800"/>
            <a:ext cx="4445000" cy="279400"/>
          </a:xfrm>
          <a:prstGeom prst="rect">
            <a:avLst/>
          </a:prstGeom>
          <a:noFill/>
          <a:ln/>
        </p:spPr>
        <p:txBody>
          <a:bodyPr wrap="none" lIns="0" tIns="0" rIns="0" bIns="0" rtlCol="0" anchor="ctr"/>
          <a:lstStyle/>
          <a:p>
            <a:pPr algn="l">
              <a:lnSpc>
                <a:spcPct val="120000"/>
              </a:lnSpc>
            </a:pPr>
            <a:r>
              <a:rPr lang="en-US" sz="1200" dirty="0">
                <a:solidFill>
                  <a:srgbClr val="888888"/>
                </a:solidFill>
                <a:latin typeface="Liter" pitchFamily="34" charset="0"/>
                <a:ea typeface="Liter" pitchFamily="34" charset="-122"/>
                <a:cs typeface="Liter" pitchFamily="34" charset="-120"/>
              </a:rPr>
              <a:t>Days 31-60</a:t>
            </a:r>
            <a:endParaRPr lang="en-US" sz="1200" dirty="0"/>
          </a:p>
        </p:txBody>
      </p:sp>
      <p:sp>
        <p:nvSpPr>
          <p:cNvPr id="14" name="Shape 12"/>
          <p:cNvSpPr/>
          <p:nvPr/>
        </p:nvSpPr>
        <p:spPr>
          <a:xfrm>
            <a:off x="10642600" y="1778000"/>
            <a:ext cx="304800" cy="0"/>
          </a:xfrm>
          <a:prstGeom prst="straightConnector1">
            <a:avLst/>
          </a:prstGeom>
          <a:noFill/>
          <a:ln w="25400">
            <a:solidFill>
              <a:srgbClr val="D91E18"/>
            </a:solidFill>
            <a:prstDash val="solid"/>
            <a:headEnd type="none"/>
            <a:tailEnd type="arrow"/>
          </a:ln>
        </p:spPr>
      </p:sp>
      <p:sp>
        <p:nvSpPr>
          <p:cNvPr id="15" name="Shape 13"/>
          <p:cNvSpPr/>
          <p:nvPr/>
        </p:nvSpPr>
        <p:spPr>
          <a:xfrm>
            <a:off x="11049000" y="1346200"/>
            <a:ext cx="4572000" cy="889000"/>
          </a:xfrm>
          <a:prstGeom prst="rect">
            <a:avLst/>
          </a:prstGeom>
          <a:solidFill>
            <a:srgbClr val="D91E18"/>
          </a:solidFill>
          <a:ln/>
        </p:spPr>
      </p:sp>
      <p:sp>
        <p:nvSpPr>
          <p:cNvPr id="16" name="Text 14"/>
          <p:cNvSpPr/>
          <p:nvPr/>
        </p:nvSpPr>
        <p:spPr>
          <a:xfrm>
            <a:off x="11150600" y="1422400"/>
            <a:ext cx="698500" cy="381000"/>
          </a:xfrm>
          <a:prstGeom prst="rect">
            <a:avLst/>
          </a:prstGeom>
          <a:noFill/>
          <a:ln/>
        </p:spPr>
        <p:txBody>
          <a:bodyPr wrap="none" lIns="0" tIns="0" rIns="0" bIns="0" rtlCol="0" anchor="ctr"/>
          <a:lstStyle/>
          <a:p>
            <a:pPr algn="l">
              <a:lnSpc>
                <a:spcPct val="120000"/>
              </a:lnSpc>
            </a:pPr>
            <a:r>
              <a:rPr lang="en-US" sz="2000" b="1" dirty="0">
                <a:solidFill>
                  <a:srgbClr val="FFFFFF"/>
                </a:solidFill>
                <a:latin typeface="Liter" pitchFamily="34" charset="0"/>
                <a:ea typeface="Liter" pitchFamily="34" charset="-122"/>
                <a:cs typeface="Liter" pitchFamily="34" charset="-120"/>
              </a:rPr>
              <a:t>03</a:t>
            </a:r>
            <a:endParaRPr lang="en-US" sz="2000" dirty="0"/>
          </a:p>
        </p:txBody>
      </p:sp>
      <p:sp>
        <p:nvSpPr>
          <p:cNvPr id="17" name="Text 15"/>
          <p:cNvSpPr/>
          <p:nvPr/>
        </p:nvSpPr>
        <p:spPr>
          <a:xfrm>
            <a:off x="11912600" y="1422400"/>
            <a:ext cx="2540000" cy="381000"/>
          </a:xfrm>
          <a:prstGeom prst="rect">
            <a:avLst/>
          </a:prstGeom>
          <a:noFill/>
          <a:ln/>
        </p:spPr>
        <p:txBody>
          <a:bodyPr wrap="none" lIns="0" tIns="0" rIns="0" bIns="0" rtlCol="0" anchor="ctr"/>
          <a:lstStyle/>
          <a:p>
            <a:pPr algn="l">
              <a:lnSpc>
                <a:spcPct val="120000"/>
              </a:lnSpc>
            </a:pPr>
            <a:r>
              <a:rPr lang="en-US" sz="1400" b="1" dirty="0">
                <a:solidFill>
                  <a:srgbClr val="FFFFFF"/>
                </a:solidFill>
                <a:latin typeface="Liter" pitchFamily="34" charset="0"/>
                <a:ea typeface="Liter" pitchFamily="34" charset="-122"/>
                <a:cs typeface="Liter" pitchFamily="34" charset="-120"/>
              </a:rPr>
              <a:t>OPTIMIZATION</a:t>
            </a:r>
            <a:endParaRPr lang="en-US" sz="1400" dirty="0"/>
          </a:p>
        </p:txBody>
      </p:sp>
      <p:sp>
        <p:nvSpPr>
          <p:cNvPr id="18" name="Text 16"/>
          <p:cNvSpPr/>
          <p:nvPr/>
        </p:nvSpPr>
        <p:spPr>
          <a:xfrm>
            <a:off x="11150600" y="1828800"/>
            <a:ext cx="4318000" cy="279400"/>
          </a:xfrm>
          <a:prstGeom prst="rect">
            <a:avLst/>
          </a:prstGeom>
          <a:noFill/>
          <a:ln/>
        </p:spPr>
        <p:txBody>
          <a:bodyPr wrap="none" lIns="0" tIns="0" rIns="0" bIns="0" rtlCol="0" anchor="ctr"/>
          <a:lstStyle/>
          <a:p>
            <a:pPr algn="l">
              <a:lnSpc>
                <a:spcPct val="120000"/>
              </a:lnSpc>
            </a:pPr>
            <a:r>
              <a:rPr lang="en-US" sz="1200" dirty="0">
                <a:solidFill>
                  <a:srgbClr val="FFD0CE"/>
                </a:solidFill>
                <a:latin typeface="Liter" pitchFamily="34" charset="0"/>
                <a:ea typeface="Liter" pitchFamily="34" charset="-122"/>
                <a:cs typeface="Liter" pitchFamily="34" charset="-120"/>
              </a:rPr>
              <a:t>Days 61-90</a:t>
            </a:r>
            <a:endParaRPr lang="en-US" sz="1200" dirty="0"/>
          </a:p>
        </p:txBody>
      </p:sp>
      <p:sp>
        <p:nvSpPr>
          <p:cNvPr id="19" name="Shape 17"/>
          <p:cNvSpPr/>
          <p:nvPr/>
        </p:nvSpPr>
        <p:spPr>
          <a:xfrm>
            <a:off x="635000" y="2540000"/>
            <a:ext cx="4699000" cy="3937000"/>
          </a:xfrm>
          <a:prstGeom prst="rect">
            <a:avLst/>
          </a:prstGeom>
          <a:solidFill>
            <a:srgbClr val="FFFFFF"/>
          </a:solidFill>
          <a:ln w="12700">
            <a:solidFill>
              <a:srgbClr val="DDDDDD"/>
            </a:solidFill>
            <a:prstDash val="solid"/>
          </a:ln>
        </p:spPr>
      </p:sp>
      <p:sp>
        <p:nvSpPr>
          <p:cNvPr id="20" name="Text 18"/>
          <p:cNvSpPr/>
          <p:nvPr/>
        </p:nvSpPr>
        <p:spPr>
          <a:xfrm>
            <a:off x="787400" y="2667000"/>
            <a:ext cx="4394200" cy="36830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Finalize ICP</a:t>
            </a:r>
            <a:pPr algn="l">
              <a:lnSpc>
                <a:spcPct val="160000"/>
              </a:lnSpc>
            </a:pPr>
            <a:r>
              <a:rPr lang="en-US" sz="1300" dirty="0">
                <a:solidFill>
                  <a:srgbClr val="2C2C2C"/>
                </a:solidFill>
                <a:latin typeface="MiSans" pitchFamily="34" charset="0"/>
                <a:ea typeface="MiSans" pitchFamily="34" charset="-122"/>
                <a:cs typeface="MiSans" pitchFamily="34" charset="-120"/>
              </a:rPr>
              <a:t> — Validate with 10+ customer interviews</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Define message</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What you do, for whom, why now</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Set up CRM</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Clear pipeline stages and tracking</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Target 25 accounts</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Your first outbound list</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Launch landing page</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Clear value prop, single CTA</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Define 3 metrics</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Pipeline, conversion, time-to-close</a:t>
            </a:r>
            <a:endParaRPr lang="en-US" sz="1300" dirty="0"/>
          </a:p>
        </p:txBody>
      </p:sp>
      <p:sp>
        <p:nvSpPr>
          <p:cNvPr id="21" name="Shape 19"/>
          <p:cNvSpPr/>
          <p:nvPr/>
        </p:nvSpPr>
        <p:spPr>
          <a:xfrm>
            <a:off x="5842000" y="2540000"/>
            <a:ext cx="4699000" cy="4318000"/>
          </a:xfrm>
          <a:prstGeom prst="rect">
            <a:avLst/>
          </a:prstGeom>
          <a:solidFill>
            <a:srgbClr val="FFFFFF"/>
          </a:solidFill>
          <a:ln w="12700">
            <a:solidFill>
              <a:srgbClr val="DDDDDD"/>
            </a:solidFill>
            <a:prstDash val="solid"/>
          </a:ln>
        </p:spPr>
      </p:sp>
      <p:sp>
        <p:nvSpPr>
          <p:cNvPr id="22" name="Text 20"/>
          <p:cNvSpPr/>
          <p:nvPr/>
        </p:nvSpPr>
        <p:spPr>
          <a:xfrm>
            <a:off x="5994400" y="2667000"/>
            <a:ext cx="4394200" cy="40640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Begin outreach</a:t>
            </a:r>
            <a:pPr algn="l">
              <a:lnSpc>
                <a:spcPct val="160000"/>
              </a:lnSpc>
            </a:pPr>
            <a:r>
              <a:rPr lang="en-US" sz="1300" dirty="0">
                <a:solidFill>
                  <a:srgbClr val="2C2C2C"/>
                </a:solidFill>
                <a:latin typeface="MiSans" pitchFamily="34" charset="0"/>
                <a:ea typeface="MiSans" pitchFamily="34" charset="-122"/>
                <a:cs typeface="MiSans" pitchFamily="34" charset="-120"/>
              </a:rPr>
              <a:t> — Start outbound to target accounts</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A/B test messaging</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Subject lines, headlines, value prop</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Close first 3-5</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Even at discount; references &gt; margin</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Content play</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Start structured content or community</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Collect feedback</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Every conversation is market research</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Weekly GTM journal</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3 learnings, 1 wrong assumption</a:t>
            </a:r>
            <a:endParaRPr lang="en-US" sz="1300" dirty="0"/>
          </a:p>
        </p:txBody>
      </p:sp>
      <p:sp>
        <p:nvSpPr>
          <p:cNvPr id="23" name="Shape 21"/>
          <p:cNvSpPr/>
          <p:nvPr/>
        </p:nvSpPr>
        <p:spPr>
          <a:xfrm>
            <a:off x="11049000" y="2540000"/>
            <a:ext cx="4572000" cy="4318000"/>
          </a:xfrm>
          <a:prstGeom prst="rect">
            <a:avLst/>
          </a:prstGeom>
          <a:solidFill>
            <a:srgbClr val="D91E18">
              <a:alpha val="5882"/>
            </a:srgbClr>
          </a:solidFill>
          <a:ln/>
        </p:spPr>
      </p:sp>
      <p:sp>
        <p:nvSpPr>
          <p:cNvPr id="24" name="Text 22"/>
          <p:cNvSpPr/>
          <p:nvPr/>
        </p:nvSpPr>
        <p:spPr>
          <a:xfrm>
            <a:off x="11201400" y="2667000"/>
            <a:ext cx="4267200" cy="40640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Analyze conversions</a:t>
            </a:r>
            <a:pPr algn="l">
              <a:lnSpc>
                <a:spcPct val="160000"/>
              </a:lnSpc>
            </a:pPr>
            <a:r>
              <a:rPr lang="en-US" sz="1300" dirty="0">
                <a:solidFill>
                  <a:srgbClr val="2C2C2C"/>
                </a:solidFill>
                <a:latin typeface="MiSans" pitchFamily="34" charset="0"/>
                <a:ea typeface="MiSans" pitchFamily="34" charset="-122"/>
                <a:cs typeface="MiSans" pitchFamily="34" charset="-120"/>
              </a:rPr>
              <a:t> — Find highest-performing channel</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Double down</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Cut what does not work, ruthlessly</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First case study</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Build from earliest customers</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Sales playbook</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Repeatable motion: contact to contract</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Q2 targets</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Based on real data, not original plan</a:t>
            </a:r>
            <a:endParaRPr lang="en-US" sz="1300" dirty="0"/>
          </a:p>
          <a:p>
            <a:pPr algn="l">
              <a:lnSpc>
                <a:spcPct val="160000"/>
              </a:lnSpc>
              <a:spcBef>
                <a:spcPts val="600"/>
              </a:spcBef>
            </a:pPr>
            <a:r>
              <a:rPr lang="en-US" sz="1300" b="1" dirty="0">
                <a:solidFill>
                  <a:srgbClr val="D91E18"/>
                </a:solidFill>
                <a:latin typeface="MiSans" pitchFamily="34" charset="0"/>
                <a:ea typeface="MiSans" pitchFamily="34" charset="-122"/>
                <a:cs typeface="MiSans" pitchFamily="34" charset="-120"/>
              </a:rPr>
              <a:t>Structured reflection</a:t>
            </a:r>
            <a:pPr algn="l">
              <a:lnSpc>
                <a:spcPct val="160000"/>
              </a:lnSpc>
              <a:spcBef>
                <a:spcPts val="600"/>
              </a:spcBef>
            </a:pPr>
            <a:r>
              <a:rPr lang="en-US" sz="1300" dirty="0">
                <a:solidFill>
                  <a:srgbClr val="2C2C2C"/>
                </a:solidFill>
                <a:latin typeface="MiSans" pitchFamily="34" charset="0"/>
                <a:ea typeface="MiSans" pitchFamily="34" charset="-122"/>
                <a:cs typeface="MiSans" pitchFamily="34" charset="-120"/>
              </a:rPr>
              <a:t> — Patterns emerge after 30 days</a:t>
            </a:r>
            <a:endParaRPr lang="en-US" sz="1300" dirty="0"/>
          </a:p>
        </p:txBody>
      </p:sp>
      <p:sp>
        <p:nvSpPr>
          <p:cNvPr id="25" name="Text 23"/>
          <p:cNvSpPr/>
          <p:nvPr/>
        </p:nvSpPr>
        <p:spPr>
          <a:xfrm>
            <a:off x="635000" y="6985000"/>
            <a:ext cx="14986000" cy="11684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Framework application:</a:t>
            </a:r>
            <a:pPr algn="l">
              <a:lnSpc>
                <a:spcPct val="160000"/>
              </a:lnSpc>
            </a:pPr>
            <a:r>
              <a:rPr lang="en-US" sz="1300" dirty="0">
                <a:solidFill>
                  <a:srgbClr val="2C2C2C"/>
                </a:solidFill>
                <a:latin typeface="MiSans" pitchFamily="34" charset="0"/>
                <a:ea typeface="MiSans" pitchFamily="34" charset="-122"/>
                <a:cs typeface="MiSans" pitchFamily="34" charset="-120"/>
              </a:rPr>
              <a:t> The weekly GTM journal is the discipline that separates teams that learn from teams that merely execute. Every Friday, each person writes: 3 things learned from customer interactions, 1 assumption proved wrong, and 1 thing to change. After 30 days, patterns emerge that no dashboard can surface.</a:t>
            </a:r>
            <a:endParaRPr lang="en-US" sz="1300" dirty="0"/>
          </a:p>
        </p:txBody>
      </p:sp>
      <p:sp>
        <p:nvSpPr>
          <p:cNvPr id="26" name="Shape 24"/>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27" name="Text 25"/>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GTM Launch Plan, The Growth Syndicate 2026</a:t>
            </a:r>
            <a:endParaRPr lang="en-US" sz="1300" dirty="0"/>
          </a:p>
        </p:txBody>
      </p:sp>
      <p:sp>
        <p:nvSpPr>
          <p:cNvPr id="28" name="Text 26"/>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09</a:t>
            </a:r>
            <a:endParaRPr lang="en-US" sz="12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GTM motion selection depends on deal size — choose the right engine</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STRUCTURED GTM STRATEGIES ARE 2-3X MORE LIKELY TO SUCCEED</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1016000" y="1524000"/>
            <a:ext cx="3556000" cy="1016000"/>
          </a:xfrm>
          <a:prstGeom prst="rect">
            <a:avLst/>
          </a:prstGeom>
          <a:solidFill>
            <a:srgbClr val="D91E18"/>
          </a:solidFill>
          <a:ln/>
        </p:spPr>
      </p:sp>
      <p:sp>
        <p:nvSpPr>
          <p:cNvPr id="6" name="Text 4"/>
          <p:cNvSpPr/>
          <p:nvPr/>
        </p:nvSpPr>
        <p:spPr>
          <a:xfrm>
            <a:off x="1016000" y="1524000"/>
            <a:ext cx="3556000" cy="1016000"/>
          </a:xfrm>
          <a:prstGeom prst="rect">
            <a:avLst/>
          </a:prstGeom>
          <a:noFill/>
          <a:ln/>
        </p:spPr>
        <p:txBody>
          <a:bodyPr wrap="square" lIns="0" tIns="0" rIns="0" bIns="0" rtlCol="0" anchor="ctr"/>
          <a:lstStyle/>
          <a:p>
            <a:pPr algn="ctr">
              <a:lnSpc>
                <a:spcPct val="130000"/>
              </a:lnSpc>
            </a:pPr>
            <a:r>
              <a:rPr lang="en-US" sz="1600" b="1" dirty="0">
                <a:solidFill>
                  <a:srgbClr val="FFFFFF"/>
                </a:solidFill>
                <a:latin typeface="Liter" pitchFamily="34" charset="0"/>
                <a:ea typeface="Liter" pitchFamily="34" charset="-122"/>
                <a:cs typeface="Liter" pitchFamily="34" charset="-120"/>
              </a:rPr>
              <a:t>ACV &lt; $5,000</a:t>
            </a:r>
            <a:endParaRPr lang="en-US" sz="1600" dirty="0"/>
          </a:p>
          <a:p>
            <a:pPr algn="ctr">
              <a:lnSpc>
                <a:spcPct val="130000"/>
              </a:lnSpc>
            </a:pPr>
            <a:r>
              <a:rPr lang="en-US" sz="1200" dirty="0">
                <a:solidFill>
                  <a:srgbClr val="FFD0CE"/>
                </a:solidFill>
                <a:latin typeface="Liter" pitchFamily="34" charset="0"/>
                <a:ea typeface="Liter" pitchFamily="34" charset="-122"/>
                <a:cs typeface="Liter" pitchFamily="34" charset="-120"/>
              </a:rPr>
              <a:t>Product-Led + Inbound</a:t>
            </a:r>
            <a:endParaRPr lang="en-US" sz="1600" dirty="0"/>
          </a:p>
        </p:txBody>
      </p:sp>
      <p:sp>
        <p:nvSpPr>
          <p:cNvPr id="7" name="Shape 5"/>
          <p:cNvSpPr/>
          <p:nvPr/>
        </p:nvSpPr>
        <p:spPr>
          <a:xfrm>
            <a:off x="4572000" y="1968500"/>
            <a:ext cx="508000" cy="0"/>
          </a:xfrm>
          <a:prstGeom prst="straightConnector1">
            <a:avLst/>
          </a:prstGeom>
          <a:noFill/>
          <a:ln w="25400">
            <a:solidFill>
              <a:srgbClr val="D91E18"/>
            </a:solidFill>
            <a:prstDash val="solid"/>
            <a:headEnd type="none"/>
            <a:tailEnd type="arrow"/>
          </a:ln>
        </p:spPr>
      </p:sp>
      <p:sp>
        <p:nvSpPr>
          <p:cNvPr id="8" name="Shape 6"/>
          <p:cNvSpPr/>
          <p:nvPr/>
        </p:nvSpPr>
        <p:spPr>
          <a:xfrm>
            <a:off x="5207000" y="1524000"/>
            <a:ext cx="3556000" cy="1016000"/>
          </a:xfrm>
          <a:prstGeom prst="rect">
            <a:avLst/>
          </a:prstGeom>
          <a:solidFill>
            <a:srgbClr val="2C2C2C"/>
          </a:solidFill>
          <a:ln/>
        </p:spPr>
      </p:sp>
      <p:sp>
        <p:nvSpPr>
          <p:cNvPr id="9" name="Text 7"/>
          <p:cNvSpPr/>
          <p:nvPr/>
        </p:nvSpPr>
        <p:spPr>
          <a:xfrm>
            <a:off x="5207000" y="1524000"/>
            <a:ext cx="3556000" cy="1016000"/>
          </a:xfrm>
          <a:prstGeom prst="rect">
            <a:avLst/>
          </a:prstGeom>
          <a:noFill/>
          <a:ln/>
        </p:spPr>
        <p:txBody>
          <a:bodyPr wrap="square" lIns="0" tIns="0" rIns="0" bIns="0" rtlCol="0" anchor="ctr"/>
          <a:lstStyle/>
          <a:p>
            <a:pPr algn="ctr">
              <a:lnSpc>
                <a:spcPct val="130000"/>
              </a:lnSpc>
            </a:pPr>
            <a:r>
              <a:rPr lang="en-US" sz="1600" b="1" dirty="0">
                <a:solidFill>
                  <a:srgbClr val="FFFFFF"/>
                </a:solidFill>
                <a:latin typeface="Liter" pitchFamily="34" charset="0"/>
                <a:ea typeface="Liter" pitchFamily="34" charset="-122"/>
                <a:cs typeface="Liter" pitchFamily="34" charset="-120"/>
              </a:rPr>
              <a:t>ACV $5K-$50K</a:t>
            </a:r>
            <a:endParaRPr lang="en-US" sz="1600" dirty="0"/>
          </a:p>
          <a:p>
            <a:pPr algn="ctr">
              <a:lnSpc>
                <a:spcPct val="130000"/>
              </a:lnSpc>
            </a:pPr>
            <a:r>
              <a:rPr lang="en-US" sz="1200" dirty="0">
                <a:solidFill>
                  <a:srgbClr val="CCCCCC"/>
                </a:solidFill>
                <a:latin typeface="Liter" pitchFamily="34" charset="0"/>
                <a:ea typeface="Liter" pitchFamily="34" charset="-122"/>
                <a:cs typeface="Liter" pitchFamily="34" charset="-120"/>
              </a:rPr>
              <a:t>Demand Gen + Inside Sales</a:t>
            </a:r>
            <a:endParaRPr lang="en-US" sz="1600" dirty="0"/>
          </a:p>
        </p:txBody>
      </p:sp>
      <p:sp>
        <p:nvSpPr>
          <p:cNvPr id="10" name="Shape 8"/>
          <p:cNvSpPr/>
          <p:nvPr/>
        </p:nvSpPr>
        <p:spPr>
          <a:xfrm>
            <a:off x="8763000" y="1968500"/>
            <a:ext cx="508000" cy="0"/>
          </a:xfrm>
          <a:prstGeom prst="straightConnector1">
            <a:avLst/>
          </a:prstGeom>
          <a:noFill/>
          <a:ln w="25400">
            <a:solidFill>
              <a:srgbClr val="D91E18"/>
            </a:solidFill>
            <a:prstDash val="solid"/>
            <a:headEnd type="none"/>
            <a:tailEnd type="arrow"/>
          </a:ln>
        </p:spPr>
      </p:sp>
      <p:sp>
        <p:nvSpPr>
          <p:cNvPr id="11" name="Shape 9"/>
          <p:cNvSpPr/>
          <p:nvPr/>
        </p:nvSpPr>
        <p:spPr>
          <a:xfrm>
            <a:off x="9398000" y="1524000"/>
            <a:ext cx="3556000" cy="1016000"/>
          </a:xfrm>
          <a:prstGeom prst="rect">
            <a:avLst/>
          </a:prstGeom>
          <a:solidFill>
            <a:srgbClr val="2C2C2C"/>
          </a:solidFill>
          <a:ln/>
        </p:spPr>
      </p:sp>
      <p:sp>
        <p:nvSpPr>
          <p:cNvPr id="12" name="Text 10"/>
          <p:cNvSpPr/>
          <p:nvPr/>
        </p:nvSpPr>
        <p:spPr>
          <a:xfrm>
            <a:off x="9398000" y="1524000"/>
            <a:ext cx="3556000" cy="1016000"/>
          </a:xfrm>
          <a:prstGeom prst="rect">
            <a:avLst/>
          </a:prstGeom>
          <a:noFill/>
          <a:ln/>
        </p:spPr>
        <p:txBody>
          <a:bodyPr wrap="square" lIns="0" tIns="0" rIns="0" bIns="0" rtlCol="0" anchor="ctr"/>
          <a:lstStyle/>
          <a:p>
            <a:pPr algn="ctr">
              <a:lnSpc>
                <a:spcPct val="130000"/>
              </a:lnSpc>
            </a:pPr>
            <a:r>
              <a:rPr lang="en-US" sz="1600" b="1" dirty="0">
                <a:solidFill>
                  <a:srgbClr val="FFFFFF"/>
                </a:solidFill>
                <a:latin typeface="Liter" pitchFamily="34" charset="0"/>
                <a:ea typeface="Liter" pitchFamily="34" charset="-122"/>
                <a:cs typeface="Liter" pitchFamily="34" charset="-120"/>
              </a:rPr>
              <a:t>ACV &gt; $50K</a:t>
            </a:r>
            <a:endParaRPr lang="en-US" sz="1600" dirty="0"/>
          </a:p>
          <a:p>
            <a:pPr algn="ctr">
              <a:lnSpc>
                <a:spcPct val="130000"/>
              </a:lnSpc>
            </a:pPr>
            <a:r>
              <a:rPr lang="en-US" sz="1200" dirty="0">
                <a:solidFill>
                  <a:srgbClr val="CCCCCC"/>
                </a:solidFill>
                <a:latin typeface="Liter" pitchFamily="34" charset="0"/>
                <a:ea typeface="Liter" pitchFamily="34" charset="-122"/>
                <a:cs typeface="Liter" pitchFamily="34" charset="-120"/>
              </a:rPr>
              <a:t>ABM + Field Sales</a:t>
            </a:r>
            <a:endParaRPr lang="en-US" sz="1600" dirty="0"/>
          </a:p>
        </p:txBody>
      </p:sp>
      <p:sp>
        <p:nvSpPr>
          <p:cNvPr id="13" name="Text 11"/>
          <p:cNvSpPr/>
          <p:nvPr/>
        </p:nvSpPr>
        <p:spPr>
          <a:xfrm>
            <a:off x="9398000" y="2667000"/>
            <a:ext cx="3556000" cy="279400"/>
          </a:xfrm>
          <a:prstGeom prst="rect">
            <a:avLst/>
          </a:prstGeom>
          <a:noFill/>
          <a:ln/>
        </p:spPr>
        <p:txBody>
          <a:bodyPr wrap="square" lIns="0" tIns="0" rIns="0" bIns="0" rtlCol="0" anchor="ctr"/>
          <a:lstStyle/>
          <a:p>
            <a:pPr algn="ctr">
              <a:lnSpc>
                <a:spcPct val="120000"/>
              </a:lnSpc>
            </a:pPr>
            <a:r>
              <a:rPr lang="en-US" sz="1200" dirty="0">
                <a:solidFill>
                  <a:srgbClr val="D91E18"/>
                </a:solidFill>
                <a:latin typeface="Liter" pitchFamily="34" charset="0"/>
                <a:ea typeface="Liter" pitchFamily="34" charset="-122"/>
                <a:cs typeface="Liter" pitchFamily="34" charset="-120"/>
              </a:rPr>
              <a:t>ABM works best at $300K+ ACV</a:t>
            </a:r>
            <a:endParaRPr lang="en-US" sz="1200" dirty="0"/>
          </a:p>
        </p:txBody>
      </p:sp>
      <p:sp>
        <p:nvSpPr>
          <p:cNvPr id="14" name="Shape 12"/>
          <p:cNvSpPr/>
          <p:nvPr/>
        </p:nvSpPr>
        <p:spPr>
          <a:xfrm>
            <a:off x="1016000" y="3175000"/>
            <a:ext cx="3556000" cy="0"/>
          </a:xfrm>
          <a:prstGeom prst="straightConnector1">
            <a:avLst/>
          </a:prstGeom>
          <a:noFill/>
          <a:ln w="25400">
            <a:solidFill>
              <a:srgbClr val="D91E18"/>
            </a:solidFill>
            <a:prstDash val="solid"/>
            <a:headEnd type="none"/>
            <a:tailEnd type="none"/>
          </a:ln>
        </p:spPr>
      </p:sp>
      <p:sp>
        <p:nvSpPr>
          <p:cNvPr id="15" name="Text 13"/>
          <p:cNvSpPr/>
          <p:nvPr/>
        </p:nvSpPr>
        <p:spPr>
          <a:xfrm>
            <a:off x="1016000" y="3302000"/>
            <a:ext cx="3556000" cy="304800"/>
          </a:xfrm>
          <a:prstGeom prst="rect">
            <a:avLst/>
          </a:prstGeom>
          <a:noFill/>
          <a:ln/>
        </p:spPr>
        <p:txBody>
          <a:bodyPr wrap="none" lIns="0" tIns="0" rIns="0" bIns="0" rtlCol="0" anchor="ctr"/>
          <a:lstStyle/>
          <a:p>
            <a:pPr algn="l">
              <a:lnSpc>
                <a:spcPct val="120000"/>
              </a:lnSpc>
            </a:pPr>
            <a:r>
              <a:rPr lang="en-US" sz="1400" b="1" dirty="0">
                <a:solidFill>
                  <a:srgbClr val="D91E18"/>
                </a:solidFill>
                <a:latin typeface="Liter" pitchFamily="34" charset="0"/>
                <a:ea typeface="Liter" pitchFamily="34" charset="-122"/>
                <a:cs typeface="Liter" pitchFamily="34" charset="-120"/>
              </a:rPr>
              <a:t>Product-Led Growth</a:t>
            </a:r>
            <a:endParaRPr lang="en-US" sz="1400" dirty="0"/>
          </a:p>
        </p:txBody>
      </p:sp>
      <p:sp>
        <p:nvSpPr>
          <p:cNvPr id="16" name="Text 14"/>
          <p:cNvSpPr/>
          <p:nvPr/>
        </p:nvSpPr>
        <p:spPr>
          <a:xfrm>
            <a:off x="1016000" y="3683000"/>
            <a:ext cx="3556000" cy="2286000"/>
          </a:xfrm>
          <a:prstGeom prst="rect">
            <a:avLst/>
          </a:prstGeom>
          <a:noFill/>
          <a:ln/>
        </p:spPr>
        <p:txBody>
          <a:bodyPr wrap="square" lIns="0" tIns="0" rIns="0" bIns="0" rtlCol="0" anchor="t"/>
          <a:lstStyle/>
          <a:p>
            <a:pPr algn="l">
              <a:lnSpc>
                <a:spcPct val="160000"/>
              </a:lnSpc>
            </a:pPr>
            <a:r>
              <a:rPr lang="en-US" sz="1300" dirty="0">
                <a:solidFill>
                  <a:srgbClr val="2C2C2C"/>
                </a:solidFill>
                <a:latin typeface="MiSans" pitchFamily="34" charset="0"/>
                <a:ea typeface="MiSans" pitchFamily="34" charset="-122"/>
                <a:cs typeface="MiSans" pitchFamily="34" charset="-120"/>
              </a:rPr>
              <a:t>Freemium or free trial drives adoption. Users self-serve, experience value, then upgrade. Low touch, high volume.</a:t>
            </a:r>
            <a:endParaRPr lang="en-US" sz="1300" dirty="0"/>
          </a:p>
          <a:p>
            <a:pPr algn="l">
              <a:lnSpc>
                <a:spcPct val="160000"/>
              </a:lnSpc>
              <a:spcBef>
                <a:spcPts val="800"/>
              </a:spcBef>
            </a:pPr>
            <a:r>
              <a:rPr lang="en-US" sz="1300" b="1" dirty="0">
                <a:solidFill>
                  <a:srgbClr val="2C2C2C"/>
                </a:solidFill>
                <a:latin typeface="MiSans" pitchFamily="34" charset="0"/>
                <a:ea typeface="MiSans" pitchFamily="34" charset="-122"/>
                <a:cs typeface="MiSans" pitchFamily="34" charset="-120"/>
              </a:rPr>
              <a:t>Examples:</a:t>
            </a:r>
            <a:pPr algn="l">
              <a:lnSpc>
                <a:spcPct val="160000"/>
              </a:lnSpc>
              <a:spcBef>
                <a:spcPts val="800"/>
              </a:spcBef>
            </a:pPr>
            <a:r>
              <a:rPr lang="en-US" sz="1300" dirty="0">
                <a:solidFill>
                  <a:srgbClr val="2C2C2C"/>
                </a:solidFill>
                <a:latin typeface="MiSans" pitchFamily="34" charset="0"/>
                <a:ea typeface="MiSans" pitchFamily="34" charset="-122"/>
                <a:cs typeface="MiSans" pitchFamily="34" charset="-120"/>
              </a:rPr>
              <a:t> Slack, Notion, Figma</a:t>
            </a:r>
            <a:endParaRPr lang="en-US" sz="1300" dirty="0"/>
          </a:p>
          <a:p>
            <a:pPr algn="l">
              <a:lnSpc>
                <a:spcPct val="160000"/>
              </a:lnSpc>
              <a:spcBef>
                <a:spcPts val="800"/>
              </a:spcBef>
            </a:pPr>
            <a:r>
              <a:rPr lang="en-US" sz="1300" b="1" dirty="0">
                <a:solidFill>
                  <a:srgbClr val="2C2C2C"/>
                </a:solidFill>
                <a:latin typeface="MiSans" pitchFamily="34" charset="0"/>
                <a:ea typeface="MiSans" pitchFamily="34" charset="-122"/>
                <a:cs typeface="MiSans" pitchFamily="34" charset="-120"/>
              </a:rPr>
              <a:t>Key metric:</a:t>
            </a:r>
            <a:pPr algn="l">
              <a:lnSpc>
                <a:spcPct val="160000"/>
              </a:lnSpc>
              <a:spcBef>
                <a:spcPts val="800"/>
              </a:spcBef>
            </a:pPr>
            <a:r>
              <a:rPr lang="en-US" sz="1300" dirty="0">
                <a:solidFill>
                  <a:srgbClr val="2C2C2C"/>
                </a:solidFill>
                <a:latin typeface="MiSans" pitchFamily="34" charset="0"/>
                <a:ea typeface="MiSans" pitchFamily="34" charset="-122"/>
                <a:cs typeface="MiSans" pitchFamily="34" charset="-120"/>
              </a:rPr>
              <a:t> Time-to-value &lt; 5 min</a:t>
            </a:r>
            <a:endParaRPr lang="en-US" sz="1300" dirty="0"/>
          </a:p>
        </p:txBody>
      </p:sp>
      <p:sp>
        <p:nvSpPr>
          <p:cNvPr id="17" name="Shape 15"/>
          <p:cNvSpPr/>
          <p:nvPr/>
        </p:nvSpPr>
        <p:spPr>
          <a:xfrm>
            <a:off x="5207000" y="3175000"/>
            <a:ext cx="3556000" cy="0"/>
          </a:xfrm>
          <a:prstGeom prst="straightConnector1">
            <a:avLst/>
          </a:prstGeom>
          <a:noFill/>
          <a:ln w="25400">
            <a:solidFill>
              <a:srgbClr val="2C2C2C"/>
            </a:solidFill>
            <a:prstDash val="solid"/>
            <a:headEnd type="none"/>
            <a:tailEnd type="none"/>
          </a:ln>
        </p:spPr>
      </p:sp>
      <p:sp>
        <p:nvSpPr>
          <p:cNvPr id="18" name="Text 16"/>
          <p:cNvSpPr/>
          <p:nvPr/>
        </p:nvSpPr>
        <p:spPr>
          <a:xfrm>
            <a:off x="5207000" y="3302000"/>
            <a:ext cx="3556000" cy="304800"/>
          </a:xfrm>
          <a:prstGeom prst="rect">
            <a:avLst/>
          </a:prstGeom>
          <a:noFill/>
          <a:ln/>
        </p:spPr>
        <p:txBody>
          <a:bodyPr wrap="none" lIns="0" tIns="0" rIns="0" bIns="0" rtlCol="0" anchor="ctr"/>
          <a:lstStyle/>
          <a:p>
            <a:pPr algn="l">
              <a:lnSpc>
                <a:spcPct val="120000"/>
              </a:lnSpc>
            </a:pPr>
            <a:r>
              <a:rPr lang="en-US" sz="1400" b="1" dirty="0">
                <a:solidFill>
                  <a:srgbClr val="D91E18"/>
                </a:solidFill>
                <a:latin typeface="Liter" pitchFamily="34" charset="0"/>
                <a:ea typeface="Liter" pitchFamily="34" charset="-122"/>
                <a:cs typeface="Liter" pitchFamily="34" charset="-120"/>
              </a:rPr>
              <a:t>Sales-Led Growth</a:t>
            </a:r>
            <a:endParaRPr lang="en-US" sz="1400" dirty="0"/>
          </a:p>
        </p:txBody>
      </p:sp>
      <p:sp>
        <p:nvSpPr>
          <p:cNvPr id="19" name="Text 17"/>
          <p:cNvSpPr/>
          <p:nvPr/>
        </p:nvSpPr>
        <p:spPr>
          <a:xfrm>
            <a:off x="5207000" y="3683000"/>
            <a:ext cx="3556000" cy="2286000"/>
          </a:xfrm>
          <a:prstGeom prst="rect">
            <a:avLst/>
          </a:prstGeom>
          <a:noFill/>
          <a:ln/>
        </p:spPr>
        <p:txBody>
          <a:bodyPr wrap="square" lIns="0" tIns="0" rIns="0" bIns="0" rtlCol="0" anchor="t"/>
          <a:lstStyle/>
          <a:p>
            <a:pPr algn="l">
              <a:lnSpc>
                <a:spcPct val="160000"/>
              </a:lnSpc>
            </a:pPr>
            <a:r>
              <a:rPr lang="en-US" sz="1300" dirty="0">
                <a:solidFill>
                  <a:srgbClr val="2C2C2C"/>
                </a:solidFill>
                <a:latin typeface="MiSans" pitchFamily="34" charset="0"/>
                <a:ea typeface="MiSans" pitchFamily="34" charset="-122"/>
                <a:cs typeface="MiSans" pitchFamily="34" charset="-120"/>
              </a:rPr>
              <a:t>Demand generation feeds inside sales team. SDRs qualify, AEs close. Higher touch, relationship-driven.</a:t>
            </a:r>
            <a:endParaRPr lang="en-US" sz="1300" dirty="0"/>
          </a:p>
          <a:p>
            <a:pPr algn="l">
              <a:lnSpc>
                <a:spcPct val="160000"/>
              </a:lnSpc>
              <a:spcBef>
                <a:spcPts val="800"/>
              </a:spcBef>
            </a:pPr>
            <a:r>
              <a:rPr lang="en-US" sz="1300" b="1" dirty="0">
                <a:solidFill>
                  <a:srgbClr val="2C2C2C"/>
                </a:solidFill>
                <a:latin typeface="MiSans" pitchFamily="34" charset="0"/>
                <a:ea typeface="MiSans" pitchFamily="34" charset="-122"/>
                <a:cs typeface="MiSans" pitchFamily="34" charset="-120"/>
              </a:rPr>
              <a:t>Examples:</a:t>
            </a:r>
            <a:pPr algn="l">
              <a:lnSpc>
                <a:spcPct val="160000"/>
              </a:lnSpc>
              <a:spcBef>
                <a:spcPts val="800"/>
              </a:spcBef>
            </a:pPr>
            <a:r>
              <a:rPr lang="en-US" sz="1300" dirty="0">
                <a:solidFill>
                  <a:srgbClr val="2C2C2C"/>
                </a:solidFill>
                <a:latin typeface="MiSans" pitchFamily="34" charset="0"/>
                <a:ea typeface="MiSans" pitchFamily="34" charset="-122"/>
                <a:cs typeface="MiSans" pitchFamily="34" charset="-120"/>
              </a:rPr>
              <a:t> HubSpot, Salesforce</a:t>
            </a:r>
            <a:endParaRPr lang="en-US" sz="1300" dirty="0"/>
          </a:p>
          <a:p>
            <a:pPr algn="l">
              <a:lnSpc>
                <a:spcPct val="160000"/>
              </a:lnSpc>
              <a:spcBef>
                <a:spcPts val="800"/>
              </a:spcBef>
            </a:pPr>
            <a:r>
              <a:rPr lang="en-US" sz="1300" b="1" dirty="0">
                <a:solidFill>
                  <a:srgbClr val="2C2C2C"/>
                </a:solidFill>
                <a:latin typeface="MiSans" pitchFamily="34" charset="0"/>
                <a:ea typeface="MiSans" pitchFamily="34" charset="-122"/>
                <a:cs typeface="MiSans" pitchFamily="34" charset="-120"/>
              </a:rPr>
              <a:t>Key metric:</a:t>
            </a:r>
            <a:pPr algn="l">
              <a:lnSpc>
                <a:spcPct val="160000"/>
              </a:lnSpc>
              <a:spcBef>
                <a:spcPts val="800"/>
              </a:spcBef>
            </a:pPr>
            <a:r>
              <a:rPr lang="en-US" sz="1300" dirty="0">
                <a:solidFill>
                  <a:srgbClr val="2C2C2C"/>
                </a:solidFill>
                <a:latin typeface="MiSans" pitchFamily="34" charset="0"/>
                <a:ea typeface="MiSans" pitchFamily="34" charset="-122"/>
                <a:cs typeface="MiSans" pitchFamily="34" charset="-120"/>
              </a:rPr>
              <a:t> SQL-to-close rate</a:t>
            </a:r>
            <a:endParaRPr lang="en-US" sz="1300" dirty="0"/>
          </a:p>
        </p:txBody>
      </p:sp>
      <p:sp>
        <p:nvSpPr>
          <p:cNvPr id="20" name="Shape 18"/>
          <p:cNvSpPr/>
          <p:nvPr/>
        </p:nvSpPr>
        <p:spPr>
          <a:xfrm>
            <a:off x="9398000" y="3175000"/>
            <a:ext cx="3556000" cy="0"/>
          </a:xfrm>
          <a:prstGeom prst="straightConnector1">
            <a:avLst/>
          </a:prstGeom>
          <a:noFill/>
          <a:ln w="25400">
            <a:solidFill>
              <a:srgbClr val="2C2C2C"/>
            </a:solidFill>
            <a:prstDash val="solid"/>
            <a:headEnd type="none"/>
            <a:tailEnd type="none"/>
          </a:ln>
        </p:spPr>
      </p:sp>
      <p:sp>
        <p:nvSpPr>
          <p:cNvPr id="21" name="Text 19"/>
          <p:cNvSpPr/>
          <p:nvPr/>
        </p:nvSpPr>
        <p:spPr>
          <a:xfrm>
            <a:off x="9398000" y="3302000"/>
            <a:ext cx="3556000" cy="304800"/>
          </a:xfrm>
          <a:prstGeom prst="rect">
            <a:avLst/>
          </a:prstGeom>
          <a:noFill/>
          <a:ln/>
        </p:spPr>
        <p:txBody>
          <a:bodyPr wrap="none" lIns="0" tIns="0" rIns="0" bIns="0" rtlCol="0" anchor="ctr"/>
          <a:lstStyle/>
          <a:p>
            <a:pPr algn="l">
              <a:lnSpc>
                <a:spcPct val="120000"/>
              </a:lnSpc>
            </a:pPr>
            <a:r>
              <a:rPr lang="en-US" sz="1400" b="1" dirty="0">
                <a:solidFill>
                  <a:srgbClr val="D91E18"/>
                </a:solidFill>
                <a:latin typeface="Liter" pitchFamily="34" charset="0"/>
                <a:ea typeface="Liter" pitchFamily="34" charset="-122"/>
                <a:cs typeface="Liter" pitchFamily="34" charset="-120"/>
              </a:rPr>
              <a:t>Account-Based Marketing</a:t>
            </a:r>
            <a:endParaRPr lang="en-US" sz="1400" dirty="0"/>
          </a:p>
        </p:txBody>
      </p:sp>
      <p:sp>
        <p:nvSpPr>
          <p:cNvPr id="22" name="Text 20"/>
          <p:cNvSpPr/>
          <p:nvPr/>
        </p:nvSpPr>
        <p:spPr>
          <a:xfrm>
            <a:off x="9398000" y="3683000"/>
            <a:ext cx="3556000" cy="2286000"/>
          </a:xfrm>
          <a:prstGeom prst="rect">
            <a:avLst/>
          </a:prstGeom>
          <a:noFill/>
          <a:ln/>
        </p:spPr>
        <p:txBody>
          <a:bodyPr wrap="square" lIns="0" tIns="0" rIns="0" bIns="0" rtlCol="0" anchor="t"/>
          <a:lstStyle/>
          <a:p>
            <a:pPr algn="l">
              <a:lnSpc>
                <a:spcPct val="160000"/>
              </a:lnSpc>
            </a:pPr>
            <a:r>
              <a:rPr lang="en-US" sz="1300" dirty="0">
                <a:solidFill>
                  <a:srgbClr val="2C2C2C"/>
                </a:solidFill>
                <a:latin typeface="MiSans" pitchFamily="34" charset="0"/>
                <a:ea typeface="MiSans" pitchFamily="34" charset="-122"/>
                <a:cs typeface="MiSans" pitchFamily="34" charset="-120"/>
              </a:rPr>
              <a:t>Hyper-targeted one-to-one campaigns for enterprise accounts. Field sales + custom content + executive outreach.</a:t>
            </a:r>
            <a:endParaRPr lang="en-US" sz="1300" dirty="0"/>
          </a:p>
          <a:p>
            <a:pPr algn="l">
              <a:lnSpc>
                <a:spcPct val="160000"/>
              </a:lnSpc>
              <a:spcBef>
                <a:spcPts val="800"/>
              </a:spcBef>
            </a:pPr>
            <a:r>
              <a:rPr lang="en-US" sz="1300" b="1" dirty="0">
                <a:solidFill>
                  <a:srgbClr val="2C2C2C"/>
                </a:solidFill>
                <a:latin typeface="MiSans" pitchFamily="34" charset="0"/>
                <a:ea typeface="MiSans" pitchFamily="34" charset="-122"/>
                <a:cs typeface="MiSans" pitchFamily="34" charset="-120"/>
              </a:rPr>
              <a:t>Examples:</a:t>
            </a:r>
            <a:pPr algn="l">
              <a:lnSpc>
                <a:spcPct val="160000"/>
              </a:lnSpc>
              <a:spcBef>
                <a:spcPts val="800"/>
              </a:spcBef>
            </a:pPr>
            <a:r>
              <a:rPr lang="en-US" sz="1300" dirty="0">
                <a:solidFill>
                  <a:srgbClr val="2C2C2C"/>
                </a:solidFill>
                <a:latin typeface="MiSans" pitchFamily="34" charset="0"/>
                <a:ea typeface="MiSans" pitchFamily="34" charset="-122"/>
                <a:cs typeface="MiSans" pitchFamily="34" charset="-120"/>
              </a:rPr>
              <a:t> Terminus, 6sense</a:t>
            </a:r>
            <a:endParaRPr lang="en-US" sz="1300" dirty="0"/>
          </a:p>
          <a:p>
            <a:pPr algn="l">
              <a:lnSpc>
                <a:spcPct val="160000"/>
              </a:lnSpc>
              <a:spcBef>
                <a:spcPts val="800"/>
              </a:spcBef>
            </a:pPr>
            <a:r>
              <a:rPr lang="en-US" sz="1300" b="1" dirty="0">
                <a:solidFill>
                  <a:srgbClr val="2C2C2C"/>
                </a:solidFill>
                <a:latin typeface="MiSans" pitchFamily="34" charset="0"/>
                <a:ea typeface="MiSans" pitchFamily="34" charset="-122"/>
                <a:cs typeface="MiSans" pitchFamily="34" charset="-120"/>
              </a:rPr>
              <a:t>Key metric:</a:t>
            </a:r>
            <a:pPr algn="l">
              <a:lnSpc>
                <a:spcPct val="160000"/>
              </a:lnSpc>
              <a:spcBef>
                <a:spcPts val="800"/>
              </a:spcBef>
            </a:pPr>
            <a:r>
              <a:rPr lang="en-US" sz="1300" dirty="0">
                <a:solidFill>
                  <a:srgbClr val="2C2C2C"/>
                </a:solidFill>
                <a:latin typeface="MiSans" pitchFamily="34" charset="0"/>
                <a:ea typeface="MiSans" pitchFamily="34" charset="-122"/>
                <a:cs typeface="MiSans" pitchFamily="34" charset="-120"/>
              </a:rPr>
              <a:t> Account engagement score</a:t>
            </a:r>
            <a:endParaRPr lang="en-US" sz="1300" dirty="0"/>
          </a:p>
        </p:txBody>
      </p:sp>
      <p:sp>
        <p:nvSpPr>
          <p:cNvPr id="23" name="Shape 21"/>
          <p:cNvSpPr/>
          <p:nvPr/>
        </p:nvSpPr>
        <p:spPr>
          <a:xfrm>
            <a:off x="635000" y="6223000"/>
            <a:ext cx="14986000" cy="1270000"/>
          </a:xfrm>
          <a:prstGeom prst="rect">
            <a:avLst/>
          </a:prstGeom>
          <a:solidFill>
            <a:srgbClr val="FFFFFF"/>
          </a:solidFill>
          <a:ln w="12700">
            <a:solidFill>
              <a:srgbClr val="DDDDDD"/>
            </a:solidFill>
            <a:prstDash val="solid"/>
          </a:ln>
        </p:spPr>
      </p:sp>
      <p:sp>
        <p:nvSpPr>
          <p:cNvPr id="24" name="Shape 22"/>
          <p:cNvSpPr/>
          <p:nvPr/>
        </p:nvSpPr>
        <p:spPr>
          <a:xfrm>
            <a:off x="635000" y="6223000"/>
            <a:ext cx="50800" cy="1270000"/>
          </a:xfrm>
          <a:prstGeom prst="rect">
            <a:avLst/>
          </a:prstGeom>
          <a:solidFill>
            <a:srgbClr val="D91E18"/>
          </a:solidFill>
          <a:ln/>
        </p:spPr>
      </p:sp>
      <p:sp>
        <p:nvSpPr>
          <p:cNvPr id="25" name="Text 23"/>
          <p:cNvSpPr/>
          <p:nvPr/>
        </p:nvSpPr>
        <p:spPr>
          <a:xfrm>
            <a:off x="838200" y="6299200"/>
            <a:ext cx="14579600" cy="1117600"/>
          </a:xfrm>
          <a:prstGeom prst="rect">
            <a:avLst/>
          </a:prstGeom>
          <a:noFill/>
          <a:ln/>
        </p:spPr>
        <p:txBody>
          <a:bodyPr wrap="square" lIns="0" tIns="0" rIns="0" bIns="0" rtlCol="0" anchor="t"/>
          <a:lstStyle/>
          <a:p>
            <a:pPr algn="l">
              <a:lnSpc>
                <a:spcPct val="150000"/>
              </a:lnSpc>
            </a:pPr>
            <a:r>
              <a:rPr lang="en-US" sz="1300" b="1" dirty="0">
                <a:solidFill>
                  <a:srgbClr val="D91E18"/>
                </a:solidFill>
                <a:latin typeface="MiSans" pitchFamily="34" charset="0"/>
                <a:ea typeface="MiSans" pitchFamily="34" charset="-122"/>
                <a:cs typeface="MiSans" pitchFamily="34" charset="-120"/>
              </a:rPr>
              <a:t>Heuristic for choosing:</a:t>
            </a:r>
            <a:pPr algn="l">
              <a:lnSpc>
                <a:spcPct val="150000"/>
              </a:lnSpc>
            </a:pPr>
            <a:r>
              <a:rPr lang="en-US" sz="1300" dirty="0">
                <a:solidFill>
                  <a:srgbClr val="2C2C2C"/>
                </a:solidFill>
                <a:latin typeface="MiSans" pitchFamily="34" charset="0"/>
                <a:ea typeface="MiSans" pitchFamily="34" charset="-122"/>
                <a:cs typeface="MiSans" pitchFamily="34" charset="-120"/>
              </a:rPr>
              <a:t> ACV &lt; $5K favors product-led and inbound. $5K-$50K suits demand generation with inside sales. Above $50K, ABM with field sales becomes more effective. ABM only truly works at $300K+ annual deal size for one-to-one focus. Organizations with structured GTM strategies are 2-3x more likely to achieve commercial success.</a:t>
            </a:r>
            <a:endParaRPr lang="en-US" sz="1300" dirty="0"/>
          </a:p>
        </p:txBody>
      </p:sp>
      <p:sp>
        <p:nvSpPr>
          <p:cNvPr id="26" name="Shape 24"/>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27" name="Text 25"/>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The Growth Syndicate GTM Guide 2026, Gartner Research</a:t>
            </a:r>
            <a:endParaRPr lang="en-US" sz="1300" dirty="0"/>
          </a:p>
        </p:txBody>
      </p:sp>
      <p:sp>
        <p:nvSpPr>
          <p:cNvPr id="28" name="Text 26"/>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10</a:t>
            </a:r>
            <a:endParaRPr lang="en-US" sz="12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EFCFB"/>
        </a:solidFill>
      </p:bgPr>
    </p:bg>
    <p:spTree>
      <p:nvGrpSpPr>
        <p:cNvPr id="1" name=""/>
        <p:cNvGrpSpPr/>
        <p:nvPr/>
      </p:nvGrpSpPr>
      <p:grpSpPr>
        <a:xfrm>
          <a:off x="0" y="0"/>
          <a:ext cx="0" cy="0"/>
          <a:chOff x="0" y="0"/>
          <a:chExt cx="0" cy="0"/>
        </a:xfrm>
      </p:grpSpPr>
      <p:sp>
        <p:nvSpPr>
          <p:cNvPr id="2" name="Shape 0"/>
          <p:cNvSpPr/>
          <p:nvPr/>
        </p:nvSpPr>
        <p:spPr>
          <a:xfrm>
            <a:off x="0" y="0"/>
            <a:ext cx="16256000" cy="25400"/>
          </a:xfrm>
          <a:prstGeom prst="rect">
            <a:avLst/>
          </a:prstGeom>
          <a:solidFill>
            <a:srgbClr val="D91E18"/>
          </a:solidFill>
          <a:ln/>
        </p:spPr>
      </p:sp>
      <p:sp>
        <p:nvSpPr>
          <p:cNvPr id="3" name="Text 1"/>
          <p:cNvSpPr/>
          <p:nvPr/>
        </p:nvSpPr>
        <p:spPr>
          <a:xfrm>
            <a:off x="12319000" y="1905000"/>
            <a:ext cx="3683000" cy="2794000"/>
          </a:xfrm>
          <a:prstGeom prst="rect">
            <a:avLst/>
          </a:prstGeom>
          <a:noFill/>
          <a:ln/>
        </p:spPr>
        <p:txBody>
          <a:bodyPr wrap="none" lIns="0" tIns="0" rIns="0" bIns="0" rtlCol="0" anchor="ctr"/>
          <a:lstStyle/>
          <a:p>
            <a:pPr algn="l">
              <a:lnSpc>
                <a:spcPct val="120000"/>
              </a:lnSpc>
            </a:pPr>
            <a:r>
              <a:rPr lang="en-US" sz="14000" b="1" dirty="0">
                <a:solidFill>
                  <a:srgbClr val="D91E18">
                    <a:alpha val="3137"/>
                  </a:srgbClr>
                </a:solidFill>
                <a:latin typeface="Liter" pitchFamily="34" charset="0"/>
                <a:ea typeface="Liter" pitchFamily="34" charset="-122"/>
                <a:cs typeface="Liter" pitchFamily="34" charset="-120"/>
              </a:rPr>
              <a:t>03</a:t>
            </a:r>
            <a:endParaRPr lang="en-US" sz="14000" dirty="0"/>
          </a:p>
        </p:txBody>
      </p:sp>
      <p:sp>
        <p:nvSpPr>
          <p:cNvPr id="4" name="Text 2"/>
          <p:cNvSpPr/>
          <p:nvPr/>
        </p:nvSpPr>
        <p:spPr>
          <a:xfrm>
            <a:off x="762000" y="2540000"/>
            <a:ext cx="3810000" cy="3810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CHAPTER 03</a:t>
            </a:r>
            <a:endParaRPr lang="en-US" sz="1100" dirty="0"/>
          </a:p>
        </p:txBody>
      </p:sp>
      <p:sp>
        <p:nvSpPr>
          <p:cNvPr id="5" name="Text 3"/>
          <p:cNvSpPr/>
          <p:nvPr/>
        </p:nvSpPr>
        <p:spPr>
          <a:xfrm>
            <a:off x="762000" y="3048000"/>
            <a:ext cx="11430000" cy="1066800"/>
          </a:xfrm>
          <a:prstGeom prst="rect">
            <a:avLst/>
          </a:prstGeom>
          <a:noFill/>
          <a:ln/>
        </p:spPr>
        <p:txBody>
          <a:bodyPr wrap="square" lIns="0" tIns="0" rIns="0" bIns="0" rtlCol="0" anchor="ctr"/>
          <a:lstStyle/>
          <a:p>
            <a:pPr algn="l">
              <a:lnSpc>
                <a:spcPct val="120000"/>
              </a:lnSpc>
            </a:pPr>
            <a:r>
              <a:rPr lang="en-US" sz="4200" b="1" dirty="0">
                <a:solidFill>
                  <a:srgbClr val="2C2C2C"/>
                </a:solidFill>
                <a:latin typeface="Liter" pitchFamily="34" charset="0"/>
                <a:ea typeface="Liter" pitchFamily="34" charset="-122"/>
                <a:cs typeface="Liter" pitchFamily="34" charset="-120"/>
              </a:rPr>
              <a:t>AI AUTOMATION FOR GTM</a:t>
            </a:r>
            <a:endParaRPr lang="en-US" sz="4200" dirty="0"/>
          </a:p>
        </p:txBody>
      </p:sp>
      <p:sp>
        <p:nvSpPr>
          <p:cNvPr id="6" name="Text 4"/>
          <p:cNvSpPr/>
          <p:nvPr/>
        </p:nvSpPr>
        <p:spPr>
          <a:xfrm>
            <a:off x="762000" y="4318000"/>
            <a:ext cx="10160000" cy="431800"/>
          </a:xfrm>
          <a:prstGeom prst="rect">
            <a:avLst/>
          </a:prstGeom>
          <a:noFill/>
          <a:ln/>
        </p:spPr>
        <p:txBody>
          <a:bodyPr wrap="square" lIns="0" tIns="0" rIns="0" bIns="0" rtlCol="0" anchor="t"/>
          <a:lstStyle/>
          <a:p>
            <a:pPr algn="l">
              <a:lnSpc>
                <a:spcPct val="160000"/>
              </a:lnSpc>
            </a:pPr>
            <a:r>
              <a:rPr lang="en-US" sz="1800" dirty="0">
                <a:solidFill>
                  <a:srgbClr val="888888"/>
                </a:solidFill>
                <a:latin typeface="Liter" pitchFamily="34" charset="0"/>
                <a:ea typeface="Liter" pitchFamily="34" charset="-122"/>
                <a:cs typeface="Liter" pitchFamily="34" charset="-120"/>
              </a:rPr>
              <a:t>How startups can automate go-to-market operations without building a large sales team first</a:t>
            </a:r>
            <a:endParaRPr lang="en-US" sz="1800" dirty="0"/>
          </a:p>
        </p:txBody>
      </p:sp>
      <p:sp>
        <p:nvSpPr>
          <p:cNvPr id="7" name="Shape 5"/>
          <p:cNvSpPr/>
          <p:nvPr/>
        </p:nvSpPr>
        <p:spPr>
          <a:xfrm>
            <a:off x="762000" y="4851400"/>
            <a:ext cx="2032000" cy="0"/>
          </a:xfrm>
          <a:prstGeom prst="straightConnector1">
            <a:avLst/>
          </a:prstGeom>
          <a:noFill/>
          <a:ln w="25400">
            <a:solidFill>
              <a:srgbClr val="D91E18"/>
            </a:solidFill>
            <a:prstDash val="solid"/>
            <a:headEnd type="none"/>
            <a:tailEnd type="none"/>
          </a:ln>
        </p:spPr>
      </p:sp>
      <p:sp>
        <p:nvSpPr>
          <p:cNvPr id="8" name="Shape 6"/>
          <p:cNvSpPr/>
          <p:nvPr/>
        </p:nvSpPr>
        <p:spPr>
          <a:xfrm>
            <a:off x="0" y="9118600"/>
            <a:ext cx="16256000" cy="25400"/>
          </a:xfrm>
          <a:prstGeom prst="rect">
            <a:avLst/>
          </a:prstGeom>
          <a:solidFill>
            <a:srgbClr val="D91E18"/>
          </a:solidFill>
          <a:ln/>
        </p:spPr>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3335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AI GTM automation gives startups a force multiplier</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47% HIGHER PRODUCTIVITY | 4-7X CONVERSION IMPROVEMENT | 12 HRS/WK SAVED</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Text 3"/>
          <p:cNvSpPr/>
          <p:nvPr/>
        </p:nvSpPr>
        <p:spPr>
          <a:xfrm>
            <a:off x="635000" y="1397000"/>
            <a:ext cx="4318000" cy="889000"/>
          </a:xfrm>
          <a:prstGeom prst="rect">
            <a:avLst/>
          </a:prstGeom>
          <a:noFill/>
          <a:ln/>
        </p:spPr>
        <p:txBody>
          <a:bodyPr wrap="none" lIns="0" tIns="0" rIns="0" bIns="0" rtlCol="0" anchor="ctr"/>
          <a:lstStyle/>
          <a:p>
            <a:pPr algn="l">
              <a:lnSpc>
                <a:spcPct val="120000"/>
              </a:lnSpc>
            </a:pPr>
            <a:r>
              <a:rPr lang="en-US" sz="5200" b="1" dirty="0">
                <a:solidFill>
                  <a:srgbClr val="D91E18"/>
                </a:solidFill>
                <a:latin typeface="Liter" pitchFamily="34" charset="0"/>
                <a:ea typeface="Liter" pitchFamily="34" charset="-122"/>
                <a:cs typeface="Liter" pitchFamily="34" charset="-120"/>
              </a:rPr>
              <a:t>47%</a:t>
            </a:r>
            <a:endParaRPr lang="en-US" sz="5200" dirty="0"/>
          </a:p>
        </p:txBody>
      </p:sp>
      <p:sp>
        <p:nvSpPr>
          <p:cNvPr id="6" name="Text 4"/>
          <p:cNvSpPr/>
          <p:nvPr/>
        </p:nvSpPr>
        <p:spPr>
          <a:xfrm>
            <a:off x="635000" y="2311400"/>
            <a:ext cx="4318000" cy="660400"/>
          </a:xfrm>
          <a:prstGeom prst="rect">
            <a:avLst/>
          </a:prstGeom>
          <a:noFill/>
          <a:ln/>
        </p:spPr>
        <p:txBody>
          <a:bodyPr wrap="square" lIns="0" tIns="0" rIns="0" bIns="0" rtlCol="0" anchor="t"/>
          <a:lstStyle/>
          <a:p>
            <a:pPr algn="l">
              <a:lnSpc>
                <a:spcPct val="140000"/>
              </a:lnSpc>
            </a:pPr>
            <a:r>
              <a:rPr lang="en-US" sz="1400" b="1" dirty="0">
                <a:solidFill>
                  <a:srgbClr val="2C2C2C"/>
                </a:solidFill>
                <a:latin typeface="Liter" pitchFamily="34" charset="0"/>
                <a:ea typeface="Liter" pitchFamily="34" charset="-122"/>
                <a:cs typeface="Liter" pitchFamily="34" charset="-120"/>
              </a:rPr>
              <a:t>Higher Productivity</a:t>
            </a:r>
            <a:endParaRPr lang="en-US" sz="1400" dirty="0"/>
          </a:p>
          <a:p>
            <a:pPr algn="l">
              <a:lnSpc>
                <a:spcPct val="140000"/>
              </a:lnSpc>
            </a:pPr>
            <a:r>
              <a:rPr lang="en-US" sz="1300" dirty="0">
                <a:solidFill>
                  <a:srgbClr val="888888"/>
                </a:solidFill>
                <a:latin typeface="Liter" pitchFamily="34" charset="0"/>
                <a:ea typeface="Liter" pitchFamily="34" charset="-122"/>
                <a:cs typeface="Liter" pitchFamily="34" charset="-120"/>
              </a:rPr>
              <a:t>With AI GTM automation</a:t>
            </a:r>
            <a:endParaRPr lang="en-US" sz="1400" dirty="0"/>
          </a:p>
        </p:txBody>
      </p:sp>
      <p:sp>
        <p:nvSpPr>
          <p:cNvPr id="7" name="Shape 5"/>
          <p:cNvSpPr/>
          <p:nvPr/>
        </p:nvSpPr>
        <p:spPr>
          <a:xfrm>
            <a:off x="635000" y="3048000"/>
            <a:ext cx="4318000" cy="0"/>
          </a:xfrm>
          <a:prstGeom prst="straightConnector1">
            <a:avLst/>
          </a:prstGeom>
          <a:noFill/>
          <a:ln w="12700">
            <a:solidFill>
              <a:srgbClr val="DDDDDD"/>
            </a:solidFill>
            <a:prstDash val="solid"/>
            <a:headEnd type="none"/>
            <a:tailEnd type="none"/>
          </a:ln>
        </p:spPr>
      </p:sp>
      <p:sp>
        <p:nvSpPr>
          <p:cNvPr id="8" name="Text 6"/>
          <p:cNvSpPr/>
          <p:nvPr/>
        </p:nvSpPr>
        <p:spPr>
          <a:xfrm>
            <a:off x="635000" y="3175000"/>
            <a:ext cx="4318000" cy="889000"/>
          </a:xfrm>
          <a:prstGeom prst="rect">
            <a:avLst/>
          </a:prstGeom>
          <a:noFill/>
          <a:ln/>
        </p:spPr>
        <p:txBody>
          <a:bodyPr wrap="none" lIns="0" tIns="0" rIns="0" bIns="0" rtlCol="0" anchor="ctr"/>
          <a:lstStyle/>
          <a:p>
            <a:pPr algn="l">
              <a:lnSpc>
                <a:spcPct val="120000"/>
              </a:lnSpc>
            </a:pPr>
            <a:r>
              <a:rPr lang="en-US" sz="5200" b="1" dirty="0">
                <a:solidFill>
                  <a:srgbClr val="2C2C2C"/>
                </a:solidFill>
                <a:latin typeface="Liter" pitchFamily="34" charset="0"/>
                <a:ea typeface="Liter" pitchFamily="34" charset="-122"/>
                <a:cs typeface="Liter" pitchFamily="34" charset="-120"/>
              </a:rPr>
              <a:t>4-7x</a:t>
            </a:r>
            <a:endParaRPr lang="en-US" sz="5200" dirty="0"/>
          </a:p>
        </p:txBody>
      </p:sp>
      <p:sp>
        <p:nvSpPr>
          <p:cNvPr id="9" name="Text 7"/>
          <p:cNvSpPr/>
          <p:nvPr/>
        </p:nvSpPr>
        <p:spPr>
          <a:xfrm>
            <a:off x="635000" y="4089400"/>
            <a:ext cx="4318000" cy="660400"/>
          </a:xfrm>
          <a:prstGeom prst="rect">
            <a:avLst/>
          </a:prstGeom>
          <a:noFill/>
          <a:ln/>
        </p:spPr>
        <p:txBody>
          <a:bodyPr wrap="square" lIns="0" tIns="0" rIns="0" bIns="0" rtlCol="0" anchor="t"/>
          <a:lstStyle/>
          <a:p>
            <a:pPr algn="l">
              <a:lnSpc>
                <a:spcPct val="140000"/>
              </a:lnSpc>
            </a:pPr>
            <a:r>
              <a:rPr lang="en-US" sz="1400" b="1" dirty="0">
                <a:solidFill>
                  <a:srgbClr val="2C2C2C"/>
                </a:solidFill>
                <a:latin typeface="Liter" pitchFamily="34" charset="0"/>
                <a:ea typeface="Liter" pitchFamily="34" charset="-122"/>
                <a:cs typeface="Liter" pitchFamily="34" charset="-120"/>
              </a:rPr>
              <a:t>Conversion Improvement</a:t>
            </a:r>
            <a:endParaRPr lang="en-US" sz="1400" dirty="0"/>
          </a:p>
          <a:p>
            <a:pPr algn="l">
              <a:lnSpc>
                <a:spcPct val="140000"/>
              </a:lnSpc>
            </a:pPr>
            <a:r>
              <a:rPr lang="en-US" sz="1300" dirty="0">
                <a:solidFill>
                  <a:srgbClr val="888888"/>
                </a:solidFill>
                <a:latin typeface="Liter" pitchFamily="34" charset="0"/>
                <a:ea typeface="Liter" pitchFamily="34" charset="-122"/>
                <a:cs typeface="Liter" pitchFamily="34" charset="-120"/>
              </a:rPr>
              <a:t>AI-powered vs traditional outreach</a:t>
            </a:r>
            <a:endParaRPr lang="en-US" sz="1400" dirty="0"/>
          </a:p>
        </p:txBody>
      </p:sp>
      <p:sp>
        <p:nvSpPr>
          <p:cNvPr id="10" name="Shape 8"/>
          <p:cNvSpPr/>
          <p:nvPr/>
        </p:nvSpPr>
        <p:spPr>
          <a:xfrm>
            <a:off x="635000" y="4826000"/>
            <a:ext cx="4318000" cy="0"/>
          </a:xfrm>
          <a:prstGeom prst="straightConnector1">
            <a:avLst/>
          </a:prstGeom>
          <a:noFill/>
          <a:ln w="12700">
            <a:solidFill>
              <a:srgbClr val="DDDDDD"/>
            </a:solidFill>
            <a:prstDash val="solid"/>
            <a:headEnd type="none"/>
            <a:tailEnd type="none"/>
          </a:ln>
        </p:spPr>
      </p:sp>
      <p:sp>
        <p:nvSpPr>
          <p:cNvPr id="11" name="Text 9"/>
          <p:cNvSpPr/>
          <p:nvPr/>
        </p:nvSpPr>
        <p:spPr>
          <a:xfrm>
            <a:off x="635000" y="4953000"/>
            <a:ext cx="4318000" cy="889000"/>
          </a:xfrm>
          <a:prstGeom prst="rect">
            <a:avLst/>
          </a:prstGeom>
          <a:noFill/>
          <a:ln/>
        </p:spPr>
        <p:txBody>
          <a:bodyPr wrap="none" lIns="0" tIns="0" rIns="0" bIns="0" rtlCol="0" anchor="ctr"/>
          <a:lstStyle/>
          <a:p>
            <a:pPr algn="l">
              <a:lnSpc>
                <a:spcPct val="120000"/>
              </a:lnSpc>
            </a:pPr>
            <a:r>
              <a:rPr lang="en-US" sz="5200" b="1" dirty="0">
                <a:solidFill>
                  <a:srgbClr val="D91E18"/>
                </a:solidFill>
                <a:latin typeface="Liter" pitchFamily="34" charset="0"/>
                <a:ea typeface="Liter" pitchFamily="34" charset="-122"/>
                <a:cs typeface="Liter" pitchFamily="34" charset="-120"/>
              </a:rPr>
              <a:t>12 hrs</a:t>
            </a:r>
            <a:endParaRPr lang="en-US" sz="5200" dirty="0"/>
          </a:p>
        </p:txBody>
      </p:sp>
      <p:sp>
        <p:nvSpPr>
          <p:cNvPr id="12" name="Text 10"/>
          <p:cNvSpPr/>
          <p:nvPr/>
        </p:nvSpPr>
        <p:spPr>
          <a:xfrm>
            <a:off x="635000" y="5867400"/>
            <a:ext cx="4318000" cy="660400"/>
          </a:xfrm>
          <a:prstGeom prst="rect">
            <a:avLst/>
          </a:prstGeom>
          <a:noFill/>
          <a:ln/>
        </p:spPr>
        <p:txBody>
          <a:bodyPr wrap="square" lIns="0" tIns="0" rIns="0" bIns="0" rtlCol="0" anchor="t"/>
          <a:lstStyle/>
          <a:p>
            <a:pPr algn="l">
              <a:lnSpc>
                <a:spcPct val="140000"/>
              </a:lnSpc>
            </a:pPr>
            <a:r>
              <a:rPr lang="en-US" sz="1400" b="1" dirty="0">
                <a:solidFill>
                  <a:srgbClr val="2C2C2C"/>
                </a:solidFill>
                <a:latin typeface="Liter" pitchFamily="34" charset="0"/>
                <a:ea typeface="Liter" pitchFamily="34" charset="-122"/>
                <a:cs typeface="Liter" pitchFamily="34" charset="-120"/>
              </a:rPr>
              <a:t>Saved Per Rep/Week</a:t>
            </a:r>
            <a:endParaRPr lang="en-US" sz="1400" dirty="0"/>
          </a:p>
          <a:p>
            <a:pPr algn="l">
              <a:lnSpc>
                <a:spcPct val="140000"/>
              </a:lnSpc>
            </a:pPr>
            <a:r>
              <a:rPr lang="en-US" sz="1300" dirty="0">
                <a:solidFill>
                  <a:srgbClr val="888888"/>
                </a:solidFill>
                <a:latin typeface="Liter" pitchFamily="34" charset="0"/>
                <a:ea typeface="Liter" pitchFamily="34" charset="-122"/>
                <a:cs typeface="Liter" pitchFamily="34" charset="-120"/>
              </a:rPr>
              <a:t>On admin and research tasks</a:t>
            </a:r>
            <a:endParaRPr lang="en-US" sz="1400" dirty="0"/>
          </a:p>
        </p:txBody>
      </p:sp>
      <p:sp>
        <p:nvSpPr>
          <p:cNvPr id="13" name="Shape 11"/>
          <p:cNvSpPr/>
          <p:nvPr/>
        </p:nvSpPr>
        <p:spPr>
          <a:xfrm>
            <a:off x="5334000" y="1193800"/>
            <a:ext cx="0" cy="6858000"/>
          </a:xfrm>
          <a:prstGeom prst="straightConnector1">
            <a:avLst/>
          </a:prstGeom>
          <a:noFill/>
          <a:ln w="12700">
            <a:solidFill>
              <a:srgbClr val="DDDDDD"/>
            </a:solidFill>
            <a:prstDash val="solid"/>
            <a:headEnd type="none"/>
            <a:tailEnd type="none"/>
          </a:ln>
        </p:spPr>
      </p:sp>
      <p:sp>
        <p:nvSpPr>
          <p:cNvPr id="14" name="Text 12"/>
          <p:cNvSpPr/>
          <p:nvPr/>
        </p:nvSpPr>
        <p:spPr>
          <a:xfrm>
            <a:off x="5588000" y="1270000"/>
            <a:ext cx="6350000" cy="330200"/>
          </a:xfrm>
          <a:prstGeom prst="rect">
            <a:avLst/>
          </a:prstGeom>
          <a:noFill/>
          <a:ln/>
        </p:spPr>
        <p:txBody>
          <a:bodyPr wrap="none" lIns="0" tIns="0" rIns="0" bIns="0" rtlCol="0" anchor="ctr"/>
          <a:lstStyle/>
          <a:p>
            <a:pPr algn="l">
              <a:lnSpc>
                <a:spcPct val="120000"/>
              </a:lnSpc>
            </a:pPr>
            <a:r>
              <a:rPr lang="en-US" sz="1400" b="1" dirty="0">
                <a:solidFill>
                  <a:srgbClr val="2C2C2C"/>
                </a:solidFill>
                <a:latin typeface="Liter" pitchFamily="34" charset="0"/>
                <a:ea typeface="Liter" pitchFamily="34" charset="-122"/>
                <a:cs typeface="Liter" pitchFamily="34" charset="-120"/>
              </a:rPr>
              <a:t>Why Startups Are the Best Candidates for AI GTM</a:t>
            </a:r>
            <a:endParaRPr lang="en-US" sz="1400" dirty="0"/>
          </a:p>
        </p:txBody>
      </p:sp>
      <p:sp>
        <p:nvSpPr>
          <p:cNvPr id="15" name="Shape 13"/>
          <p:cNvSpPr/>
          <p:nvPr/>
        </p:nvSpPr>
        <p:spPr>
          <a:xfrm>
            <a:off x="5588000" y="1701800"/>
            <a:ext cx="4826000" cy="1524000"/>
          </a:xfrm>
          <a:prstGeom prst="rect">
            <a:avLst/>
          </a:prstGeom>
          <a:solidFill>
            <a:srgbClr val="FFFFFF"/>
          </a:solidFill>
          <a:ln w="12700">
            <a:solidFill>
              <a:srgbClr val="DDDDDD"/>
            </a:solidFill>
            <a:prstDash val="solid"/>
          </a:ln>
        </p:spPr>
      </p:sp>
      <p:sp>
        <p:nvSpPr>
          <p:cNvPr id="16" name="Shape 14"/>
          <p:cNvSpPr/>
          <p:nvPr/>
        </p:nvSpPr>
        <p:spPr>
          <a:xfrm>
            <a:off x="5588000" y="1701800"/>
            <a:ext cx="50800" cy="1524000"/>
          </a:xfrm>
          <a:prstGeom prst="rect">
            <a:avLst/>
          </a:prstGeom>
          <a:solidFill>
            <a:srgbClr val="D91E18"/>
          </a:solidFill>
          <a:ln/>
        </p:spPr>
      </p:sp>
      <p:sp>
        <p:nvSpPr>
          <p:cNvPr id="17" name="Text 15"/>
          <p:cNvSpPr/>
          <p:nvPr/>
        </p:nvSpPr>
        <p:spPr>
          <a:xfrm>
            <a:off x="5765800" y="1778000"/>
            <a:ext cx="4521200" cy="1371600"/>
          </a:xfrm>
          <a:prstGeom prst="rect">
            <a:avLst/>
          </a:prstGeom>
          <a:noFill/>
          <a:ln/>
        </p:spPr>
        <p:txBody>
          <a:bodyPr wrap="square" lIns="0" tIns="0" rIns="0" bIns="0" rtlCol="0" anchor="t"/>
          <a:lstStyle/>
          <a:p>
            <a:pPr algn="l">
              <a:lnSpc>
                <a:spcPct val="155000"/>
              </a:lnSpc>
            </a:pPr>
            <a:r>
              <a:rPr lang="en-US" sz="1300" b="1" dirty="0">
                <a:solidFill>
                  <a:srgbClr val="D91E18"/>
                </a:solidFill>
                <a:latin typeface="MiSans" pitchFamily="34" charset="0"/>
                <a:ea typeface="MiSans" pitchFamily="34" charset="-122"/>
                <a:cs typeface="MiSans" pitchFamily="34" charset="-120"/>
              </a:rPr>
              <a:t>Smaller Teams</a:t>
            </a:r>
            <a:endParaRPr lang="en-US" sz="1300" dirty="0"/>
          </a:p>
          <a:p>
            <a:pPr algn="l">
              <a:lnSpc>
                <a:spcPct val="155000"/>
              </a:lnSpc>
            </a:pPr>
            <a:r>
              <a:rPr lang="en-US" sz="1300" dirty="0">
                <a:solidFill>
                  <a:srgbClr val="2C2C2C"/>
                </a:solidFill>
                <a:latin typeface="MiSans" pitchFamily="34" charset="0"/>
                <a:ea typeface="MiSans" pitchFamily="34" charset="-122"/>
                <a:cs typeface="MiSans" pitchFamily="34" charset="-120"/>
              </a:rPr>
              <a:t>Every hour counts. AI gives startups a force multiplier that enterprise teams get from headcount.</a:t>
            </a:r>
            <a:endParaRPr lang="en-US" sz="1300" dirty="0"/>
          </a:p>
        </p:txBody>
      </p:sp>
      <p:sp>
        <p:nvSpPr>
          <p:cNvPr id="18" name="Shape 16"/>
          <p:cNvSpPr/>
          <p:nvPr/>
        </p:nvSpPr>
        <p:spPr>
          <a:xfrm>
            <a:off x="10668000" y="1701800"/>
            <a:ext cx="4953000" cy="1524000"/>
          </a:xfrm>
          <a:prstGeom prst="rect">
            <a:avLst/>
          </a:prstGeom>
          <a:solidFill>
            <a:srgbClr val="FFFFFF"/>
          </a:solidFill>
          <a:ln w="12700">
            <a:solidFill>
              <a:srgbClr val="DDDDDD"/>
            </a:solidFill>
            <a:prstDash val="solid"/>
          </a:ln>
        </p:spPr>
      </p:sp>
      <p:sp>
        <p:nvSpPr>
          <p:cNvPr id="19" name="Shape 17"/>
          <p:cNvSpPr/>
          <p:nvPr/>
        </p:nvSpPr>
        <p:spPr>
          <a:xfrm>
            <a:off x="10668000" y="1701800"/>
            <a:ext cx="50800" cy="1524000"/>
          </a:xfrm>
          <a:prstGeom prst="rect">
            <a:avLst/>
          </a:prstGeom>
          <a:solidFill>
            <a:srgbClr val="D91E18"/>
          </a:solidFill>
          <a:ln/>
        </p:spPr>
      </p:sp>
      <p:sp>
        <p:nvSpPr>
          <p:cNvPr id="20" name="Text 18"/>
          <p:cNvSpPr/>
          <p:nvPr/>
        </p:nvSpPr>
        <p:spPr>
          <a:xfrm>
            <a:off x="10845800" y="1778000"/>
            <a:ext cx="4648200" cy="1371600"/>
          </a:xfrm>
          <a:prstGeom prst="rect">
            <a:avLst/>
          </a:prstGeom>
          <a:noFill/>
          <a:ln/>
        </p:spPr>
        <p:txBody>
          <a:bodyPr wrap="square" lIns="0" tIns="0" rIns="0" bIns="0" rtlCol="0" anchor="t"/>
          <a:lstStyle/>
          <a:p>
            <a:pPr algn="l">
              <a:lnSpc>
                <a:spcPct val="155000"/>
              </a:lnSpc>
            </a:pPr>
            <a:r>
              <a:rPr lang="en-US" sz="1300" b="1" dirty="0">
                <a:solidFill>
                  <a:srgbClr val="D91E18"/>
                </a:solidFill>
                <a:latin typeface="MiSans" pitchFamily="34" charset="0"/>
                <a:ea typeface="MiSans" pitchFamily="34" charset="-122"/>
                <a:cs typeface="MiSans" pitchFamily="34" charset="-120"/>
              </a:rPr>
              <a:t>No Legacy Processes</a:t>
            </a:r>
            <a:endParaRPr lang="en-US" sz="1300" dirty="0"/>
          </a:p>
          <a:p>
            <a:pPr algn="l">
              <a:lnSpc>
                <a:spcPct val="155000"/>
              </a:lnSpc>
            </a:pPr>
            <a:r>
              <a:rPr lang="en-US" sz="1300" dirty="0">
                <a:solidFill>
                  <a:srgbClr val="2C2C2C"/>
                </a:solidFill>
                <a:latin typeface="MiSans" pitchFamily="34" charset="0"/>
                <a:ea typeface="MiSans" pitchFamily="34" charset="-122"/>
                <a:cs typeface="MiSans" pitchFamily="34" charset="-120"/>
              </a:rPr>
              <a:t>No enterprise baggage. Adopt new tools quickly and customize from scratch without migration pain.</a:t>
            </a:r>
            <a:endParaRPr lang="en-US" sz="1300" dirty="0"/>
          </a:p>
        </p:txBody>
      </p:sp>
      <p:sp>
        <p:nvSpPr>
          <p:cNvPr id="21" name="Shape 19"/>
          <p:cNvSpPr/>
          <p:nvPr/>
        </p:nvSpPr>
        <p:spPr>
          <a:xfrm>
            <a:off x="5588000" y="3429000"/>
            <a:ext cx="4826000" cy="1524000"/>
          </a:xfrm>
          <a:prstGeom prst="rect">
            <a:avLst/>
          </a:prstGeom>
          <a:solidFill>
            <a:srgbClr val="FFFFFF"/>
          </a:solidFill>
          <a:ln w="12700">
            <a:solidFill>
              <a:srgbClr val="DDDDDD"/>
            </a:solidFill>
            <a:prstDash val="solid"/>
          </a:ln>
        </p:spPr>
      </p:sp>
      <p:sp>
        <p:nvSpPr>
          <p:cNvPr id="22" name="Shape 20"/>
          <p:cNvSpPr/>
          <p:nvPr/>
        </p:nvSpPr>
        <p:spPr>
          <a:xfrm>
            <a:off x="5588000" y="3429000"/>
            <a:ext cx="50800" cy="1524000"/>
          </a:xfrm>
          <a:prstGeom prst="rect">
            <a:avLst/>
          </a:prstGeom>
          <a:solidFill>
            <a:srgbClr val="D91E18"/>
          </a:solidFill>
          <a:ln/>
        </p:spPr>
      </p:sp>
      <p:sp>
        <p:nvSpPr>
          <p:cNvPr id="23" name="Text 21"/>
          <p:cNvSpPr/>
          <p:nvPr/>
        </p:nvSpPr>
        <p:spPr>
          <a:xfrm>
            <a:off x="5765800" y="3505200"/>
            <a:ext cx="4521200" cy="1371600"/>
          </a:xfrm>
          <a:prstGeom prst="rect">
            <a:avLst/>
          </a:prstGeom>
          <a:noFill/>
          <a:ln/>
        </p:spPr>
        <p:txBody>
          <a:bodyPr wrap="square" lIns="0" tIns="0" rIns="0" bIns="0" rtlCol="0" anchor="t"/>
          <a:lstStyle/>
          <a:p>
            <a:pPr algn="l">
              <a:lnSpc>
                <a:spcPct val="155000"/>
              </a:lnSpc>
            </a:pPr>
            <a:r>
              <a:rPr lang="en-US" sz="1300" b="1" dirty="0">
                <a:solidFill>
                  <a:srgbClr val="D91E18"/>
                </a:solidFill>
                <a:latin typeface="MiSans" pitchFamily="34" charset="0"/>
                <a:ea typeface="MiSans" pitchFamily="34" charset="-122"/>
                <a:cs typeface="MiSans" pitchFamily="34" charset="-120"/>
              </a:rPr>
              <a:t>Speed Advantage</a:t>
            </a:r>
            <a:endParaRPr lang="en-US" sz="1300" dirty="0"/>
          </a:p>
          <a:p>
            <a:pPr algn="l">
              <a:lnSpc>
                <a:spcPct val="155000"/>
              </a:lnSpc>
            </a:pPr>
            <a:r>
              <a:rPr lang="en-US" sz="1300" dirty="0">
                <a:solidFill>
                  <a:srgbClr val="2C2C2C"/>
                </a:solidFill>
                <a:latin typeface="MiSans" pitchFamily="34" charset="0"/>
                <a:ea typeface="MiSans" pitchFamily="34" charset="-122"/>
                <a:cs typeface="MiSans" pitchFamily="34" charset="-120"/>
              </a:rPr>
              <a:t>Startups move faster than enterprise rollouts. Test, learn, and iterate on AI tools in days, not quarters.</a:t>
            </a:r>
            <a:endParaRPr lang="en-US" sz="1300" dirty="0"/>
          </a:p>
        </p:txBody>
      </p:sp>
      <p:sp>
        <p:nvSpPr>
          <p:cNvPr id="24" name="Shape 22"/>
          <p:cNvSpPr/>
          <p:nvPr/>
        </p:nvSpPr>
        <p:spPr>
          <a:xfrm>
            <a:off x="10668000" y="3429000"/>
            <a:ext cx="4953000" cy="1524000"/>
          </a:xfrm>
          <a:prstGeom prst="rect">
            <a:avLst/>
          </a:prstGeom>
          <a:solidFill>
            <a:srgbClr val="FFFFFF"/>
          </a:solidFill>
          <a:ln w="12700">
            <a:solidFill>
              <a:srgbClr val="DDDDDD"/>
            </a:solidFill>
            <a:prstDash val="solid"/>
          </a:ln>
        </p:spPr>
      </p:sp>
      <p:sp>
        <p:nvSpPr>
          <p:cNvPr id="25" name="Shape 23"/>
          <p:cNvSpPr/>
          <p:nvPr/>
        </p:nvSpPr>
        <p:spPr>
          <a:xfrm>
            <a:off x="10668000" y="3429000"/>
            <a:ext cx="50800" cy="1524000"/>
          </a:xfrm>
          <a:prstGeom prst="rect">
            <a:avLst/>
          </a:prstGeom>
          <a:solidFill>
            <a:srgbClr val="D91E18"/>
          </a:solidFill>
          <a:ln/>
        </p:spPr>
      </p:sp>
      <p:sp>
        <p:nvSpPr>
          <p:cNvPr id="26" name="Text 24"/>
          <p:cNvSpPr/>
          <p:nvPr/>
        </p:nvSpPr>
        <p:spPr>
          <a:xfrm>
            <a:off x="10845800" y="3505200"/>
            <a:ext cx="4648200" cy="1371600"/>
          </a:xfrm>
          <a:prstGeom prst="rect">
            <a:avLst/>
          </a:prstGeom>
          <a:noFill/>
          <a:ln/>
        </p:spPr>
        <p:txBody>
          <a:bodyPr wrap="square" lIns="0" tIns="0" rIns="0" bIns="0" rtlCol="0" anchor="t"/>
          <a:lstStyle/>
          <a:p>
            <a:pPr algn="l">
              <a:lnSpc>
                <a:spcPct val="155000"/>
              </a:lnSpc>
            </a:pPr>
            <a:r>
              <a:rPr lang="en-US" sz="1300" b="1" dirty="0">
                <a:solidFill>
                  <a:srgbClr val="D91E18"/>
                </a:solidFill>
                <a:latin typeface="MiSans" pitchFamily="34" charset="0"/>
                <a:ea typeface="MiSans" pitchFamily="34" charset="-122"/>
                <a:cs typeface="MiSans" pitchFamily="34" charset="-120"/>
              </a:rPr>
              <a:t>Measurable Results</a:t>
            </a:r>
            <a:endParaRPr lang="en-US" sz="1300" dirty="0"/>
          </a:p>
          <a:p>
            <a:pPr algn="l">
              <a:lnSpc>
                <a:spcPct val="155000"/>
              </a:lnSpc>
            </a:pPr>
            <a:r>
              <a:rPr lang="en-US" sz="1300" dirty="0">
                <a:solidFill>
                  <a:srgbClr val="2C2C2C"/>
                </a:solidFill>
                <a:latin typeface="MiSans" pitchFamily="34" charset="0"/>
                <a:ea typeface="MiSans" pitchFamily="34" charset="-122"/>
                <a:cs typeface="MiSans" pitchFamily="34" charset="-120"/>
              </a:rPr>
              <a:t>AI GTM delivers quantifiable outcomes fast. See ROI in weeks, not fiscal years. Perfect for runway.</a:t>
            </a:r>
            <a:endParaRPr lang="en-US" sz="1300" dirty="0"/>
          </a:p>
        </p:txBody>
      </p:sp>
      <p:sp>
        <p:nvSpPr>
          <p:cNvPr id="27" name="Text 25"/>
          <p:cNvSpPr/>
          <p:nvPr/>
        </p:nvSpPr>
        <p:spPr>
          <a:xfrm>
            <a:off x="5588000" y="5207000"/>
            <a:ext cx="10033000" cy="12700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AI GTM Agents vs Traditional Automation:</a:t>
            </a:r>
            <a:pPr algn="l">
              <a:lnSpc>
                <a:spcPct val="160000"/>
              </a:lnSpc>
            </a:pPr>
            <a:r>
              <a:rPr lang="en-US" sz="1300" dirty="0">
                <a:solidFill>
                  <a:srgbClr val="2C2C2C"/>
                </a:solidFill>
                <a:latin typeface="MiSans" pitchFamily="34" charset="0"/>
                <a:ea typeface="MiSans" pitchFamily="34" charset="-122"/>
                <a:cs typeface="MiSans" pitchFamily="34" charset="-120"/>
              </a:rPr>
              <a:t> Traditional automation follows fixed if-then rules. AI GTM agents make decisions based on context, learn from outcomes, and adapt their behavior. An AI SDR can prioritize leads, change messaging based on engagement, and schedule follow-ups autonomously — far more flexible for complex, multi-step go-to-market workflows.</a:t>
            </a:r>
            <a:endParaRPr lang="en-US" sz="1300" dirty="0"/>
          </a:p>
        </p:txBody>
      </p:sp>
      <p:sp>
        <p:nvSpPr>
          <p:cNvPr id="28" name="Shape 26"/>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29" name="Text 27"/>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Miniloop AI GTM Automation Guide 2026</a:t>
            </a:r>
            <a:endParaRPr lang="en-US" sz="1300" dirty="0"/>
          </a:p>
        </p:txBody>
      </p:sp>
      <p:sp>
        <p:nvSpPr>
          <p:cNvPr id="30" name="Text 28"/>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12</a:t>
            </a:r>
            <a:endParaRPr lang="en-US" sz="12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AI marketing tools now cover the full funnel — from ideation to distribution</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34% BETTER CONTENT | 56% FASTER CREATION | 40% HIGHER CONVERSION</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35000" y="1270000"/>
          <a:ext cx="14986000" cy="4826000"/>
        </p:xfrm>
        <a:graphic>
          <a:graphicData uri="http://schemas.openxmlformats.org/drawingml/2006/table">
            <a:tbl>
              <a:tblPr/>
              <a:tblGrid>
                <a:gridCol w="2697480"/>
                <a:gridCol w="3296920"/>
                <a:gridCol w="2997200"/>
                <a:gridCol w="2997200"/>
                <a:gridCol w="2997200"/>
              </a:tblGrid>
              <a:tr h="579120">
                <a:tc>
                  <a:txBody>
                    <a:bodyPr/>
                    <a:lstStyle/>
                    <a:p>
                      <a:pPr algn="ctr"/>
                      <a:r>
                        <a:rPr lang="en-US" sz="1300" b="1" dirty="0">
                          <a:solidFill>
                            <a:srgbClr val="FFFFFF"/>
                          </a:solidFill>
                          <a:latin typeface="Liter" pitchFamily="34" charset="0"/>
                          <a:ea typeface="Liter" pitchFamily="34" charset="-122"/>
                          <a:cs typeface="Liter" pitchFamily="34" charset="-120"/>
                        </a:rPr>
                        <a:t>Tool</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Best For</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Starting Price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Key Strength</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GTM Use Case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r>
              <a:tr h="849376">
                <a:tc>
                  <a:txBody>
                    <a:bodyPr/>
                    <a:lstStyle/>
                    <a:p>
                      <a:pPr algn="l"/>
                      <a:r>
                        <a:rPr lang="en-US" sz="1300" b="1" dirty="0">
                          <a:solidFill>
                            <a:srgbClr val="2C2C2C"/>
                          </a:solidFill>
                          <a:latin typeface="Liter" pitchFamily="34" charset="0"/>
                          <a:ea typeface="Liter" pitchFamily="34" charset="-122"/>
                          <a:cs typeface="Liter" pitchFamily="34" charset="-120"/>
                        </a:rPr>
                        <a:t>ChatGPT</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a:r>
                        <a:rPr lang="en-US" sz="1300" dirty="0">
                          <a:solidFill>
                            <a:srgbClr val="2C2C2C"/>
                          </a:solidFill>
                          <a:latin typeface="Liter" pitchFamily="34" charset="0"/>
                          <a:ea typeface="Liter" pitchFamily="34" charset="-122"/>
                          <a:cs typeface="Liter" pitchFamily="34" charset="-120"/>
                        </a:rPr>
                        <a:t>Content, scripts, code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Free / $20/mo</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a:r>
                        <a:rPr lang="en-US" sz="1300" dirty="0">
                          <a:solidFill>
                            <a:srgbClr val="2C2C2C"/>
                          </a:solidFill>
                          <a:latin typeface="Liter" pitchFamily="34" charset="0"/>
                          <a:ea typeface="Liter" pitchFamily="34" charset="-122"/>
                          <a:cs typeface="Liter" pitchFamily="34" charset="-120"/>
                        </a:rPr>
                        <a:t>Versatile NLP workflows</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a:r>
                        <a:rPr lang="en-US" sz="1300" dirty="0">
                          <a:solidFill>
                            <a:srgbClr val="2C2C2C"/>
                          </a:solidFill>
                          <a:latin typeface="Liter" pitchFamily="34" charset="0"/>
                          <a:ea typeface="Liter" pitchFamily="34" charset="-122"/>
                          <a:cs typeface="Liter" pitchFamily="34" charset="-120"/>
                        </a:rPr>
                        <a:t>Email drafts, sales scripts</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849376">
                <a:tc>
                  <a:txBody>
                    <a:bodyPr/>
                    <a:lstStyle/>
                    <a:p>
                      <a:pPr algn="l"/>
                      <a:r>
                        <a:rPr lang="en-US" sz="1300" b="1" dirty="0">
                          <a:solidFill>
                            <a:srgbClr val="2C2C2C"/>
                          </a:solidFill>
                          <a:latin typeface="Liter" pitchFamily="34" charset="0"/>
                          <a:ea typeface="Liter" pitchFamily="34" charset="-122"/>
                          <a:cs typeface="Liter" pitchFamily="34" charset="-120"/>
                        </a:rPr>
                        <a:t>Copy.ai</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l"/>
                      <a:r>
                        <a:rPr lang="en-US" sz="1300" dirty="0">
                          <a:solidFill>
                            <a:srgbClr val="2C2C2C"/>
                          </a:solidFill>
                          <a:latin typeface="Liter" pitchFamily="34" charset="0"/>
                          <a:ea typeface="Liter" pitchFamily="34" charset="-122"/>
                          <a:cs typeface="Liter" pitchFamily="34" charset="-120"/>
                        </a:rPr>
                        <a:t>GTM workflow automation</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D91E18"/>
                          </a:solidFill>
                          <a:latin typeface="Liter" pitchFamily="34" charset="0"/>
                          <a:ea typeface="Liter" pitchFamily="34" charset="-122"/>
                          <a:cs typeface="Liter" pitchFamily="34" charset="-120"/>
                        </a:rPr>
                        <a:t>Free / $49/mo</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l"/>
                      <a:r>
                        <a:rPr lang="en-US" sz="1300" dirty="0">
                          <a:solidFill>
                            <a:srgbClr val="2C2C2C"/>
                          </a:solidFill>
                          <a:latin typeface="Liter" pitchFamily="34" charset="0"/>
                          <a:ea typeface="Liter" pitchFamily="34" charset="-122"/>
                          <a:cs typeface="Liter" pitchFamily="34" charset="-120"/>
                        </a:rPr>
                        <a:t>2,000+ integrations</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l"/>
                      <a:r>
                        <a:rPr lang="en-US" sz="1300" dirty="0">
                          <a:solidFill>
                            <a:srgbClr val="2C2C2C"/>
                          </a:solidFill>
                          <a:latin typeface="Liter" pitchFamily="34" charset="0"/>
                          <a:ea typeface="Liter" pitchFamily="34" charset="-122"/>
                          <a:cs typeface="Liter" pitchFamily="34" charset="-120"/>
                        </a:rPr>
                        <a:t>Email campaigns, blog drafting</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r>
              <a:tr h="849376">
                <a:tc>
                  <a:txBody>
                    <a:bodyPr/>
                    <a:lstStyle/>
                    <a:p>
                      <a:pPr algn="l"/>
                      <a:r>
                        <a:rPr lang="en-US" sz="1300" b="1" dirty="0">
                          <a:solidFill>
                            <a:srgbClr val="2C2C2C"/>
                          </a:solidFill>
                          <a:latin typeface="Liter" pitchFamily="34" charset="0"/>
                          <a:ea typeface="Liter" pitchFamily="34" charset="-122"/>
                          <a:cs typeface="Liter" pitchFamily="34" charset="-120"/>
                        </a:rPr>
                        <a:t>Jasper</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a:r>
                        <a:rPr lang="en-US" sz="1300" dirty="0">
                          <a:solidFill>
                            <a:srgbClr val="2C2C2C"/>
                          </a:solidFill>
                          <a:latin typeface="Liter" pitchFamily="34" charset="0"/>
                          <a:ea typeface="Liter" pitchFamily="34" charset="-122"/>
                          <a:cs typeface="Liter" pitchFamily="34" charset="-120"/>
                        </a:rPr>
                        <a:t>Content at scale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$49/user/mo</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a:r>
                        <a:rPr lang="en-US" sz="1300" dirty="0">
                          <a:solidFill>
                            <a:srgbClr val="2C2C2C"/>
                          </a:solidFill>
                          <a:latin typeface="Liter" pitchFamily="34" charset="0"/>
                          <a:ea typeface="Liter" pitchFamily="34" charset="-122"/>
                          <a:cs typeface="Liter" pitchFamily="34" charset="-120"/>
                        </a:rPr>
                        <a:t>30+ languages, Brand Voice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a:r>
                        <a:rPr lang="en-US" sz="1300" dirty="0">
                          <a:solidFill>
                            <a:srgbClr val="2C2C2C"/>
                          </a:solidFill>
                          <a:latin typeface="Liter" pitchFamily="34" charset="0"/>
                          <a:ea typeface="Liter" pitchFamily="34" charset="-122"/>
                          <a:cs typeface="Liter" pitchFamily="34" charset="-120"/>
                        </a:rPr>
                        <a:t>Multi-language content ops</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849376">
                <a:tc>
                  <a:txBody>
                    <a:bodyPr/>
                    <a:lstStyle/>
                    <a:p>
                      <a:pPr algn="l"/>
                      <a:r>
                        <a:rPr lang="en-US" sz="1300" b="1" dirty="0">
                          <a:solidFill>
                            <a:srgbClr val="2C2C2C"/>
                          </a:solidFill>
                          <a:latin typeface="Liter" pitchFamily="34" charset="0"/>
                          <a:ea typeface="Liter" pitchFamily="34" charset="-122"/>
                          <a:cs typeface="Liter" pitchFamily="34" charset="-120"/>
                        </a:rPr>
                        <a:t>Gamma.app</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l"/>
                      <a:r>
                        <a:rPr lang="en-US" sz="1300" dirty="0">
                          <a:solidFill>
                            <a:srgbClr val="2C2C2C"/>
                          </a:solidFill>
                          <a:latin typeface="Liter" pitchFamily="34" charset="0"/>
                          <a:ea typeface="Liter" pitchFamily="34" charset="-122"/>
                          <a:cs typeface="Liter" pitchFamily="34" charset="-120"/>
                        </a:rPr>
                        <a:t>Presentations, proposals</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2C2C2C"/>
                          </a:solidFill>
                          <a:latin typeface="Liter" pitchFamily="34" charset="0"/>
                          <a:ea typeface="Liter" pitchFamily="34" charset="-122"/>
                          <a:cs typeface="Liter" pitchFamily="34" charset="-120"/>
                        </a:rPr>
                        <a:t>Free / $8/mo</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l"/>
                      <a:r>
                        <a:rPr lang="en-US" sz="1300" dirty="0">
                          <a:solidFill>
                            <a:srgbClr val="2C2C2C"/>
                          </a:solidFill>
                          <a:latin typeface="Liter" pitchFamily="34" charset="0"/>
                          <a:ea typeface="Liter" pitchFamily="34" charset="-122"/>
                          <a:cs typeface="Liter" pitchFamily="34" charset="-120"/>
                        </a:rPr>
                        <a:t>Fast visual storytelling</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l"/>
                      <a:r>
                        <a:rPr lang="en-US" sz="1300" dirty="0">
                          <a:solidFill>
                            <a:srgbClr val="2C2C2C"/>
                          </a:solidFill>
                          <a:latin typeface="Liter" pitchFamily="34" charset="0"/>
                          <a:ea typeface="Liter" pitchFamily="34" charset="-122"/>
                          <a:cs typeface="Liter" pitchFamily="34" charset="-120"/>
                        </a:rPr>
                        <a:t>Pitch decks, sales collateral</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r>
              <a:tr h="849376">
                <a:tc>
                  <a:txBody>
                    <a:bodyPr/>
                    <a:lstStyle/>
                    <a:p>
                      <a:pPr algn="l"/>
                      <a:r>
                        <a:rPr lang="en-US" sz="1300" b="1" dirty="0">
                          <a:solidFill>
                            <a:srgbClr val="2C2C2C"/>
                          </a:solidFill>
                          <a:latin typeface="Liter" pitchFamily="34" charset="0"/>
                          <a:ea typeface="Liter" pitchFamily="34" charset="-122"/>
                          <a:cs typeface="Liter" pitchFamily="34" charset="-120"/>
                        </a:rPr>
                        <a:t>Veo3</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a:r>
                        <a:rPr lang="en-US" sz="1300" dirty="0">
                          <a:solidFill>
                            <a:srgbClr val="2C2C2C"/>
                          </a:solidFill>
                          <a:latin typeface="Liter" pitchFamily="34" charset="0"/>
                          <a:ea typeface="Liter" pitchFamily="34" charset="-122"/>
                          <a:cs typeface="Liter" pitchFamily="34" charset="-120"/>
                        </a:rPr>
                        <a:t>Video creation</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Usage-based</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a:r>
                        <a:rPr lang="en-US" sz="1300" dirty="0">
                          <a:solidFill>
                            <a:srgbClr val="2C2C2C"/>
                          </a:solidFill>
                          <a:latin typeface="Liter" pitchFamily="34" charset="0"/>
                          <a:ea typeface="Liter" pitchFamily="34" charset="-122"/>
                          <a:cs typeface="Liter" pitchFamily="34" charset="-120"/>
                        </a:rPr>
                        <a:t>Automated production</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a:r>
                        <a:rPr lang="en-US" sz="1300" dirty="0">
                          <a:solidFill>
                            <a:srgbClr val="2C2C2C"/>
                          </a:solidFill>
                          <a:latin typeface="Liter" pitchFamily="34" charset="0"/>
                          <a:ea typeface="Liter" pitchFamily="34" charset="-122"/>
                          <a:cs typeface="Liter" pitchFamily="34" charset="-120"/>
                        </a:rPr>
                        <a:t>Product demos, social video</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p:nvPr/>
        </p:nvSpPr>
        <p:spPr>
          <a:xfrm>
            <a:off x="635000" y="6350000"/>
            <a:ext cx="3175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34%</a:t>
            </a:r>
            <a:endParaRPr lang="en-US" sz="3600" dirty="0"/>
          </a:p>
        </p:txBody>
      </p:sp>
      <p:sp>
        <p:nvSpPr>
          <p:cNvPr id="7" name="Text 4"/>
          <p:cNvSpPr/>
          <p:nvPr/>
        </p:nvSpPr>
        <p:spPr>
          <a:xfrm>
            <a:off x="635000" y="6985000"/>
            <a:ext cx="3175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Better content performance</a:t>
            </a:r>
            <a:endParaRPr lang="en-US" sz="1300" dirty="0"/>
          </a:p>
        </p:txBody>
      </p:sp>
      <p:sp>
        <p:nvSpPr>
          <p:cNvPr id="8" name="Text 5"/>
          <p:cNvSpPr/>
          <p:nvPr/>
        </p:nvSpPr>
        <p:spPr>
          <a:xfrm>
            <a:off x="4064000" y="6350000"/>
            <a:ext cx="3175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56%</a:t>
            </a:r>
            <a:endParaRPr lang="en-US" sz="3600" dirty="0"/>
          </a:p>
        </p:txBody>
      </p:sp>
      <p:sp>
        <p:nvSpPr>
          <p:cNvPr id="9" name="Text 6"/>
          <p:cNvSpPr/>
          <p:nvPr/>
        </p:nvSpPr>
        <p:spPr>
          <a:xfrm>
            <a:off x="4064000" y="6985000"/>
            <a:ext cx="3175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Faster content creation</a:t>
            </a:r>
            <a:endParaRPr lang="en-US" sz="1300" dirty="0"/>
          </a:p>
        </p:txBody>
      </p:sp>
      <p:sp>
        <p:nvSpPr>
          <p:cNvPr id="10" name="Text 7"/>
          <p:cNvSpPr/>
          <p:nvPr/>
        </p:nvSpPr>
        <p:spPr>
          <a:xfrm>
            <a:off x="7493000" y="6350000"/>
            <a:ext cx="3175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40%</a:t>
            </a:r>
            <a:endParaRPr lang="en-US" sz="3600" dirty="0"/>
          </a:p>
        </p:txBody>
      </p:sp>
      <p:sp>
        <p:nvSpPr>
          <p:cNvPr id="11" name="Text 8"/>
          <p:cNvSpPr/>
          <p:nvPr/>
        </p:nvSpPr>
        <p:spPr>
          <a:xfrm>
            <a:off x="7493000" y="6985000"/>
            <a:ext cx="3175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Higher conversion with AI targeting</a:t>
            </a:r>
            <a:endParaRPr lang="en-US" sz="1300" dirty="0"/>
          </a:p>
        </p:txBody>
      </p:sp>
      <p:sp>
        <p:nvSpPr>
          <p:cNvPr id="12" name="Text 9"/>
          <p:cNvSpPr/>
          <p:nvPr/>
        </p:nvSpPr>
        <p:spPr>
          <a:xfrm>
            <a:off x="10922000" y="6350000"/>
            <a:ext cx="3175000" cy="635000"/>
          </a:xfrm>
          <a:prstGeom prst="rect">
            <a:avLst/>
          </a:prstGeom>
          <a:noFill/>
          <a:ln/>
        </p:spPr>
        <p:txBody>
          <a:bodyPr wrap="none" lIns="0" tIns="0" rIns="0" bIns="0" rtlCol="0" anchor="ctr"/>
          <a:lstStyle/>
          <a:p>
            <a:pPr algn="ctr">
              <a:lnSpc>
                <a:spcPct val="120000"/>
              </a:lnSpc>
            </a:pPr>
            <a:r>
              <a:rPr lang="en-US" sz="3600" b="1" dirty="0">
                <a:solidFill>
                  <a:srgbClr val="D91E18"/>
                </a:solidFill>
                <a:latin typeface="Liter" pitchFamily="34" charset="0"/>
                <a:ea typeface="Liter" pitchFamily="34" charset="-122"/>
                <a:cs typeface="Liter" pitchFamily="34" charset="-120"/>
              </a:rPr>
              <a:t>300%</a:t>
            </a:r>
            <a:endParaRPr lang="en-US" sz="3600" dirty="0"/>
          </a:p>
        </p:txBody>
      </p:sp>
      <p:sp>
        <p:nvSpPr>
          <p:cNvPr id="13" name="Text 10"/>
          <p:cNvSpPr/>
          <p:nvPr/>
        </p:nvSpPr>
        <p:spPr>
          <a:xfrm>
            <a:off x="10922000" y="6985000"/>
            <a:ext cx="4699000" cy="508000"/>
          </a:xfrm>
          <a:prstGeom prst="rect">
            <a:avLst/>
          </a:prstGeom>
          <a:noFill/>
          <a:ln/>
        </p:spPr>
        <p:txBody>
          <a:bodyPr wrap="square" lIns="0" tIns="0" rIns="0" bIns="0" rtlCol="0" anchor="t"/>
          <a:lstStyle/>
          <a:p>
            <a:pPr algn="ctr">
              <a:lnSpc>
                <a:spcPct val="120000"/>
              </a:lnSpc>
            </a:pPr>
            <a:r>
              <a:rPr lang="en-US" sz="1300" dirty="0">
                <a:solidFill>
                  <a:srgbClr val="888888"/>
                </a:solidFill>
                <a:latin typeface="Liter" pitchFamily="34" charset="0"/>
                <a:ea typeface="Liter" pitchFamily="34" charset="-122"/>
                <a:cs typeface="Liter" pitchFamily="34" charset="-120"/>
              </a:rPr>
              <a:t>Average ROI, payback &lt;6 months</a:t>
            </a:r>
            <a:endParaRPr lang="en-US" sz="1300" dirty="0"/>
          </a:p>
        </p:txBody>
      </p:sp>
      <p:sp>
        <p:nvSpPr>
          <p:cNvPr id="14" name="Shape 11"/>
          <p:cNvSpPr/>
          <p:nvPr/>
        </p:nvSpPr>
        <p:spPr>
          <a:xfrm>
            <a:off x="635000" y="7569200"/>
            <a:ext cx="14986000" cy="711200"/>
          </a:xfrm>
          <a:prstGeom prst="rect">
            <a:avLst/>
          </a:prstGeom>
          <a:solidFill>
            <a:srgbClr val="FFFFFF"/>
          </a:solidFill>
          <a:ln w="12700">
            <a:solidFill>
              <a:srgbClr val="DDDDDD"/>
            </a:solidFill>
            <a:prstDash val="solid"/>
          </a:ln>
        </p:spPr>
      </p:sp>
      <p:sp>
        <p:nvSpPr>
          <p:cNvPr id="15" name="Shape 12"/>
          <p:cNvSpPr/>
          <p:nvPr/>
        </p:nvSpPr>
        <p:spPr>
          <a:xfrm>
            <a:off x="635000" y="7569200"/>
            <a:ext cx="50800" cy="711200"/>
          </a:xfrm>
          <a:prstGeom prst="rect">
            <a:avLst/>
          </a:prstGeom>
          <a:solidFill>
            <a:srgbClr val="D91E18"/>
          </a:solidFill>
          <a:ln/>
        </p:spPr>
      </p:sp>
      <p:sp>
        <p:nvSpPr>
          <p:cNvPr id="16" name="Text 13"/>
          <p:cNvSpPr/>
          <p:nvPr/>
        </p:nvSpPr>
        <p:spPr>
          <a:xfrm>
            <a:off x="838200" y="7620000"/>
            <a:ext cx="14579600" cy="609600"/>
          </a:xfrm>
          <a:prstGeom prst="rect">
            <a:avLst/>
          </a:prstGeom>
          <a:noFill/>
          <a:ln/>
        </p:spPr>
        <p:txBody>
          <a:bodyPr wrap="square" lIns="0" tIns="0" rIns="0" bIns="0" rtlCol="0" anchor="t"/>
          <a:lstStyle/>
          <a:p>
            <a:pPr algn="l">
              <a:lnSpc>
                <a:spcPct val="150000"/>
              </a:lnSpc>
            </a:pPr>
            <a:r>
              <a:rPr lang="en-US" sz="1300" b="1" dirty="0">
                <a:solidFill>
                  <a:srgbClr val="D91E18"/>
                </a:solidFill>
                <a:latin typeface="MiSans" pitchFamily="34" charset="0"/>
                <a:ea typeface="MiSans" pitchFamily="34" charset="-122"/>
                <a:cs typeface="MiSans" pitchFamily="34" charset="-120"/>
              </a:rPr>
              <a:t>Key insight:</a:t>
            </a:r>
            <a:pPr algn="l">
              <a:lnSpc>
                <a:spcPct val="150000"/>
              </a:lnSpc>
            </a:pPr>
            <a:r>
              <a:rPr lang="en-US" sz="1300" dirty="0">
                <a:solidFill>
                  <a:srgbClr val="2C2C2C"/>
                </a:solidFill>
                <a:latin typeface="MiSans" pitchFamily="34" charset="0"/>
                <a:ea typeface="MiSans" pitchFamily="34" charset="-122"/>
                <a:cs typeface="MiSans" pitchFamily="34" charset="-120"/>
              </a:rPr>
              <a:t> AI marketing tools have evolved from simple copy generators to comprehensive GTM platforms. Copy.ai now supports 2,000+ integrations and uses multiple AI models. The key is choosing one tool per function and mastering it before expanding.</a:t>
            </a:r>
            <a:endParaRPr lang="en-US" sz="1300" dirty="0"/>
          </a:p>
        </p:txBody>
      </p:sp>
      <p:sp>
        <p:nvSpPr>
          <p:cNvPr id="17" name="Shape 14"/>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18" name="Text 15"/>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Planetary Labour AI Marketing Tools Comparison 2025</a:t>
            </a:r>
            <a:endParaRPr lang="en-US" sz="1300" dirty="0"/>
          </a:p>
        </p:txBody>
      </p:sp>
      <p:sp>
        <p:nvSpPr>
          <p:cNvPr id="19" name="Text 16"/>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13</a:t>
            </a:r>
            <a:endParaRPr lang="en-US" sz="12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AI sales automation replaces manual prospecting with intelligent outbound</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MORE SELLING TIME, LESS ADMIN WORK, HIGHER REPLY RATES</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1270000" y="1651000"/>
            <a:ext cx="381000" cy="381000"/>
          </a:xfrm>
          <a:prstGeom prst="ellipse">
            <a:avLst/>
          </a:prstGeom>
          <a:noFill/>
          <a:ln w="12700">
            <a:solidFill>
              <a:srgbClr val="2C2C2C"/>
            </a:solidFill>
            <a:prstDash val="solid"/>
          </a:ln>
        </p:spPr>
      </p:sp>
      <p:sp>
        <p:nvSpPr>
          <p:cNvPr id="6" name="Shape 4"/>
          <p:cNvSpPr/>
          <p:nvPr/>
        </p:nvSpPr>
        <p:spPr>
          <a:xfrm>
            <a:off x="1460500" y="2032000"/>
            <a:ext cx="0" cy="508000"/>
          </a:xfrm>
          <a:prstGeom prst="straightConnector1">
            <a:avLst/>
          </a:prstGeom>
          <a:noFill/>
          <a:ln w="25400">
            <a:solidFill>
              <a:srgbClr val="2C2C2C"/>
            </a:solidFill>
            <a:prstDash val="solid"/>
            <a:headEnd type="none"/>
            <a:tailEnd type="none"/>
          </a:ln>
        </p:spPr>
      </p:sp>
      <p:sp>
        <p:nvSpPr>
          <p:cNvPr id="7" name="Text 5"/>
          <p:cNvSpPr/>
          <p:nvPr/>
        </p:nvSpPr>
        <p:spPr>
          <a:xfrm>
            <a:off x="889000" y="2603500"/>
            <a:ext cx="1270000" cy="2540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Liter" pitchFamily="34" charset="0"/>
                <a:ea typeface="Liter" pitchFamily="34" charset="-122"/>
                <a:cs typeface="Liter" pitchFamily="34" charset="-120"/>
              </a:rPr>
              <a:t>AI SDR Agent</a:t>
            </a:r>
            <a:endParaRPr lang="en-US" sz="1100" dirty="0"/>
          </a:p>
        </p:txBody>
      </p:sp>
      <p:sp>
        <p:nvSpPr>
          <p:cNvPr id="8" name="Shape 6"/>
          <p:cNvSpPr/>
          <p:nvPr/>
        </p:nvSpPr>
        <p:spPr>
          <a:xfrm>
            <a:off x="1905000" y="1841500"/>
            <a:ext cx="762000" cy="0"/>
          </a:xfrm>
          <a:prstGeom prst="straightConnector1">
            <a:avLst/>
          </a:prstGeom>
          <a:noFill/>
          <a:ln w="25400">
            <a:solidFill>
              <a:srgbClr val="D91E18"/>
            </a:solidFill>
            <a:prstDash val="solid"/>
            <a:headEnd type="none"/>
            <a:tailEnd type="arrow"/>
          </a:ln>
        </p:spPr>
      </p:sp>
      <p:sp>
        <p:nvSpPr>
          <p:cNvPr id="9" name="Shape 7"/>
          <p:cNvSpPr/>
          <p:nvPr/>
        </p:nvSpPr>
        <p:spPr>
          <a:xfrm>
            <a:off x="2794000" y="1524000"/>
            <a:ext cx="1524000" cy="762000"/>
          </a:xfrm>
          <a:prstGeom prst="rect">
            <a:avLst/>
          </a:prstGeom>
          <a:noFill/>
          <a:ln w="12700">
            <a:solidFill>
              <a:srgbClr val="2C2C2C"/>
            </a:solidFill>
            <a:prstDash val="solid"/>
          </a:ln>
        </p:spPr>
      </p:sp>
      <p:sp>
        <p:nvSpPr>
          <p:cNvPr id="10" name="Text 8"/>
          <p:cNvSpPr/>
          <p:nvPr/>
        </p:nvSpPr>
        <p:spPr>
          <a:xfrm>
            <a:off x="2794000" y="1524000"/>
            <a:ext cx="1524000" cy="762000"/>
          </a:xfrm>
          <a:prstGeom prst="rect">
            <a:avLst/>
          </a:prstGeom>
          <a:noFill/>
          <a:ln/>
        </p:spPr>
        <p:txBody>
          <a:bodyPr wrap="square" lIns="0" tIns="0" rIns="0" bIns="0" rtlCol="0" anchor="ctr"/>
          <a:lstStyle/>
          <a:p>
            <a:pPr algn="ctr">
              <a:lnSpc>
                <a:spcPct val="130000"/>
              </a:lnSpc>
            </a:pPr>
            <a:r>
              <a:rPr lang="en-US" sz="1200" b="1" dirty="0">
                <a:solidFill>
                  <a:srgbClr val="2C2C2C"/>
                </a:solidFill>
                <a:latin typeface="Liter" pitchFamily="34" charset="0"/>
                <a:ea typeface="Liter" pitchFamily="34" charset="-122"/>
                <a:cs typeface="Liter" pitchFamily="34" charset="-120"/>
              </a:rPr>
              <a:t>Lead Gen</a:t>
            </a:r>
            <a:endParaRPr lang="en-US" sz="1200" dirty="0"/>
          </a:p>
          <a:p>
            <a:pPr algn="ctr">
              <a:lnSpc>
                <a:spcPct val="130000"/>
              </a:lnSpc>
            </a:pPr>
            <a:r>
              <a:rPr lang="en-US" sz="1000" dirty="0">
                <a:solidFill>
                  <a:srgbClr val="888888"/>
                </a:solidFill>
                <a:latin typeface="Liter" pitchFamily="34" charset="0"/>
                <a:ea typeface="Liter" pitchFamily="34" charset="-122"/>
                <a:cs typeface="Liter" pitchFamily="34" charset="-120"/>
              </a:rPr>
              <a:t>Clay, Apollo</a:t>
            </a:r>
            <a:endParaRPr lang="en-US" sz="1200" dirty="0"/>
          </a:p>
        </p:txBody>
      </p:sp>
      <p:sp>
        <p:nvSpPr>
          <p:cNvPr id="11" name="Shape 9"/>
          <p:cNvSpPr/>
          <p:nvPr/>
        </p:nvSpPr>
        <p:spPr>
          <a:xfrm>
            <a:off x="4445000" y="1841500"/>
            <a:ext cx="635000" cy="0"/>
          </a:xfrm>
          <a:prstGeom prst="straightConnector1">
            <a:avLst/>
          </a:prstGeom>
          <a:noFill/>
          <a:ln w="25400">
            <a:solidFill>
              <a:srgbClr val="D91E18"/>
            </a:solidFill>
            <a:prstDash val="solid"/>
            <a:headEnd type="none"/>
            <a:tailEnd type="arrow"/>
          </a:ln>
        </p:spPr>
      </p:sp>
      <p:sp>
        <p:nvSpPr>
          <p:cNvPr id="12" name="Shape 10"/>
          <p:cNvSpPr/>
          <p:nvPr/>
        </p:nvSpPr>
        <p:spPr>
          <a:xfrm>
            <a:off x="5207000" y="1524000"/>
            <a:ext cx="1524000" cy="762000"/>
          </a:xfrm>
          <a:prstGeom prst="rect">
            <a:avLst/>
          </a:prstGeom>
          <a:noFill/>
          <a:ln w="12700">
            <a:solidFill>
              <a:srgbClr val="2C2C2C"/>
            </a:solidFill>
            <a:prstDash val="solid"/>
          </a:ln>
        </p:spPr>
      </p:sp>
      <p:sp>
        <p:nvSpPr>
          <p:cNvPr id="13" name="Text 11"/>
          <p:cNvSpPr/>
          <p:nvPr/>
        </p:nvSpPr>
        <p:spPr>
          <a:xfrm>
            <a:off x="5207000" y="1524000"/>
            <a:ext cx="1524000" cy="762000"/>
          </a:xfrm>
          <a:prstGeom prst="rect">
            <a:avLst/>
          </a:prstGeom>
          <a:noFill/>
          <a:ln/>
        </p:spPr>
        <p:txBody>
          <a:bodyPr wrap="square" lIns="0" tIns="0" rIns="0" bIns="0" rtlCol="0" anchor="ctr"/>
          <a:lstStyle/>
          <a:p>
            <a:pPr algn="ctr">
              <a:lnSpc>
                <a:spcPct val="130000"/>
              </a:lnSpc>
            </a:pPr>
            <a:r>
              <a:rPr lang="en-US" sz="1200" b="1" dirty="0">
                <a:solidFill>
                  <a:srgbClr val="2C2C2C"/>
                </a:solidFill>
                <a:latin typeface="Liter" pitchFamily="34" charset="0"/>
                <a:ea typeface="Liter" pitchFamily="34" charset="-122"/>
                <a:cs typeface="Liter" pitchFamily="34" charset="-120"/>
              </a:rPr>
              <a:t>Enrich</a:t>
            </a:r>
            <a:endParaRPr lang="en-US" sz="1200" dirty="0"/>
          </a:p>
          <a:p>
            <a:pPr algn="ctr">
              <a:lnSpc>
                <a:spcPct val="130000"/>
              </a:lnSpc>
            </a:pPr>
            <a:r>
              <a:rPr lang="en-US" sz="1000" dirty="0">
                <a:solidFill>
                  <a:srgbClr val="888888"/>
                </a:solidFill>
                <a:latin typeface="Liter" pitchFamily="34" charset="0"/>
                <a:ea typeface="Liter" pitchFamily="34" charset="-122"/>
                <a:cs typeface="Liter" pitchFamily="34" charset="-120"/>
              </a:rPr>
              <a:t>Data, Scoring</a:t>
            </a:r>
            <a:endParaRPr lang="en-US" sz="1200" dirty="0"/>
          </a:p>
        </p:txBody>
      </p:sp>
      <p:sp>
        <p:nvSpPr>
          <p:cNvPr id="14" name="Shape 12"/>
          <p:cNvSpPr/>
          <p:nvPr/>
        </p:nvSpPr>
        <p:spPr>
          <a:xfrm>
            <a:off x="6858000" y="1841500"/>
            <a:ext cx="635000" cy="0"/>
          </a:xfrm>
          <a:prstGeom prst="straightConnector1">
            <a:avLst/>
          </a:prstGeom>
          <a:noFill/>
          <a:ln w="25400">
            <a:solidFill>
              <a:srgbClr val="D91E18"/>
            </a:solidFill>
            <a:prstDash val="solid"/>
            <a:headEnd type="none"/>
            <a:tailEnd type="arrow"/>
          </a:ln>
        </p:spPr>
      </p:sp>
      <p:sp>
        <p:nvSpPr>
          <p:cNvPr id="15" name="Shape 13"/>
          <p:cNvSpPr/>
          <p:nvPr/>
        </p:nvSpPr>
        <p:spPr>
          <a:xfrm>
            <a:off x="7620000" y="1524000"/>
            <a:ext cx="1524000" cy="762000"/>
          </a:xfrm>
          <a:prstGeom prst="rect">
            <a:avLst/>
          </a:prstGeom>
          <a:noFill/>
          <a:ln w="12700">
            <a:solidFill>
              <a:srgbClr val="2C2C2C"/>
            </a:solidFill>
            <a:prstDash val="solid"/>
          </a:ln>
        </p:spPr>
      </p:sp>
      <p:sp>
        <p:nvSpPr>
          <p:cNvPr id="16" name="Text 14"/>
          <p:cNvSpPr/>
          <p:nvPr/>
        </p:nvSpPr>
        <p:spPr>
          <a:xfrm>
            <a:off x="7620000" y="1524000"/>
            <a:ext cx="1524000" cy="762000"/>
          </a:xfrm>
          <a:prstGeom prst="rect">
            <a:avLst/>
          </a:prstGeom>
          <a:noFill/>
          <a:ln/>
        </p:spPr>
        <p:txBody>
          <a:bodyPr wrap="square" lIns="0" tIns="0" rIns="0" bIns="0" rtlCol="0" anchor="ctr"/>
          <a:lstStyle/>
          <a:p>
            <a:pPr algn="ctr">
              <a:lnSpc>
                <a:spcPct val="130000"/>
              </a:lnSpc>
            </a:pPr>
            <a:r>
              <a:rPr lang="en-US" sz="1200" b="1" dirty="0">
                <a:solidFill>
                  <a:srgbClr val="2C2C2C"/>
                </a:solidFill>
                <a:latin typeface="Liter" pitchFamily="34" charset="0"/>
                <a:ea typeface="Liter" pitchFamily="34" charset="-122"/>
                <a:cs typeface="Liter" pitchFamily="34" charset="-120"/>
              </a:rPr>
              <a:t>Outreach</a:t>
            </a:r>
            <a:endParaRPr lang="en-US" sz="1200" dirty="0"/>
          </a:p>
          <a:p>
            <a:pPr algn="ctr">
              <a:lnSpc>
                <a:spcPct val="130000"/>
              </a:lnSpc>
            </a:pPr>
            <a:r>
              <a:rPr lang="en-US" sz="1000" dirty="0">
                <a:solidFill>
                  <a:srgbClr val="888888"/>
                </a:solidFill>
                <a:latin typeface="Liter" pitchFamily="34" charset="0"/>
                <a:ea typeface="Liter" pitchFamily="34" charset="-122"/>
                <a:cs typeface="Liter" pitchFamily="34" charset="-120"/>
              </a:rPr>
              <a:t>Personalized</a:t>
            </a:r>
            <a:endParaRPr lang="en-US" sz="1200" dirty="0"/>
          </a:p>
        </p:txBody>
      </p:sp>
      <p:sp>
        <p:nvSpPr>
          <p:cNvPr id="17" name="Shape 15"/>
          <p:cNvSpPr/>
          <p:nvPr/>
        </p:nvSpPr>
        <p:spPr>
          <a:xfrm>
            <a:off x="9271000" y="1841500"/>
            <a:ext cx="635000" cy="0"/>
          </a:xfrm>
          <a:prstGeom prst="straightConnector1">
            <a:avLst/>
          </a:prstGeom>
          <a:noFill/>
          <a:ln w="25400">
            <a:solidFill>
              <a:srgbClr val="D91E18"/>
            </a:solidFill>
            <a:prstDash val="solid"/>
            <a:headEnd type="none"/>
            <a:tailEnd type="arrow"/>
          </a:ln>
        </p:spPr>
      </p:sp>
      <p:sp>
        <p:nvSpPr>
          <p:cNvPr id="18" name="Shape 16"/>
          <p:cNvSpPr/>
          <p:nvPr/>
        </p:nvSpPr>
        <p:spPr>
          <a:xfrm>
            <a:off x="10033000" y="1524000"/>
            <a:ext cx="1524000" cy="762000"/>
          </a:xfrm>
          <a:prstGeom prst="rect">
            <a:avLst/>
          </a:prstGeom>
          <a:solidFill>
            <a:srgbClr val="D91E18"/>
          </a:solidFill>
          <a:ln/>
        </p:spPr>
      </p:sp>
      <p:sp>
        <p:nvSpPr>
          <p:cNvPr id="19" name="Text 17"/>
          <p:cNvSpPr/>
          <p:nvPr/>
        </p:nvSpPr>
        <p:spPr>
          <a:xfrm>
            <a:off x="10033000" y="1524000"/>
            <a:ext cx="1524000" cy="762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Meeting</a:t>
            </a:r>
            <a:endParaRPr lang="en-US" sz="1200" dirty="0"/>
          </a:p>
          <a:p>
            <a:pPr algn="ctr">
              <a:lnSpc>
                <a:spcPct val="130000"/>
              </a:lnSpc>
            </a:pPr>
            <a:r>
              <a:rPr lang="en-US" sz="1000" dirty="0">
                <a:solidFill>
                  <a:srgbClr val="FFD0CE"/>
                </a:solidFill>
                <a:latin typeface="Liter" pitchFamily="34" charset="0"/>
                <a:ea typeface="Liter" pitchFamily="34" charset="-122"/>
                <a:cs typeface="Liter" pitchFamily="34" charset="-120"/>
              </a:rPr>
              <a:t>Fireflies.ai</a:t>
            </a:r>
            <a:endParaRPr lang="en-US" sz="1200" dirty="0"/>
          </a:p>
        </p:txBody>
      </p:sp>
      <p:sp>
        <p:nvSpPr>
          <p:cNvPr id="20" name="Shape 18"/>
          <p:cNvSpPr/>
          <p:nvPr/>
        </p:nvSpPr>
        <p:spPr>
          <a:xfrm>
            <a:off x="635000" y="3302000"/>
            <a:ext cx="38100" cy="304800"/>
          </a:xfrm>
          <a:prstGeom prst="rect">
            <a:avLst/>
          </a:prstGeom>
          <a:solidFill>
            <a:srgbClr val="D91E18"/>
          </a:solidFill>
          <a:ln/>
        </p:spPr>
      </p:sp>
      <p:sp>
        <p:nvSpPr>
          <p:cNvPr id="21" name="Text 19"/>
          <p:cNvSpPr/>
          <p:nvPr/>
        </p:nvSpPr>
        <p:spPr>
          <a:xfrm>
            <a:off x="736600" y="3302000"/>
            <a:ext cx="63500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AI SALES TOOL STACK</a:t>
            </a:r>
            <a:endParaRPr lang="en-US" sz="1100" dirty="0"/>
          </a:p>
        </p:txBody>
      </p:sp>
      <p:sp>
        <p:nvSpPr>
          <p:cNvPr id="22" name="Shape 20"/>
          <p:cNvSpPr/>
          <p:nvPr/>
        </p:nvSpPr>
        <p:spPr>
          <a:xfrm>
            <a:off x="635000" y="3733800"/>
            <a:ext cx="7239000" cy="1016000"/>
          </a:xfrm>
          <a:prstGeom prst="rect">
            <a:avLst/>
          </a:prstGeom>
          <a:solidFill>
            <a:srgbClr val="FFFFFF"/>
          </a:solidFill>
          <a:ln w="12700">
            <a:solidFill>
              <a:srgbClr val="DDDDDD"/>
            </a:solidFill>
            <a:prstDash val="solid"/>
          </a:ln>
        </p:spPr>
      </p:sp>
      <p:sp>
        <p:nvSpPr>
          <p:cNvPr id="23" name="Shape 21"/>
          <p:cNvSpPr/>
          <p:nvPr/>
        </p:nvSpPr>
        <p:spPr>
          <a:xfrm>
            <a:off x="635000" y="3733800"/>
            <a:ext cx="50800" cy="1016000"/>
          </a:xfrm>
          <a:prstGeom prst="rect">
            <a:avLst/>
          </a:prstGeom>
          <a:solidFill>
            <a:srgbClr val="D91E18"/>
          </a:solidFill>
          <a:ln/>
        </p:spPr>
      </p:sp>
      <p:sp>
        <p:nvSpPr>
          <p:cNvPr id="24" name="Text 22"/>
          <p:cNvSpPr/>
          <p:nvPr/>
        </p:nvSpPr>
        <p:spPr>
          <a:xfrm>
            <a:off x="812800" y="3810000"/>
            <a:ext cx="6934200" cy="863600"/>
          </a:xfrm>
          <a:prstGeom prst="rect">
            <a:avLst/>
          </a:prstGeom>
          <a:noFill/>
          <a:ln/>
        </p:spPr>
        <p:txBody>
          <a:bodyPr wrap="square" lIns="0" tIns="0" rIns="0" bIns="0" rtlCol="0" anchor="t"/>
          <a:lstStyle/>
          <a:p>
            <a:pPr algn="l">
              <a:lnSpc>
                <a:spcPct val="155000"/>
              </a:lnSpc>
            </a:pPr>
            <a:r>
              <a:rPr lang="en-US" sz="1300" b="1" dirty="0">
                <a:solidFill>
                  <a:srgbClr val="D91E18"/>
                </a:solidFill>
                <a:latin typeface="MiSans" pitchFamily="34" charset="0"/>
                <a:ea typeface="MiSans" pitchFamily="34" charset="-122"/>
                <a:cs typeface="MiSans" pitchFamily="34" charset="-120"/>
              </a:rPr>
              <a:t>Clay</a:t>
            </a:r>
            <a:pPr algn="l">
              <a:lnSpc>
                <a:spcPct val="155000"/>
              </a:lnSpc>
            </a:pPr>
            <a:r>
              <a:rPr lang="en-US" sz="1300" dirty="0">
                <a:solidFill>
                  <a:srgbClr val="2C2C2C"/>
                </a:solidFill>
                <a:latin typeface="MiSans" pitchFamily="34" charset="0"/>
                <a:ea typeface="MiSans" pitchFamily="34" charset="-122"/>
                <a:cs typeface="MiSans" pitchFamily="34" charset="-120"/>
              </a:rPr>
              <a:t> — Lead sourcing, enrichment, CRM hygiene. Connects to 100+ data sources. Dynamic lead lists that refresh in real time.</a:t>
            </a:r>
            <a:endParaRPr lang="en-US" sz="1300" dirty="0"/>
          </a:p>
        </p:txBody>
      </p:sp>
      <p:sp>
        <p:nvSpPr>
          <p:cNvPr id="25" name="Shape 23"/>
          <p:cNvSpPr/>
          <p:nvPr/>
        </p:nvSpPr>
        <p:spPr>
          <a:xfrm>
            <a:off x="635000" y="4876800"/>
            <a:ext cx="7239000" cy="1016000"/>
          </a:xfrm>
          <a:prstGeom prst="rect">
            <a:avLst/>
          </a:prstGeom>
          <a:solidFill>
            <a:srgbClr val="FFFFFF"/>
          </a:solidFill>
          <a:ln w="12700">
            <a:solidFill>
              <a:srgbClr val="DDDDDD"/>
            </a:solidFill>
            <a:prstDash val="solid"/>
          </a:ln>
        </p:spPr>
      </p:sp>
      <p:sp>
        <p:nvSpPr>
          <p:cNvPr id="26" name="Shape 24"/>
          <p:cNvSpPr/>
          <p:nvPr/>
        </p:nvSpPr>
        <p:spPr>
          <a:xfrm>
            <a:off x="635000" y="4876800"/>
            <a:ext cx="50800" cy="1016000"/>
          </a:xfrm>
          <a:prstGeom prst="rect">
            <a:avLst/>
          </a:prstGeom>
          <a:solidFill>
            <a:srgbClr val="D91E18"/>
          </a:solidFill>
          <a:ln/>
        </p:spPr>
      </p:sp>
      <p:sp>
        <p:nvSpPr>
          <p:cNvPr id="27" name="Text 25"/>
          <p:cNvSpPr/>
          <p:nvPr/>
        </p:nvSpPr>
        <p:spPr>
          <a:xfrm>
            <a:off x="812800" y="4953000"/>
            <a:ext cx="6934200" cy="863600"/>
          </a:xfrm>
          <a:prstGeom prst="rect">
            <a:avLst/>
          </a:prstGeom>
          <a:noFill/>
          <a:ln/>
        </p:spPr>
        <p:txBody>
          <a:bodyPr wrap="square" lIns="0" tIns="0" rIns="0" bIns="0" rtlCol="0" anchor="t"/>
          <a:lstStyle/>
          <a:p>
            <a:pPr algn="l">
              <a:lnSpc>
                <a:spcPct val="155000"/>
              </a:lnSpc>
            </a:pPr>
            <a:r>
              <a:rPr lang="en-US" sz="1300" b="1" dirty="0">
                <a:solidFill>
                  <a:srgbClr val="D91E18"/>
                </a:solidFill>
                <a:latin typeface="MiSans" pitchFamily="34" charset="0"/>
                <a:ea typeface="MiSans" pitchFamily="34" charset="-122"/>
                <a:cs typeface="MiSans" pitchFamily="34" charset="-120"/>
              </a:rPr>
              <a:t>Apollo</a:t>
            </a:r>
            <a:pPr algn="l">
              <a:lnSpc>
                <a:spcPct val="155000"/>
              </a:lnSpc>
            </a:pPr>
            <a:r>
              <a:rPr lang="en-US" sz="1300" dirty="0">
                <a:solidFill>
                  <a:srgbClr val="2C2C2C"/>
                </a:solidFill>
                <a:latin typeface="MiSans" pitchFamily="34" charset="0"/>
                <a:ea typeface="MiSans" pitchFamily="34" charset="-122"/>
                <a:cs typeface="MiSans" pitchFamily="34" charset="-120"/>
              </a:rPr>
              <a:t> — Outbound research and contact data. 200M+ contacts. AI-powered sequencing and engagement scoring.</a:t>
            </a:r>
            <a:endParaRPr lang="en-US" sz="1300" dirty="0"/>
          </a:p>
        </p:txBody>
      </p:sp>
      <p:sp>
        <p:nvSpPr>
          <p:cNvPr id="28" name="Shape 26"/>
          <p:cNvSpPr/>
          <p:nvPr/>
        </p:nvSpPr>
        <p:spPr>
          <a:xfrm>
            <a:off x="635000" y="6019800"/>
            <a:ext cx="7239000" cy="1016000"/>
          </a:xfrm>
          <a:prstGeom prst="rect">
            <a:avLst/>
          </a:prstGeom>
          <a:solidFill>
            <a:srgbClr val="FFFFFF"/>
          </a:solidFill>
          <a:ln w="12700">
            <a:solidFill>
              <a:srgbClr val="DDDDDD"/>
            </a:solidFill>
            <a:prstDash val="solid"/>
          </a:ln>
        </p:spPr>
      </p:sp>
      <p:sp>
        <p:nvSpPr>
          <p:cNvPr id="29" name="Shape 27"/>
          <p:cNvSpPr/>
          <p:nvPr/>
        </p:nvSpPr>
        <p:spPr>
          <a:xfrm>
            <a:off x="635000" y="6019800"/>
            <a:ext cx="50800" cy="1016000"/>
          </a:xfrm>
          <a:prstGeom prst="rect">
            <a:avLst/>
          </a:prstGeom>
          <a:solidFill>
            <a:srgbClr val="D91E18"/>
          </a:solidFill>
          <a:ln/>
        </p:spPr>
      </p:sp>
      <p:sp>
        <p:nvSpPr>
          <p:cNvPr id="30" name="Text 28"/>
          <p:cNvSpPr/>
          <p:nvPr/>
        </p:nvSpPr>
        <p:spPr>
          <a:xfrm>
            <a:off x="812800" y="6096000"/>
            <a:ext cx="6934200" cy="863600"/>
          </a:xfrm>
          <a:prstGeom prst="rect">
            <a:avLst/>
          </a:prstGeom>
          <a:noFill/>
          <a:ln/>
        </p:spPr>
        <p:txBody>
          <a:bodyPr wrap="square" lIns="0" tIns="0" rIns="0" bIns="0" rtlCol="0" anchor="t"/>
          <a:lstStyle/>
          <a:p>
            <a:pPr algn="l">
              <a:lnSpc>
                <a:spcPct val="155000"/>
              </a:lnSpc>
            </a:pPr>
            <a:r>
              <a:rPr lang="en-US" sz="1300" b="1" dirty="0">
                <a:solidFill>
                  <a:srgbClr val="D91E18"/>
                </a:solidFill>
                <a:latin typeface="MiSans" pitchFamily="34" charset="0"/>
                <a:ea typeface="MiSans" pitchFamily="34" charset="-122"/>
                <a:cs typeface="MiSans" pitchFamily="34" charset="-120"/>
              </a:rPr>
              <a:t>Fireflies.ai</a:t>
            </a:r>
            <a:pPr algn="l">
              <a:lnSpc>
                <a:spcPct val="155000"/>
              </a:lnSpc>
            </a:pPr>
            <a:r>
              <a:rPr lang="en-US" sz="1300" dirty="0">
                <a:solidFill>
                  <a:srgbClr val="2C2C2C"/>
                </a:solidFill>
                <a:latin typeface="MiSans" pitchFamily="34" charset="0"/>
                <a:ea typeface="MiSans" pitchFamily="34" charset="-122"/>
                <a:cs typeface="MiSans" pitchFamily="34" charset="-120"/>
              </a:rPr>
              <a:t> — Meeting transcription, conversation intelligence. Searchable notes, action items, coaching insights from every call.</a:t>
            </a:r>
            <a:endParaRPr lang="en-US" sz="1300" dirty="0"/>
          </a:p>
        </p:txBody>
      </p:sp>
      <p:sp>
        <p:nvSpPr>
          <p:cNvPr id="31" name="Shape 29"/>
          <p:cNvSpPr/>
          <p:nvPr/>
        </p:nvSpPr>
        <p:spPr>
          <a:xfrm>
            <a:off x="8128000" y="3302000"/>
            <a:ext cx="7493000" cy="1778000"/>
          </a:xfrm>
          <a:prstGeom prst="rect">
            <a:avLst/>
          </a:prstGeom>
          <a:solidFill>
            <a:srgbClr val="FFFFFF"/>
          </a:solidFill>
          <a:ln w="12700">
            <a:solidFill>
              <a:srgbClr val="DDDDDD"/>
            </a:solidFill>
            <a:prstDash val="solid"/>
          </a:ln>
        </p:spPr>
      </p:sp>
      <p:sp>
        <p:nvSpPr>
          <p:cNvPr id="32" name="Shape 30"/>
          <p:cNvSpPr/>
          <p:nvPr/>
        </p:nvSpPr>
        <p:spPr>
          <a:xfrm>
            <a:off x="8128000" y="3302000"/>
            <a:ext cx="50800" cy="1778000"/>
          </a:xfrm>
          <a:prstGeom prst="rect">
            <a:avLst/>
          </a:prstGeom>
          <a:solidFill>
            <a:srgbClr val="00A3A1"/>
          </a:solidFill>
          <a:ln/>
        </p:spPr>
      </p:sp>
      <p:sp>
        <p:nvSpPr>
          <p:cNvPr id="33" name="Text 31"/>
          <p:cNvSpPr/>
          <p:nvPr/>
        </p:nvSpPr>
        <p:spPr>
          <a:xfrm>
            <a:off x="8305800" y="3378200"/>
            <a:ext cx="7188200" cy="1625600"/>
          </a:xfrm>
          <a:prstGeom prst="rect">
            <a:avLst/>
          </a:prstGeom>
          <a:noFill/>
          <a:ln/>
        </p:spPr>
        <p:txBody>
          <a:bodyPr wrap="square" lIns="0" tIns="0" rIns="0" bIns="0" rtlCol="0" anchor="t"/>
          <a:lstStyle/>
          <a:p>
            <a:pPr algn="l">
              <a:lnSpc>
                <a:spcPct val="155000"/>
              </a:lnSpc>
            </a:pPr>
            <a:r>
              <a:rPr lang="en-US" sz="1300" b="1" dirty="0">
                <a:solidFill>
                  <a:srgbClr val="00A3A1"/>
                </a:solidFill>
                <a:latin typeface="MiSans" pitchFamily="34" charset="0"/>
                <a:ea typeface="MiSans" pitchFamily="34" charset="-122"/>
                <a:cs typeface="MiSans" pitchFamily="34" charset="-120"/>
              </a:rPr>
              <a:t>HubSpot Breeze</a:t>
            </a:r>
            <a:pPr algn="l">
              <a:lnSpc>
                <a:spcPct val="155000"/>
              </a:lnSpc>
            </a:pPr>
            <a:r>
              <a:rPr lang="en-US" sz="1300" dirty="0">
                <a:solidFill>
                  <a:srgbClr val="2C2C2C"/>
                </a:solidFill>
                <a:latin typeface="MiSans" pitchFamily="34" charset="0"/>
                <a:ea typeface="MiSans" pitchFamily="34" charset="-122"/>
                <a:cs typeface="MiSans" pitchFamily="34" charset="-120"/>
              </a:rPr>
              <a:t> — AI layer across CRM, marketing, sales, and service. Breeze Copilot drafts content inside HubSpot. Breeze Agents handle prospecting, content, and support. Best for SMB teams already on HubSpot. From $15/user/mo.</a:t>
            </a:r>
            <a:endParaRPr lang="en-US" sz="1300" dirty="0"/>
          </a:p>
        </p:txBody>
      </p:sp>
      <p:sp>
        <p:nvSpPr>
          <p:cNvPr id="34" name="Shape 32"/>
          <p:cNvSpPr/>
          <p:nvPr/>
        </p:nvSpPr>
        <p:spPr>
          <a:xfrm>
            <a:off x="635000" y="7289800"/>
            <a:ext cx="14986000" cy="863600"/>
          </a:xfrm>
          <a:prstGeom prst="rect">
            <a:avLst/>
          </a:prstGeom>
          <a:solidFill>
            <a:srgbClr val="FFFFFF"/>
          </a:solidFill>
          <a:ln w="12700">
            <a:solidFill>
              <a:srgbClr val="DDDDDD"/>
            </a:solidFill>
            <a:prstDash val="solid"/>
          </a:ln>
        </p:spPr>
      </p:sp>
      <p:sp>
        <p:nvSpPr>
          <p:cNvPr id="35" name="Shape 33"/>
          <p:cNvSpPr/>
          <p:nvPr/>
        </p:nvSpPr>
        <p:spPr>
          <a:xfrm>
            <a:off x="635000" y="7289800"/>
            <a:ext cx="50800" cy="863600"/>
          </a:xfrm>
          <a:prstGeom prst="rect">
            <a:avLst/>
          </a:prstGeom>
          <a:solidFill>
            <a:srgbClr val="D91E18"/>
          </a:solidFill>
          <a:ln/>
        </p:spPr>
      </p:sp>
      <p:sp>
        <p:nvSpPr>
          <p:cNvPr id="36" name="Text 34"/>
          <p:cNvSpPr/>
          <p:nvPr/>
        </p:nvSpPr>
        <p:spPr>
          <a:xfrm>
            <a:off x="838200" y="7366000"/>
            <a:ext cx="14579600" cy="711200"/>
          </a:xfrm>
          <a:prstGeom prst="rect">
            <a:avLst/>
          </a:prstGeom>
          <a:noFill/>
          <a:ln/>
        </p:spPr>
        <p:txBody>
          <a:bodyPr wrap="square" lIns="0" tIns="0" rIns="0" bIns="0" rtlCol="0" anchor="t"/>
          <a:lstStyle/>
          <a:p>
            <a:pPr algn="l">
              <a:lnSpc>
                <a:spcPct val="150000"/>
              </a:lnSpc>
            </a:pPr>
            <a:r>
              <a:rPr lang="en-US" sz="1300" b="1" dirty="0">
                <a:solidFill>
                  <a:srgbClr val="D91E18"/>
                </a:solidFill>
                <a:latin typeface="MiSans" pitchFamily="34" charset="0"/>
                <a:ea typeface="MiSans" pitchFamily="34" charset="-122"/>
                <a:cs typeface="MiSans" pitchFamily="34" charset="-120"/>
              </a:rPr>
              <a:t>Key insight:</a:t>
            </a:r>
            <a:pPr algn="l">
              <a:lnSpc>
                <a:spcPct val="150000"/>
              </a:lnSpc>
            </a:pPr>
            <a:r>
              <a:rPr lang="en-US" sz="1300" dirty="0">
                <a:solidFill>
                  <a:srgbClr val="2C2C2C"/>
                </a:solidFill>
                <a:latin typeface="MiSans" pitchFamily="34" charset="0"/>
                <a:ea typeface="MiSans" pitchFamily="34" charset="-122"/>
                <a:cs typeface="MiSans" pitchFamily="34" charset="-120"/>
              </a:rPr>
              <a:t> AI SDR agents can prioritize leads, change messaging based on engagement, and schedule follow-ups autonomously. The result is more selling time and less admin work. Start with Clay for lead gen + HubSpot for CRM, then layer on Fireflies for conversation intelligence.</a:t>
            </a:r>
            <a:endParaRPr lang="en-US" sz="1300" dirty="0"/>
          </a:p>
        </p:txBody>
      </p:sp>
      <p:sp>
        <p:nvSpPr>
          <p:cNvPr id="37" name="Shape 35"/>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38" name="Text 36"/>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AI Sales Automation Tools Comparison 2026</a:t>
            </a:r>
            <a:endParaRPr lang="en-US" sz="1300" dirty="0"/>
          </a:p>
        </p:txBody>
      </p:sp>
      <p:sp>
        <p:nvSpPr>
          <p:cNvPr id="39" name="Text 37"/>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14</a:t>
            </a:r>
            <a:endParaRPr lang="en-US" sz="12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Autonomous GTM platforms represent the next evolution</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FULL-STACK AI WORKERS THAT HANDLE PROSPECTING THROUGH DEAL QUALIFICATION</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635000" y="1346200"/>
            <a:ext cx="4826000" cy="3302000"/>
          </a:xfrm>
          <a:prstGeom prst="rect">
            <a:avLst/>
          </a:prstGeom>
          <a:solidFill>
            <a:srgbClr val="FFFFFF"/>
          </a:solidFill>
          <a:ln w="12700">
            <a:solidFill>
              <a:srgbClr val="DDDDDD"/>
            </a:solidFill>
            <a:prstDash val="solid"/>
          </a:ln>
        </p:spPr>
      </p:sp>
      <p:sp>
        <p:nvSpPr>
          <p:cNvPr id="6" name="Shape 4"/>
          <p:cNvSpPr/>
          <p:nvPr/>
        </p:nvSpPr>
        <p:spPr>
          <a:xfrm>
            <a:off x="635000" y="1346200"/>
            <a:ext cx="4826000" cy="63500"/>
          </a:xfrm>
          <a:prstGeom prst="rect">
            <a:avLst/>
          </a:prstGeom>
          <a:solidFill>
            <a:srgbClr val="D91E18"/>
          </a:solidFill>
          <a:ln/>
        </p:spPr>
      </p:sp>
      <p:sp>
        <p:nvSpPr>
          <p:cNvPr id="7" name="Text 5"/>
          <p:cNvSpPr/>
          <p:nvPr/>
        </p:nvSpPr>
        <p:spPr>
          <a:xfrm>
            <a:off x="787400" y="1524000"/>
            <a:ext cx="4521200" cy="381000"/>
          </a:xfrm>
          <a:prstGeom prst="rect">
            <a:avLst/>
          </a:prstGeom>
          <a:noFill/>
          <a:ln/>
        </p:spPr>
        <p:txBody>
          <a:bodyPr wrap="none" lIns="0" tIns="0" rIns="0" bIns="0" rtlCol="0" anchor="ctr"/>
          <a:lstStyle/>
          <a:p>
            <a:pPr algn="l">
              <a:lnSpc>
                <a:spcPct val="120000"/>
              </a:lnSpc>
            </a:pPr>
            <a:r>
              <a:rPr lang="en-US" sz="1800" b="1" dirty="0">
                <a:solidFill>
                  <a:srgbClr val="2C2C2C"/>
                </a:solidFill>
                <a:latin typeface="Liter" pitchFamily="34" charset="0"/>
                <a:ea typeface="Liter" pitchFamily="34" charset="-122"/>
                <a:cs typeface="Liter" pitchFamily="34" charset="-120"/>
              </a:rPr>
              <a:t>11x.ai</a:t>
            </a:r>
            <a:endParaRPr lang="en-US" sz="1800" dirty="0"/>
          </a:p>
        </p:txBody>
      </p:sp>
      <p:sp>
        <p:nvSpPr>
          <p:cNvPr id="8" name="Text 6"/>
          <p:cNvSpPr/>
          <p:nvPr/>
        </p:nvSpPr>
        <p:spPr>
          <a:xfrm>
            <a:off x="787400" y="1905000"/>
            <a:ext cx="4521200" cy="279400"/>
          </a:xfrm>
          <a:prstGeom prst="rect">
            <a:avLst/>
          </a:prstGeom>
          <a:noFill/>
          <a:ln/>
        </p:spPr>
        <p:txBody>
          <a:bodyPr wrap="none" lIns="0" tIns="0" rIns="0" bIns="0" rtlCol="0" anchor="ctr"/>
          <a:lstStyle/>
          <a:p>
            <a:pPr algn="l">
              <a:lnSpc>
                <a:spcPct val="120000"/>
              </a:lnSpc>
            </a:pPr>
            <a:r>
              <a:rPr lang="en-US" sz="1300" b="1" dirty="0">
                <a:solidFill>
                  <a:srgbClr val="D91E18"/>
                </a:solidFill>
                <a:latin typeface="Liter" pitchFamily="34" charset="0"/>
                <a:ea typeface="Liter" pitchFamily="34" charset="-122"/>
                <a:cs typeface="Liter" pitchFamily="34" charset="-120"/>
              </a:rPr>
              <a:t>$3,000-$5,000/mo</a:t>
            </a:r>
            <a:endParaRPr lang="en-US" sz="1300" dirty="0"/>
          </a:p>
        </p:txBody>
      </p:sp>
      <p:sp>
        <p:nvSpPr>
          <p:cNvPr id="9" name="Text 7"/>
          <p:cNvSpPr/>
          <p:nvPr/>
        </p:nvSpPr>
        <p:spPr>
          <a:xfrm>
            <a:off x="787400" y="2260600"/>
            <a:ext cx="4521200" cy="2286000"/>
          </a:xfrm>
          <a:prstGeom prst="rect">
            <a:avLst/>
          </a:prstGeom>
          <a:noFill/>
          <a:ln/>
        </p:spPr>
        <p:txBody>
          <a:bodyPr wrap="square" lIns="0" tIns="0" rIns="0" bIns="0" rtlCol="0" anchor="t"/>
          <a:lstStyle/>
          <a:p>
            <a:pPr algn="l">
              <a:lnSpc>
                <a:spcPct val="160000"/>
              </a:lnSpc>
            </a:pPr>
            <a:r>
              <a:rPr lang="en-US" sz="1300" dirty="0">
                <a:solidFill>
                  <a:srgbClr val="2C2C2C"/>
                </a:solidFill>
                <a:latin typeface="MiSans" pitchFamily="34" charset="0"/>
                <a:ea typeface="MiSans" pitchFamily="34" charset="-122"/>
                <a:cs typeface="MiSans" pitchFamily="34" charset="-120"/>
              </a:rPr>
              <a:t>Multi-agent AI workforce platform. </a:t>
            </a:r>
            <a:pPr algn="l">
              <a:lnSpc>
                <a:spcPct val="160000"/>
              </a:lnSpc>
            </a:pPr>
            <a:r>
              <a:rPr lang="en-US" sz="1300" b="1" dirty="0">
                <a:solidFill>
                  <a:srgbClr val="2C2C2C"/>
                </a:solidFill>
                <a:latin typeface="MiSans" pitchFamily="34" charset="0"/>
                <a:ea typeface="MiSans" pitchFamily="34" charset="-122"/>
                <a:cs typeface="MiSans" pitchFamily="34" charset="-120"/>
              </a:rPr>
              <a:t>Alice</a:t>
            </a:r>
            <a:pPr algn="l">
              <a:lnSpc>
                <a:spcPct val="160000"/>
              </a:lnSpc>
            </a:pPr>
            <a:r>
              <a:rPr lang="en-US" sz="1300" dirty="0">
                <a:solidFill>
                  <a:srgbClr val="2C2C2C"/>
                </a:solidFill>
                <a:latin typeface="MiSans" pitchFamily="34" charset="0"/>
                <a:ea typeface="MiSans" pitchFamily="34" charset="-122"/>
                <a:cs typeface="MiSans" pitchFamily="34" charset="-120"/>
              </a:rPr>
              <a:t> handles outbound prospecting. </a:t>
            </a:r>
            <a:pPr algn="l">
              <a:lnSpc>
                <a:spcPct val="160000"/>
              </a:lnSpc>
            </a:pPr>
            <a:r>
              <a:rPr lang="en-US" sz="1300" b="1" dirty="0">
                <a:solidFill>
                  <a:srgbClr val="2C2C2C"/>
                </a:solidFill>
                <a:latin typeface="MiSans" pitchFamily="34" charset="0"/>
                <a:ea typeface="MiSans" pitchFamily="34" charset="-122"/>
                <a:cs typeface="MiSans" pitchFamily="34" charset="-120"/>
              </a:rPr>
              <a:t>Julian</a:t>
            </a:r>
            <a:pPr algn="l">
              <a:lnSpc>
                <a:spcPct val="160000"/>
              </a:lnSpc>
            </a:pPr>
            <a:r>
              <a:rPr lang="en-US" sz="1300" dirty="0">
                <a:solidFill>
                  <a:srgbClr val="2C2C2C"/>
                </a:solidFill>
                <a:latin typeface="MiSans" pitchFamily="34" charset="0"/>
                <a:ea typeface="MiSans" pitchFamily="34" charset="-122"/>
                <a:cs typeface="MiSans" pitchFamily="34" charset="-120"/>
              </a:rPr>
              <a:t> manages inbound leads. The system handles research through deal qualification, freeing humans to focus on closing.</a:t>
            </a:r>
            <a:endParaRPr lang="en-US" sz="1300" dirty="0"/>
          </a:p>
          <a:p>
            <a:pPr algn="l">
              <a:lnSpc>
                <a:spcPct val="160000"/>
              </a:lnSpc>
              <a:spcBef>
                <a:spcPts val="800"/>
              </a:spcBef>
            </a:pPr>
            <a:r>
              <a:rPr lang="en-US" sz="1300" dirty="0">
                <a:solidFill>
                  <a:srgbClr val="888888"/>
                </a:solidFill>
                <a:latin typeface="MiSans" pitchFamily="34" charset="0"/>
                <a:ea typeface="MiSans" pitchFamily="34" charset="-122"/>
                <a:cs typeface="MiSans" pitchFamily="34" charset="-120"/>
              </a:rPr>
              <a:t>Best for: Enterprise teams with high deal volume</a:t>
            </a:r>
            <a:endParaRPr lang="en-US" sz="1300" dirty="0"/>
          </a:p>
        </p:txBody>
      </p:sp>
      <p:sp>
        <p:nvSpPr>
          <p:cNvPr id="10" name="Shape 8"/>
          <p:cNvSpPr/>
          <p:nvPr/>
        </p:nvSpPr>
        <p:spPr>
          <a:xfrm>
            <a:off x="5715000" y="1346200"/>
            <a:ext cx="4826000" cy="3302000"/>
          </a:xfrm>
          <a:prstGeom prst="rect">
            <a:avLst/>
          </a:prstGeom>
          <a:solidFill>
            <a:srgbClr val="FFFFFF"/>
          </a:solidFill>
          <a:ln w="12700">
            <a:solidFill>
              <a:srgbClr val="DDDDDD"/>
            </a:solidFill>
            <a:prstDash val="solid"/>
          </a:ln>
        </p:spPr>
      </p:sp>
      <p:sp>
        <p:nvSpPr>
          <p:cNvPr id="11" name="Shape 9"/>
          <p:cNvSpPr/>
          <p:nvPr/>
        </p:nvSpPr>
        <p:spPr>
          <a:xfrm>
            <a:off x="5715000" y="1346200"/>
            <a:ext cx="4826000" cy="63500"/>
          </a:xfrm>
          <a:prstGeom prst="rect">
            <a:avLst/>
          </a:prstGeom>
          <a:solidFill>
            <a:srgbClr val="00A3A1"/>
          </a:solidFill>
          <a:ln/>
        </p:spPr>
      </p:sp>
      <p:sp>
        <p:nvSpPr>
          <p:cNvPr id="12" name="Text 10"/>
          <p:cNvSpPr/>
          <p:nvPr/>
        </p:nvSpPr>
        <p:spPr>
          <a:xfrm>
            <a:off x="5867400" y="1524000"/>
            <a:ext cx="4521200" cy="381000"/>
          </a:xfrm>
          <a:prstGeom prst="rect">
            <a:avLst/>
          </a:prstGeom>
          <a:noFill/>
          <a:ln/>
        </p:spPr>
        <p:txBody>
          <a:bodyPr wrap="none" lIns="0" tIns="0" rIns="0" bIns="0" rtlCol="0" anchor="ctr"/>
          <a:lstStyle/>
          <a:p>
            <a:pPr algn="l">
              <a:lnSpc>
                <a:spcPct val="120000"/>
              </a:lnSpc>
            </a:pPr>
            <a:r>
              <a:rPr lang="en-US" sz="1800" b="1" dirty="0">
                <a:solidFill>
                  <a:srgbClr val="2C2C2C"/>
                </a:solidFill>
                <a:latin typeface="Liter" pitchFamily="34" charset="0"/>
                <a:ea typeface="Liter" pitchFamily="34" charset="-122"/>
                <a:cs typeface="Liter" pitchFamily="34" charset="-120"/>
              </a:rPr>
              <a:t>Persana AI</a:t>
            </a:r>
            <a:endParaRPr lang="en-US" sz="1800" dirty="0"/>
          </a:p>
        </p:txBody>
      </p:sp>
      <p:sp>
        <p:nvSpPr>
          <p:cNvPr id="13" name="Text 11"/>
          <p:cNvSpPr/>
          <p:nvPr/>
        </p:nvSpPr>
        <p:spPr>
          <a:xfrm>
            <a:off x="5867400" y="1905000"/>
            <a:ext cx="4521200" cy="279400"/>
          </a:xfrm>
          <a:prstGeom prst="rect">
            <a:avLst/>
          </a:prstGeom>
          <a:noFill/>
          <a:ln/>
        </p:spPr>
        <p:txBody>
          <a:bodyPr wrap="none" lIns="0" tIns="0" rIns="0" bIns="0" rtlCol="0" anchor="ctr"/>
          <a:lstStyle/>
          <a:p>
            <a:pPr algn="l">
              <a:lnSpc>
                <a:spcPct val="120000"/>
              </a:lnSpc>
            </a:pPr>
            <a:r>
              <a:rPr lang="en-US" sz="1300" b="1" dirty="0">
                <a:solidFill>
                  <a:srgbClr val="00A3A1"/>
                </a:solidFill>
                <a:latin typeface="Liter" pitchFamily="34" charset="0"/>
                <a:ea typeface="Liter" pitchFamily="34" charset="-122"/>
                <a:cs typeface="Liter" pitchFamily="34" charset="-120"/>
              </a:rPr>
              <a:t>~$400/mo</a:t>
            </a:r>
            <a:endParaRPr lang="en-US" sz="1300" dirty="0"/>
          </a:p>
        </p:txBody>
      </p:sp>
      <p:sp>
        <p:nvSpPr>
          <p:cNvPr id="14" name="Text 12"/>
          <p:cNvSpPr/>
          <p:nvPr/>
        </p:nvSpPr>
        <p:spPr>
          <a:xfrm>
            <a:off x="5867400" y="2260600"/>
            <a:ext cx="4521200" cy="2286000"/>
          </a:xfrm>
          <a:prstGeom prst="rect">
            <a:avLst/>
          </a:prstGeom>
          <a:noFill/>
          <a:ln/>
        </p:spPr>
        <p:txBody>
          <a:bodyPr wrap="square" lIns="0" tIns="0" rIns="0" bIns="0" rtlCol="0" anchor="t"/>
          <a:lstStyle/>
          <a:p>
            <a:pPr algn="l">
              <a:lnSpc>
                <a:spcPct val="160000"/>
              </a:lnSpc>
            </a:pPr>
            <a:r>
              <a:rPr lang="en-US" sz="1300" dirty="0">
                <a:solidFill>
                  <a:srgbClr val="2C2C2C"/>
                </a:solidFill>
                <a:latin typeface="MiSans" pitchFamily="34" charset="0"/>
                <a:ea typeface="MiSans" pitchFamily="34" charset="-122"/>
                <a:cs typeface="MiSans" pitchFamily="34" charset="-120"/>
              </a:rPr>
              <a:t>24/7 autonomous sales agents. Connects to </a:t>
            </a:r>
            <a:pPr algn="l">
              <a:lnSpc>
                <a:spcPct val="160000"/>
              </a:lnSpc>
            </a:pPr>
            <a:r>
              <a:rPr lang="en-US" sz="1300" b="1" dirty="0">
                <a:solidFill>
                  <a:srgbClr val="2C2C2C"/>
                </a:solidFill>
                <a:latin typeface="MiSans" pitchFamily="34" charset="0"/>
                <a:ea typeface="MiSans" pitchFamily="34" charset="-122"/>
                <a:cs typeface="MiSans" pitchFamily="34" charset="-120"/>
              </a:rPr>
              <a:t>1 billion+ contacts</a:t>
            </a:r>
            <a:pPr algn="l">
              <a:lnSpc>
                <a:spcPct val="160000"/>
              </a:lnSpc>
            </a:pPr>
            <a:r>
              <a:rPr lang="en-US" sz="1300" dirty="0">
                <a:solidFill>
                  <a:srgbClr val="2C2C2C"/>
                </a:solidFill>
                <a:latin typeface="MiSans" pitchFamily="34" charset="0"/>
                <a:ea typeface="MiSans" pitchFamily="34" charset="-122"/>
                <a:cs typeface="MiSans" pitchFamily="34" charset="-120"/>
              </a:rPr>
              <a:t> through 75+ data providers. Flagship agent Nia automates up to 90% of sales development — from prospecting to closing deals.</a:t>
            </a:r>
            <a:endParaRPr lang="en-US" sz="1300" dirty="0"/>
          </a:p>
          <a:p>
            <a:pPr algn="l">
              <a:lnSpc>
                <a:spcPct val="160000"/>
              </a:lnSpc>
              <a:spcBef>
                <a:spcPts val="800"/>
              </a:spcBef>
            </a:pPr>
            <a:r>
              <a:rPr lang="en-US" sz="1300" dirty="0">
                <a:solidFill>
                  <a:srgbClr val="888888"/>
                </a:solidFill>
                <a:latin typeface="MiSans" pitchFamily="34" charset="0"/>
                <a:ea typeface="MiSans" pitchFamily="34" charset="-122"/>
                <a:cs typeface="MiSans" pitchFamily="34" charset="-120"/>
              </a:rPr>
              <a:t>Best for: Startups wanting full automation at scale</a:t>
            </a:r>
            <a:endParaRPr lang="en-US" sz="1300" dirty="0"/>
          </a:p>
        </p:txBody>
      </p:sp>
      <p:sp>
        <p:nvSpPr>
          <p:cNvPr id="15" name="Shape 13"/>
          <p:cNvSpPr/>
          <p:nvPr/>
        </p:nvSpPr>
        <p:spPr>
          <a:xfrm>
            <a:off x="10795000" y="1346200"/>
            <a:ext cx="4826000" cy="3302000"/>
          </a:xfrm>
          <a:prstGeom prst="rect">
            <a:avLst/>
          </a:prstGeom>
          <a:solidFill>
            <a:srgbClr val="FFFFFF"/>
          </a:solidFill>
          <a:ln w="12700">
            <a:solidFill>
              <a:srgbClr val="DDDDDD"/>
            </a:solidFill>
            <a:prstDash val="solid"/>
          </a:ln>
        </p:spPr>
      </p:sp>
      <p:sp>
        <p:nvSpPr>
          <p:cNvPr id="16" name="Shape 14"/>
          <p:cNvSpPr/>
          <p:nvPr/>
        </p:nvSpPr>
        <p:spPr>
          <a:xfrm>
            <a:off x="10795000" y="1346200"/>
            <a:ext cx="4826000" cy="63500"/>
          </a:xfrm>
          <a:prstGeom prst="rect">
            <a:avLst/>
          </a:prstGeom>
          <a:solidFill>
            <a:srgbClr val="5B9BD5"/>
          </a:solidFill>
          <a:ln/>
        </p:spPr>
      </p:sp>
      <p:sp>
        <p:nvSpPr>
          <p:cNvPr id="17" name="Text 15"/>
          <p:cNvSpPr/>
          <p:nvPr/>
        </p:nvSpPr>
        <p:spPr>
          <a:xfrm>
            <a:off x="10947400" y="1524000"/>
            <a:ext cx="4521200" cy="381000"/>
          </a:xfrm>
          <a:prstGeom prst="rect">
            <a:avLst/>
          </a:prstGeom>
          <a:noFill/>
          <a:ln/>
        </p:spPr>
        <p:txBody>
          <a:bodyPr wrap="none" lIns="0" tIns="0" rIns="0" bIns="0" rtlCol="0" anchor="ctr"/>
          <a:lstStyle/>
          <a:p>
            <a:pPr algn="l">
              <a:lnSpc>
                <a:spcPct val="120000"/>
              </a:lnSpc>
            </a:pPr>
            <a:r>
              <a:rPr lang="en-US" sz="1800" b="1" dirty="0">
                <a:solidFill>
                  <a:srgbClr val="2C2C2C"/>
                </a:solidFill>
                <a:latin typeface="Liter" pitchFamily="34" charset="0"/>
                <a:ea typeface="Liter" pitchFamily="34" charset="-122"/>
                <a:cs typeface="Liter" pitchFamily="34" charset="-120"/>
              </a:rPr>
              <a:t>Eve by Cykel</a:t>
            </a:r>
            <a:endParaRPr lang="en-US" sz="1800" dirty="0"/>
          </a:p>
        </p:txBody>
      </p:sp>
      <p:sp>
        <p:nvSpPr>
          <p:cNvPr id="18" name="Text 16"/>
          <p:cNvSpPr/>
          <p:nvPr/>
        </p:nvSpPr>
        <p:spPr>
          <a:xfrm>
            <a:off x="10947400" y="1905000"/>
            <a:ext cx="4521200" cy="279400"/>
          </a:xfrm>
          <a:prstGeom prst="rect">
            <a:avLst/>
          </a:prstGeom>
          <a:noFill/>
          <a:ln/>
        </p:spPr>
        <p:txBody>
          <a:bodyPr wrap="none" lIns="0" tIns="0" rIns="0" bIns="0" rtlCol="0" anchor="ctr"/>
          <a:lstStyle/>
          <a:p>
            <a:pPr algn="l">
              <a:lnSpc>
                <a:spcPct val="120000"/>
              </a:lnSpc>
            </a:pPr>
            <a:r>
              <a:rPr lang="en-US" sz="1300" b="1" dirty="0">
                <a:solidFill>
                  <a:srgbClr val="5B9BD5"/>
                </a:solidFill>
                <a:latin typeface="Liter" pitchFamily="34" charset="0"/>
                <a:ea typeface="Liter" pitchFamily="34" charset="-122"/>
                <a:cs typeface="Liter" pitchFamily="34" charset="-120"/>
              </a:rPr>
              <a:t>$400/mo all-inclusive</a:t>
            </a:r>
            <a:endParaRPr lang="en-US" sz="1300" dirty="0"/>
          </a:p>
        </p:txBody>
      </p:sp>
      <p:sp>
        <p:nvSpPr>
          <p:cNvPr id="19" name="Text 17"/>
          <p:cNvSpPr/>
          <p:nvPr/>
        </p:nvSpPr>
        <p:spPr>
          <a:xfrm>
            <a:off x="10947400" y="2260600"/>
            <a:ext cx="4521200" cy="2286000"/>
          </a:xfrm>
          <a:prstGeom prst="rect">
            <a:avLst/>
          </a:prstGeom>
          <a:noFill/>
          <a:ln/>
        </p:spPr>
        <p:txBody>
          <a:bodyPr wrap="square" lIns="0" tIns="0" rIns="0" bIns="0" rtlCol="0" anchor="t"/>
          <a:lstStyle/>
          <a:p>
            <a:pPr algn="l">
              <a:lnSpc>
                <a:spcPct val="160000"/>
              </a:lnSpc>
            </a:pPr>
            <a:r>
              <a:rPr lang="en-US" sz="1300" dirty="0">
                <a:solidFill>
                  <a:srgbClr val="2C2C2C"/>
                </a:solidFill>
                <a:latin typeface="MiSans" pitchFamily="34" charset="0"/>
                <a:ea typeface="MiSans" pitchFamily="34" charset="-122"/>
                <a:cs typeface="MiSans" pitchFamily="34" charset="-120"/>
              </a:rPr>
              <a:t>Human-in-the-loop autonomous GTM. Consolidates the entire GTM stack with oversight. Handles prospecting, research, intent detection, LinkedIn automation, and email sequences in one platform.</a:t>
            </a:r>
            <a:endParaRPr lang="en-US" sz="1300" dirty="0"/>
          </a:p>
          <a:p>
            <a:pPr algn="l">
              <a:lnSpc>
                <a:spcPct val="160000"/>
              </a:lnSpc>
              <a:spcBef>
                <a:spcPts val="800"/>
              </a:spcBef>
            </a:pPr>
            <a:r>
              <a:rPr lang="en-US" sz="1300" dirty="0">
                <a:solidFill>
                  <a:srgbClr val="888888"/>
                </a:solidFill>
                <a:latin typeface="MiSans" pitchFamily="34" charset="0"/>
                <a:ea typeface="MiSans" pitchFamily="34" charset="-122"/>
                <a:cs typeface="MiSans" pitchFamily="34" charset="-120"/>
              </a:rPr>
              <a:t>Best for: Lean teams wanting full-stack control</a:t>
            </a:r>
            <a:endParaRPr lang="en-US" sz="1300" dirty="0"/>
          </a:p>
        </p:txBody>
      </p:sp>
      <p:sp>
        <p:nvSpPr>
          <p:cNvPr id="20" name="Text 18"/>
          <p:cNvSpPr/>
          <p:nvPr/>
        </p:nvSpPr>
        <p:spPr>
          <a:xfrm>
            <a:off x="635000" y="4902200"/>
            <a:ext cx="6350000" cy="304800"/>
          </a:xfrm>
          <a:prstGeom prst="rect">
            <a:avLst/>
          </a:prstGeom>
          <a:noFill/>
          <a:ln/>
        </p:spPr>
        <p:txBody>
          <a:bodyPr wrap="none" lIns="0" tIns="0" rIns="0" bIns="0" rtlCol="0" anchor="ctr"/>
          <a:lstStyle/>
          <a:p>
            <a:pPr algn="l">
              <a:lnSpc>
                <a:spcPct val="120000"/>
              </a:lnSpc>
            </a:pPr>
            <a:r>
              <a:rPr lang="en-US" sz="1400" b="1" dirty="0">
                <a:solidFill>
                  <a:srgbClr val="2C2C2C"/>
                </a:solidFill>
                <a:latin typeface="Liter" pitchFamily="34" charset="0"/>
                <a:ea typeface="Liter" pitchFamily="34" charset="-122"/>
                <a:cs typeface="Liter" pitchFamily="34" charset="-120"/>
              </a:rPr>
              <a:t>Platform Comparison</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35000" y="5257800"/>
          <a:ext cx="14986000" cy="2159000"/>
        </p:xfrm>
        <a:graphic>
          <a:graphicData uri="http://schemas.openxmlformats.org/drawingml/2006/table">
            <a:tbl>
              <a:tblPr/>
              <a:tblGrid>
                <a:gridCol w="2997200"/>
                <a:gridCol w="2997200"/>
                <a:gridCol w="2997200"/>
                <a:gridCol w="2997200"/>
                <a:gridCol w="2997200"/>
              </a:tblGrid>
              <a:tr h="539750">
                <a:tc>
                  <a:txBody>
                    <a:bodyPr/>
                    <a:lstStyle/>
                    <a:p>
                      <a:pPr algn="ctr"/>
                      <a:r>
                        <a:rPr lang="en-US" sz="1300" b="1" dirty="0">
                          <a:solidFill>
                            <a:srgbClr val="FFFFFF"/>
                          </a:solidFill>
                          <a:latin typeface="Liter" pitchFamily="34" charset="0"/>
                          <a:ea typeface="Liter" pitchFamily="34" charset="-122"/>
                          <a:cs typeface="Liter" pitchFamily="34" charset="-120"/>
                        </a:rPr>
                        <a:t>Feature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11x.ai</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Persana AI</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Eve by Cykel</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Point Solutions</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r>
              <a:tr h="539750">
                <a:tc>
                  <a:txBody>
                    <a:bodyPr/>
                    <a:lstStyle/>
                    <a:p>
                      <a:pPr algn="ctr"/>
                      <a:r>
                        <a:rPr lang="en-US" sz="1300" dirty="0">
                          <a:solidFill>
                            <a:srgbClr val="2C2C2C"/>
                          </a:solidFill>
                          <a:latin typeface="Liter" pitchFamily="34" charset="0"/>
                          <a:ea typeface="Liter" pitchFamily="34" charset="-122"/>
                          <a:cs typeface="Liter" pitchFamily="34" charset="-120"/>
                        </a:rPr>
                        <a:t>Monthly Cost</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D91E18"/>
                          </a:solidFill>
                          <a:latin typeface="Liter" pitchFamily="34" charset="0"/>
                          <a:ea typeface="Liter" pitchFamily="34" charset="-122"/>
                          <a:cs typeface="Liter" pitchFamily="34" charset="-120"/>
                        </a:rPr>
                        <a:t>$3-5K</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00A3A1"/>
                          </a:solidFill>
                          <a:latin typeface="Liter" pitchFamily="34" charset="0"/>
                          <a:ea typeface="Liter" pitchFamily="34" charset="-122"/>
                          <a:cs typeface="Liter" pitchFamily="34" charset="-120"/>
                        </a:rPr>
                        <a:t>~$400</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5B9BD5"/>
                          </a:solidFill>
                          <a:latin typeface="Liter" pitchFamily="34" charset="0"/>
                          <a:ea typeface="Liter" pitchFamily="34" charset="-122"/>
                          <a:cs typeface="Liter" pitchFamily="34" charset="-120"/>
                        </a:rPr>
                        <a:t>$400</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$700+</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539750">
                <a:tc>
                  <a:txBody>
                    <a:bodyPr/>
                    <a:lstStyle/>
                    <a:p>
                      <a:pPr algn="ctr"/>
                      <a:r>
                        <a:rPr lang="en-US" sz="1300" dirty="0">
                          <a:solidFill>
                            <a:srgbClr val="2C2C2C"/>
                          </a:solidFill>
                          <a:latin typeface="Liter" pitchFamily="34" charset="0"/>
                          <a:ea typeface="Liter" pitchFamily="34" charset="-122"/>
                          <a:cs typeface="Liter" pitchFamily="34" charset="-120"/>
                        </a:rPr>
                        <a:t>Autonomy Level</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2C2C2C"/>
                          </a:solidFill>
                          <a:latin typeface="Liter" pitchFamily="34" charset="0"/>
                          <a:ea typeface="Liter" pitchFamily="34" charset="-122"/>
                          <a:cs typeface="Liter" pitchFamily="34" charset="-120"/>
                        </a:rPr>
                        <a:t>High</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2C2C2C"/>
                          </a:solidFill>
                          <a:latin typeface="Liter" pitchFamily="34" charset="0"/>
                          <a:ea typeface="Liter" pitchFamily="34" charset="-122"/>
                          <a:cs typeface="Liter" pitchFamily="34" charset="-120"/>
                        </a:rPr>
                        <a:t>High</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2C2C2C"/>
                          </a:solidFill>
                          <a:latin typeface="Liter" pitchFamily="34" charset="0"/>
                          <a:ea typeface="Liter" pitchFamily="34" charset="-122"/>
                          <a:cs typeface="Liter" pitchFamily="34" charset="-120"/>
                        </a:rPr>
                        <a:t>High (human-in-loop)</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2C2C2C"/>
                          </a:solidFill>
                          <a:latin typeface="Liter" pitchFamily="34" charset="0"/>
                          <a:ea typeface="Liter" pitchFamily="34" charset="-122"/>
                          <a:cs typeface="Liter" pitchFamily="34" charset="-120"/>
                        </a:rPr>
                        <a:t>Low-Medium</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r>
              <a:tr h="539750">
                <a:tc>
                  <a:txBody>
                    <a:bodyPr/>
                    <a:lstStyle/>
                    <a:p>
                      <a:pPr algn="ctr"/>
                      <a:r>
                        <a:rPr lang="en-US" sz="1300" dirty="0">
                          <a:solidFill>
                            <a:srgbClr val="2C2C2C"/>
                          </a:solidFill>
                          <a:latin typeface="Liter" pitchFamily="34" charset="0"/>
                          <a:ea typeface="Liter" pitchFamily="34" charset="-122"/>
                          <a:cs typeface="Liter" pitchFamily="34" charset="-120"/>
                        </a:rPr>
                        <a:t>Best For</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Enterprise volume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Startup scale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Lean teams</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Single function</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22" name="Shape 19"/>
          <p:cNvSpPr/>
          <p:nvPr/>
        </p:nvSpPr>
        <p:spPr>
          <a:xfrm>
            <a:off x="635000" y="7569200"/>
            <a:ext cx="14986000" cy="711200"/>
          </a:xfrm>
          <a:prstGeom prst="rect">
            <a:avLst/>
          </a:prstGeom>
          <a:solidFill>
            <a:srgbClr val="FFFFFF"/>
          </a:solidFill>
          <a:ln w="12700">
            <a:solidFill>
              <a:srgbClr val="DDDDDD"/>
            </a:solidFill>
            <a:prstDash val="solid"/>
          </a:ln>
        </p:spPr>
      </p:sp>
      <p:sp>
        <p:nvSpPr>
          <p:cNvPr id="23" name="Shape 20"/>
          <p:cNvSpPr/>
          <p:nvPr/>
        </p:nvSpPr>
        <p:spPr>
          <a:xfrm>
            <a:off x="635000" y="7569200"/>
            <a:ext cx="50800" cy="711200"/>
          </a:xfrm>
          <a:prstGeom prst="rect">
            <a:avLst/>
          </a:prstGeom>
          <a:solidFill>
            <a:srgbClr val="D91E18"/>
          </a:solidFill>
          <a:ln/>
        </p:spPr>
      </p:sp>
      <p:sp>
        <p:nvSpPr>
          <p:cNvPr id="24" name="Text 21"/>
          <p:cNvSpPr/>
          <p:nvPr/>
        </p:nvSpPr>
        <p:spPr>
          <a:xfrm>
            <a:off x="838200" y="7620000"/>
            <a:ext cx="14579600" cy="609600"/>
          </a:xfrm>
          <a:prstGeom prst="rect">
            <a:avLst/>
          </a:prstGeom>
          <a:noFill/>
          <a:ln/>
        </p:spPr>
        <p:txBody>
          <a:bodyPr wrap="square" lIns="0" tIns="0" rIns="0" bIns="0" rtlCol="0" anchor="t"/>
          <a:lstStyle/>
          <a:p>
            <a:pPr algn="l">
              <a:lnSpc>
                <a:spcPct val="150000"/>
              </a:lnSpc>
            </a:pPr>
            <a:r>
              <a:rPr lang="en-US" sz="1300" b="1" dirty="0">
                <a:solidFill>
                  <a:srgbClr val="D91E18"/>
                </a:solidFill>
                <a:latin typeface="MiSans" pitchFamily="34" charset="0"/>
                <a:ea typeface="MiSans" pitchFamily="34" charset="-122"/>
                <a:cs typeface="MiSans" pitchFamily="34" charset="-120"/>
              </a:rPr>
              <a:t>Key insight:</a:t>
            </a:r>
            <a:pPr algn="l">
              <a:lnSpc>
                <a:spcPct val="150000"/>
              </a:lnSpc>
            </a:pPr>
            <a:r>
              <a:rPr lang="en-US" sz="1300" dirty="0">
                <a:solidFill>
                  <a:srgbClr val="2C2C2C"/>
                </a:solidFill>
                <a:latin typeface="MiSans" pitchFamily="34" charset="0"/>
                <a:ea typeface="MiSans" pitchFamily="34" charset="-122"/>
                <a:cs typeface="MiSans" pitchFamily="34" charset="-120"/>
              </a:rPr>
              <a:t> Autonomous GTM platforms replace the need for multiple point solutions. Eve by Cykel at $400/mo replaces $700+ worth of individual tools. For startups, the choice is: one integrated AI worker or a stack of 5+ tools requiring manual orchestration.</a:t>
            </a:r>
            <a:endParaRPr lang="en-US" sz="1300" dirty="0"/>
          </a:p>
        </p:txBody>
      </p:sp>
      <p:sp>
        <p:nvSpPr>
          <p:cNvPr id="25" name="Shape 22"/>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26" name="Text 23"/>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Planetary Labour Autonomous GTM Platform Analysis 2025</a:t>
            </a:r>
            <a:endParaRPr lang="en-US" sz="1300" dirty="0"/>
          </a:p>
        </p:txBody>
      </p:sp>
      <p:sp>
        <p:nvSpPr>
          <p:cNvPr id="27" name="Text 24"/>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15</a:t>
            </a:r>
            <a:endParaRPr lang="en-US" sz="12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Build your first AI GTM stack in five steps — start lean, iterate fast</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THE WEEKLY GTM JOURNAL SEPARATES TEAMS THAT LEARN FROM THOSE THAT EXECUTE</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635000" y="1346200"/>
            <a:ext cx="2794000" cy="889000"/>
          </a:xfrm>
          <a:prstGeom prst="rect">
            <a:avLst/>
          </a:prstGeom>
          <a:solidFill>
            <a:srgbClr val="FFFFFF"/>
          </a:solidFill>
          <a:ln w="12700">
            <a:solidFill>
              <a:srgbClr val="DDDDDD"/>
            </a:solidFill>
            <a:prstDash val="solid"/>
          </a:ln>
        </p:spPr>
      </p:sp>
      <p:sp>
        <p:nvSpPr>
          <p:cNvPr id="6" name="Text 4"/>
          <p:cNvSpPr/>
          <p:nvPr/>
        </p:nvSpPr>
        <p:spPr>
          <a:xfrm>
            <a:off x="736600" y="1422400"/>
            <a:ext cx="698500" cy="381000"/>
          </a:xfrm>
          <a:prstGeom prst="rect">
            <a:avLst/>
          </a:prstGeom>
          <a:noFill/>
          <a:ln/>
        </p:spPr>
        <p:txBody>
          <a:bodyPr wrap="none" lIns="0" tIns="0" rIns="0" bIns="0" rtlCol="0" anchor="ctr"/>
          <a:lstStyle/>
          <a:p>
            <a:pPr algn="l">
              <a:lnSpc>
                <a:spcPct val="120000"/>
              </a:lnSpc>
            </a:pPr>
            <a:r>
              <a:rPr lang="en-US" sz="2000" b="1" dirty="0">
                <a:solidFill>
                  <a:srgbClr val="D91E18"/>
                </a:solidFill>
                <a:latin typeface="Liter" pitchFamily="34" charset="0"/>
                <a:ea typeface="Liter" pitchFamily="34" charset="-122"/>
                <a:cs typeface="Liter" pitchFamily="34" charset="-120"/>
              </a:rPr>
              <a:t>01</a:t>
            </a:r>
            <a:endParaRPr lang="en-US" sz="2000" dirty="0"/>
          </a:p>
        </p:txBody>
      </p:sp>
      <p:sp>
        <p:nvSpPr>
          <p:cNvPr id="7" name="Text 5"/>
          <p:cNvSpPr/>
          <p:nvPr/>
        </p:nvSpPr>
        <p:spPr>
          <a:xfrm>
            <a:off x="1498600" y="1422400"/>
            <a:ext cx="1828800" cy="381000"/>
          </a:xfrm>
          <a:prstGeom prst="rect">
            <a:avLst/>
          </a:prstGeom>
          <a:noFill/>
          <a:ln/>
        </p:spPr>
        <p:txBody>
          <a:bodyPr wrap="none" lIns="0" tIns="0" rIns="0" bIns="0" rtlCol="0" anchor="ctr"/>
          <a:lstStyle/>
          <a:p>
            <a:pPr algn="l">
              <a:lnSpc>
                <a:spcPct val="120000"/>
              </a:lnSpc>
            </a:pPr>
            <a:r>
              <a:rPr lang="en-US" sz="1300" b="1" dirty="0">
                <a:solidFill>
                  <a:srgbClr val="2C2C2C"/>
                </a:solidFill>
                <a:latin typeface="Liter" pitchFamily="34" charset="0"/>
                <a:ea typeface="Liter" pitchFamily="34" charset="-122"/>
                <a:cs typeface="Liter" pitchFamily="34" charset="-120"/>
              </a:rPr>
              <a:t>DEFINE ICP</a:t>
            </a:r>
            <a:endParaRPr lang="en-US" sz="1300" dirty="0"/>
          </a:p>
        </p:txBody>
      </p:sp>
      <p:sp>
        <p:nvSpPr>
          <p:cNvPr id="8" name="Text 6"/>
          <p:cNvSpPr/>
          <p:nvPr/>
        </p:nvSpPr>
        <p:spPr>
          <a:xfrm>
            <a:off x="736600" y="1828800"/>
            <a:ext cx="2590800" cy="279400"/>
          </a:xfrm>
          <a:prstGeom prst="rect">
            <a:avLst/>
          </a:prstGeom>
          <a:noFill/>
          <a:ln/>
        </p:spPr>
        <p:txBody>
          <a:bodyPr wrap="none" lIns="0" tIns="0" rIns="0" bIns="0" rtlCol="0" anchor="ctr"/>
          <a:lstStyle/>
          <a:p>
            <a:pPr algn="l">
              <a:lnSpc>
                <a:spcPct val="120000"/>
              </a:lnSpc>
            </a:pPr>
            <a:r>
              <a:rPr lang="en-US" sz="1200" dirty="0">
                <a:solidFill>
                  <a:srgbClr val="888888"/>
                </a:solidFill>
                <a:latin typeface="Liter" pitchFamily="34" charset="0"/>
                <a:ea typeface="Liter" pitchFamily="34" charset="-122"/>
                <a:cs typeface="Liter" pitchFamily="34" charset="-120"/>
              </a:rPr>
              <a:t>Data, not assumptions</a:t>
            </a:r>
            <a:endParaRPr lang="en-US" sz="1200" dirty="0"/>
          </a:p>
        </p:txBody>
      </p:sp>
      <p:sp>
        <p:nvSpPr>
          <p:cNvPr id="9" name="Shape 7"/>
          <p:cNvSpPr/>
          <p:nvPr/>
        </p:nvSpPr>
        <p:spPr>
          <a:xfrm>
            <a:off x="3505200" y="1778000"/>
            <a:ext cx="254000" cy="0"/>
          </a:xfrm>
          <a:prstGeom prst="straightConnector1">
            <a:avLst/>
          </a:prstGeom>
          <a:noFill/>
          <a:ln w="25400">
            <a:solidFill>
              <a:srgbClr val="D91E18"/>
            </a:solidFill>
            <a:prstDash val="solid"/>
            <a:headEnd type="none"/>
            <a:tailEnd type="arrow"/>
          </a:ln>
        </p:spPr>
      </p:sp>
      <p:sp>
        <p:nvSpPr>
          <p:cNvPr id="10" name="Shape 8"/>
          <p:cNvSpPr/>
          <p:nvPr/>
        </p:nvSpPr>
        <p:spPr>
          <a:xfrm>
            <a:off x="3835400" y="1346200"/>
            <a:ext cx="2794000" cy="889000"/>
          </a:xfrm>
          <a:prstGeom prst="rect">
            <a:avLst/>
          </a:prstGeom>
          <a:solidFill>
            <a:srgbClr val="FFFFFF"/>
          </a:solidFill>
          <a:ln w="12700">
            <a:solidFill>
              <a:srgbClr val="DDDDDD"/>
            </a:solidFill>
            <a:prstDash val="solid"/>
          </a:ln>
        </p:spPr>
      </p:sp>
      <p:sp>
        <p:nvSpPr>
          <p:cNvPr id="11" name="Text 9"/>
          <p:cNvSpPr/>
          <p:nvPr/>
        </p:nvSpPr>
        <p:spPr>
          <a:xfrm>
            <a:off x="3937000" y="1422400"/>
            <a:ext cx="698500" cy="381000"/>
          </a:xfrm>
          <a:prstGeom prst="rect">
            <a:avLst/>
          </a:prstGeom>
          <a:noFill/>
          <a:ln/>
        </p:spPr>
        <p:txBody>
          <a:bodyPr wrap="none" lIns="0" tIns="0" rIns="0" bIns="0" rtlCol="0" anchor="ctr"/>
          <a:lstStyle/>
          <a:p>
            <a:pPr algn="l">
              <a:lnSpc>
                <a:spcPct val="120000"/>
              </a:lnSpc>
            </a:pPr>
            <a:r>
              <a:rPr lang="en-US" sz="2000" b="1" dirty="0">
                <a:solidFill>
                  <a:srgbClr val="D91E18"/>
                </a:solidFill>
                <a:latin typeface="Liter" pitchFamily="34" charset="0"/>
                <a:ea typeface="Liter" pitchFamily="34" charset="-122"/>
                <a:cs typeface="Liter" pitchFamily="34" charset="-120"/>
              </a:rPr>
              <a:t>02</a:t>
            </a:r>
            <a:endParaRPr lang="en-US" sz="2000" dirty="0"/>
          </a:p>
        </p:txBody>
      </p:sp>
      <p:sp>
        <p:nvSpPr>
          <p:cNvPr id="12" name="Text 10"/>
          <p:cNvSpPr/>
          <p:nvPr/>
        </p:nvSpPr>
        <p:spPr>
          <a:xfrm>
            <a:off x="4699000" y="1422400"/>
            <a:ext cx="1828800" cy="381000"/>
          </a:xfrm>
          <a:prstGeom prst="rect">
            <a:avLst/>
          </a:prstGeom>
          <a:noFill/>
          <a:ln/>
        </p:spPr>
        <p:txBody>
          <a:bodyPr wrap="none" lIns="0" tIns="0" rIns="0" bIns="0" rtlCol="0" anchor="ctr"/>
          <a:lstStyle/>
          <a:p>
            <a:pPr algn="l">
              <a:lnSpc>
                <a:spcPct val="120000"/>
              </a:lnSpc>
            </a:pPr>
            <a:r>
              <a:rPr lang="en-US" sz="1300" b="1" dirty="0">
                <a:solidFill>
                  <a:srgbClr val="2C2C2C"/>
                </a:solidFill>
                <a:latin typeface="Liter" pitchFamily="34" charset="0"/>
                <a:ea typeface="Liter" pitchFamily="34" charset="-122"/>
                <a:cs typeface="Liter" pitchFamily="34" charset="-120"/>
              </a:rPr>
              <a:t>PICK MOTION</a:t>
            </a:r>
            <a:endParaRPr lang="en-US" sz="1300" dirty="0"/>
          </a:p>
        </p:txBody>
      </p:sp>
      <p:sp>
        <p:nvSpPr>
          <p:cNvPr id="13" name="Text 11"/>
          <p:cNvSpPr/>
          <p:nvPr/>
        </p:nvSpPr>
        <p:spPr>
          <a:xfrm>
            <a:off x="3937000" y="1828800"/>
            <a:ext cx="2590800" cy="279400"/>
          </a:xfrm>
          <a:prstGeom prst="rect">
            <a:avLst/>
          </a:prstGeom>
          <a:noFill/>
          <a:ln/>
        </p:spPr>
        <p:txBody>
          <a:bodyPr wrap="none" lIns="0" tIns="0" rIns="0" bIns="0" rtlCol="0" anchor="ctr"/>
          <a:lstStyle/>
          <a:p>
            <a:pPr algn="l">
              <a:lnSpc>
                <a:spcPct val="120000"/>
              </a:lnSpc>
            </a:pPr>
            <a:r>
              <a:rPr lang="en-US" sz="1200" dirty="0">
                <a:solidFill>
                  <a:srgbClr val="888888"/>
                </a:solidFill>
                <a:latin typeface="Liter" pitchFamily="34" charset="0"/>
                <a:ea typeface="Liter" pitchFamily="34" charset="-122"/>
                <a:cs typeface="Liter" pitchFamily="34" charset="-120"/>
              </a:rPr>
              <a:t>Outbound OR content</a:t>
            </a:r>
            <a:endParaRPr lang="en-US" sz="1200" dirty="0"/>
          </a:p>
        </p:txBody>
      </p:sp>
      <p:sp>
        <p:nvSpPr>
          <p:cNvPr id="14" name="Shape 12"/>
          <p:cNvSpPr/>
          <p:nvPr/>
        </p:nvSpPr>
        <p:spPr>
          <a:xfrm>
            <a:off x="6705600" y="1778000"/>
            <a:ext cx="254000" cy="0"/>
          </a:xfrm>
          <a:prstGeom prst="straightConnector1">
            <a:avLst/>
          </a:prstGeom>
          <a:noFill/>
          <a:ln w="25400">
            <a:solidFill>
              <a:srgbClr val="D91E18"/>
            </a:solidFill>
            <a:prstDash val="solid"/>
            <a:headEnd type="none"/>
            <a:tailEnd type="arrow"/>
          </a:ln>
        </p:spPr>
      </p:sp>
      <p:sp>
        <p:nvSpPr>
          <p:cNvPr id="15" name="Shape 13"/>
          <p:cNvSpPr/>
          <p:nvPr/>
        </p:nvSpPr>
        <p:spPr>
          <a:xfrm>
            <a:off x="7035800" y="1346200"/>
            <a:ext cx="2794000" cy="889000"/>
          </a:xfrm>
          <a:prstGeom prst="rect">
            <a:avLst/>
          </a:prstGeom>
          <a:solidFill>
            <a:srgbClr val="FFFFFF"/>
          </a:solidFill>
          <a:ln w="12700">
            <a:solidFill>
              <a:srgbClr val="DDDDDD"/>
            </a:solidFill>
            <a:prstDash val="solid"/>
          </a:ln>
        </p:spPr>
      </p:sp>
      <p:sp>
        <p:nvSpPr>
          <p:cNvPr id="16" name="Text 14"/>
          <p:cNvSpPr/>
          <p:nvPr/>
        </p:nvSpPr>
        <p:spPr>
          <a:xfrm>
            <a:off x="7137400" y="1422400"/>
            <a:ext cx="698500" cy="381000"/>
          </a:xfrm>
          <a:prstGeom prst="rect">
            <a:avLst/>
          </a:prstGeom>
          <a:noFill/>
          <a:ln/>
        </p:spPr>
        <p:txBody>
          <a:bodyPr wrap="none" lIns="0" tIns="0" rIns="0" bIns="0" rtlCol="0" anchor="ctr"/>
          <a:lstStyle/>
          <a:p>
            <a:pPr algn="l">
              <a:lnSpc>
                <a:spcPct val="120000"/>
              </a:lnSpc>
            </a:pPr>
            <a:r>
              <a:rPr lang="en-US" sz="2000" b="1" dirty="0">
                <a:solidFill>
                  <a:srgbClr val="D91E18"/>
                </a:solidFill>
                <a:latin typeface="Liter" pitchFamily="34" charset="0"/>
                <a:ea typeface="Liter" pitchFamily="34" charset="-122"/>
                <a:cs typeface="Liter" pitchFamily="34" charset="-120"/>
              </a:rPr>
              <a:t>03</a:t>
            </a:r>
            <a:endParaRPr lang="en-US" sz="2000" dirty="0"/>
          </a:p>
        </p:txBody>
      </p:sp>
      <p:sp>
        <p:nvSpPr>
          <p:cNvPr id="17" name="Text 15"/>
          <p:cNvSpPr/>
          <p:nvPr/>
        </p:nvSpPr>
        <p:spPr>
          <a:xfrm>
            <a:off x="7899400" y="1422400"/>
            <a:ext cx="1828800" cy="381000"/>
          </a:xfrm>
          <a:prstGeom prst="rect">
            <a:avLst/>
          </a:prstGeom>
          <a:noFill/>
          <a:ln/>
        </p:spPr>
        <p:txBody>
          <a:bodyPr wrap="none" lIns="0" tIns="0" rIns="0" bIns="0" rtlCol="0" anchor="ctr"/>
          <a:lstStyle/>
          <a:p>
            <a:pPr algn="l">
              <a:lnSpc>
                <a:spcPct val="120000"/>
              </a:lnSpc>
            </a:pPr>
            <a:r>
              <a:rPr lang="en-US" sz="1300" b="1" dirty="0">
                <a:solidFill>
                  <a:srgbClr val="2C2C2C"/>
                </a:solidFill>
                <a:latin typeface="Liter" pitchFamily="34" charset="0"/>
                <a:ea typeface="Liter" pitchFamily="34" charset="-122"/>
                <a:cs typeface="Liter" pitchFamily="34" charset="-120"/>
              </a:rPr>
              <a:t>CONNECT DATA</a:t>
            </a:r>
            <a:endParaRPr lang="en-US" sz="1300" dirty="0"/>
          </a:p>
        </p:txBody>
      </p:sp>
      <p:sp>
        <p:nvSpPr>
          <p:cNvPr id="18" name="Text 16"/>
          <p:cNvSpPr/>
          <p:nvPr/>
        </p:nvSpPr>
        <p:spPr>
          <a:xfrm>
            <a:off x="7137400" y="1828800"/>
            <a:ext cx="2590800" cy="279400"/>
          </a:xfrm>
          <a:prstGeom prst="rect">
            <a:avLst/>
          </a:prstGeom>
          <a:noFill/>
          <a:ln/>
        </p:spPr>
        <p:txBody>
          <a:bodyPr wrap="none" lIns="0" tIns="0" rIns="0" bIns="0" rtlCol="0" anchor="ctr"/>
          <a:lstStyle/>
          <a:p>
            <a:pPr algn="l">
              <a:lnSpc>
                <a:spcPct val="120000"/>
              </a:lnSpc>
            </a:pPr>
            <a:r>
              <a:rPr lang="en-US" sz="1200" dirty="0">
                <a:solidFill>
                  <a:srgbClr val="888888"/>
                </a:solidFill>
                <a:latin typeface="Liter" pitchFamily="34" charset="0"/>
                <a:ea typeface="Liter" pitchFamily="34" charset="-122"/>
                <a:cs typeface="Liter" pitchFamily="34" charset="-120"/>
              </a:rPr>
              <a:t>CRM, LinkedIn, website</a:t>
            </a:r>
            <a:endParaRPr lang="en-US" sz="1200" dirty="0"/>
          </a:p>
        </p:txBody>
      </p:sp>
      <p:sp>
        <p:nvSpPr>
          <p:cNvPr id="19" name="Shape 17"/>
          <p:cNvSpPr/>
          <p:nvPr/>
        </p:nvSpPr>
        <p:spPr>
          <a:xfrm>
            <a:off x="9906000" y="1778000"/>
            <a:ext cx="254000" cy="0"/>
          </a:xfrm>
          <a:prstGeom prst="straightConnector1">
            <a:avLst/>
          </a:prstGeom>
          <a:noFill/>
          <a:ln w="25400">
            <a:solidFill>
              <a:srgbClr val="D91E18"/>
            </a:solidFill>
            <a:prstDash val="solid"/>
            <a:headEnd type="none"/>
            <a:tailEnd type="arrow"/>
          </a:ln>
        </p:spPr>
      </p:sp>
      <p:sp>
        <p:nvSpPr>
          <p:cNvPr id="20" name="Shape 18"/>
          <p:cNvSpPr/>
          <p:nvPr/>
        </p:nvSpPr>
        <p:spPr>
          <a:xfrm>
            <a:off x="10236200" y="1346200"/>
            <a:ext cx="2794000" cy="889000"/>
          </a:xfrm>
          <a:prstGeom prst="rect">
            <a:avLst/>
          </a:prstGeom>
          <a:solidFill>
            <a:srgbClr val="FFFFFF"/>
          </a:solidFill>
          <a:ln w="12700">
            <a:solidFill>
              <a:srgbClr val="DDDDDD"/>
            </a:solidFill>
            <a:prstDash val="solid"/>
          </a:ln>
        </p:spPr>
      </p:sp>
      <p:sp>
        <p:nvSpPr>
          <p:cNvPr id="21" name="Text 19"/>
          <p:cNvSpPr/>
          <p:nvPr/>
        </p:nvSpPr>
        <p:spPr>
          <a:xfrm>
            <a:off x="10337800" y="1422400"/>
            <a:ext cx="698500" cy="381000"/>
          </a:xfrm>
          <a:prstGeom prst="rect">
            <a:avLst/>
          </a:prstGeom>
          <a:noFill/>
          <a:ln/>
        </p:spPr>
        <p:txBody>
          <a:bodyPr wrap="none" lIns="0" tIns="0" rIns="0" bIns="0" rtlCol="0" anchor="ctr"/>
          <a:lstStyle/>
          <a:p>
            <a:pPr algn="l">
              <a:lnSpc>
                <a:spcPct val="120000"/>
              </a:lnSpc>
            </a:pPr>
            <a:r>
              <a:rPr lang="en-US" sz="2000" b="1" dirty="0">
                <a:solidFill>
                  <a:srgbClr val="D91E18"/>
                </a:solidFill>
                <a:latin typeface="Liter" pitchFamily="34" charset="0"/>
                <a:ea typeface="Liter" pitchFamily="34" charset="-122"/>
                <a:cs typeface="Liter" pitchFamily="34" charset="-120"/>
              </a:rPr>
              <a:t>04</a:t>
            </a:r>
            <a:endParaRPr lang="en-US" sz="2000" dirty="0"/>
          </a:p>
        </p:txBody>
      </p:sp>
      <p:sp>
        <p:nvSpPr>
          <p:cNvPr id="22" name="Text 20"/>
          <p:cNvSpPr/>
          <p:nvPr/>
        </p:nvSpPr>
        <p:spPr>
          <a:xfrm>
            <a:off x="11099800" y="1422400"/>
            <a:ext cx="1651000" cy="381000"/>
          </a:xfrm>
          <a:prstGeom prst="rect">
            <a:avLst/>
          </a:prstGeom>
          <a:noFill/>
          <a:ln/>
        </p:spPr>
        <p:txBody>
          <a:bodyPr wrap="none" lIns="0" tIns="0" rIns="0" bIns="0" rtlCol="0" anchor="ctr"/>
          <a:lstStyle/>
          <a:p>
            <a:pPr algn="l">
              <a:lnSpc>
                <a:spcPct val="120000"/>
              </a:lnSpc>
            </a:pPr>
            <a:r>
              <a:rPr lang="en-US" sz="1300" b="1" dirty="0">
                <a:solidFill>
                  <a:srgbClr val="2C2C2C"/>
                </a:solidFill>
                <a:latin typeface="Liter" pitchFamily="34" charset="0"/>
                <a:ea typeface="Liter" pitchFamily="34" charset="-122"/>
                <a:cs typeface="Liter" pitchFamily="34" charset="-120"/>
              </a:rPr>
              <a:t>DEPLOY AGENTS</a:t>
            </a:r>
            <a:endParaRPr lang="en-US" sz="1300" dirty="0"/>
          </a:p>
        </p:txBody>
      </p:sp>
      <p:sp>
        <p:nvSpPr>
          <p:cNvPr id="23" name="Text 21"/>
          <p:cNvSpPr/>
          <p:nvPr/>
        </p:nvSpPr>
        <p:spPr>
          <a:xfrm>
            <a:off x="10337800" y="1828800"/>
            <a:ext cx="2590800" cy="279400"/>
          </a:xfrm>
          <a:prstGeom prst="rect">
            <a:avLst/>
          </a:prstGeom>
          <a:noFill/>
          <a:ln/>
        </p:spPr>
        <p:txBody>
          <a:bodyPr wrap="none" lIns="0" tIns="0" rIns="0" bIns="0" rtlCol="0" anchor="ctr"/>
          <a:lstStyle/>
          <a:p>
            <a:pPr algn="l">
              <a:lnSpc>
                <a:spcPct val="120000"/>
              </a:lnSpc>
            </a:pPr>
            <a:r>
              <a:rPr lang="en-US" sz="1200" dirty="0">
                <a:solidFill>
                  <a:srgbClr val="888888"/>
                </a:solidFill>
                <a:latin typeface="Liter" pitchFamily="34" charset="0"/>
                <a:ea typeface="Liter" pitchFamily="34" charset="-122"/>
                <a:cs typeface="Liter" pitchFamily="34" charset="-120"/>
              </a:rPr>
              <a:t>One per function</a:t>
            </a:r>
            <a:endParaRPr lang="en-US" sz="1200" dirty="0"/>
          </a:p>
        </p:txBody>
      </p:sp>
      <p:sp>
        <p:nvSpPr>
          <p:cNvPr id="24" name="Shape 22"/>
          <p:cNvSpPr/>
          <p:nvPr/>
        </p:nvSpPr>
        <p:spPr>
          <a:xfrm>
            <a:off x="13106400" y="1778000"/>
            <a:ext cx="254000" cy="0"/>
          </a:xfrm>
          <a:prstGeom prst="straightConnector1">
            <a:avLst/>
          </a:prstGeom>
          <a:noFill/>
          <a:ln w="25400">
            <a:solidFill>
              <a:srgbClr val="D91E18"/>
            </a:solidFill>
            <a:prstDash val="solid"/>
            <a:headEnd type="none"/>
            <a:tailEnd type="arrow"/>
          </a:ln>
        </p:spPr>
      </p:sp>
      <p:sp>
        <p:nvSpPr>
          <p:cNvPr id="25" name="Shape 23"/>
          <p:cNvSpPr/>
          <p:nvPr/>
        </p:nvSpPr>
        <p:spPr>
          <a:xfrm>
            <a:off x="13436600" y="1346200"/>
            <a:ext cx="2184400" cy="889000"/>
          </a:xfrm>
          <a:prstGeom prst="rect">
            <a:avLst/>
          </a:prstGeom>
          <a:solidFill>
            <a:srgbClr val="D91E18"/>
          </a:solidFill>
          <a:ln/>
        </p:spPr>
      </p:sp>
      <p:sp>
        <p:nvSpPr>
          <p:cNvPr id="26" name="Text 24"/>
          <p:cNvSpPr/>
          <p:nvPr/>
        </p:nvSpPr>
        <p:spPr>
          <a:xfrm>
            <a:off x="13538200" y="1422400"/>
            <a:ext cx="698500" cy="381000"/>
          </a:xfrm>
          <a:prstGeom prst="rect">
            <a:avLst/>
          </a:prstGeom>
          <a:noFill/>
          <a:ln/>
        </p:spPr>
        <p:txBody>
          <a:bodyPr wrap="none" lIns="0" tIns="0" rIns="0" bIns="0" rtlCol="0" anchor="ctr"/>
          <a:lstStyle/>
          <a:p>
            <a:pPr algn="l">
              <a:lnSpc>
                <a:spcPct val="120000"/>
              </a:lnSpc>
            </a:pPr>
            <a:r>
              <a:rPr lang="en-US" sz="2000" b="1" dirty="0">
                <a:solidFill>
                  <a:srgbClr val="FFFFFF"/>
                </a:solidFill>
                <a:latin typeface="Liter" pitchFamily="34" charset="0"/>
                <a:ea typeface="Liter" pitchFamily="34" charset="-122"/>
                <a:cs typeface="Liter" pitchFamily="34" charset="-120"/>
              </a:rPr>
              <a:t>05</a:t>
            </a:r>
            <a:endParaRPr lang="en-US" sz="2000" dirty="0"/>
          </a:p>
        </p:txBody>
      </p:sp>
      <p:sp>
        <p:nvSpPr>
          <p:cNvPr id="27" name="Text 25"/>
          <p:cNvSpPr/>
          <p:nvPr/>
        </p:nvSpPr>
        <p:spPr>
          <a:xfrm>
            <a:off x="14300200" y="1422400"/>
            <a:ext cx="1219200" cy="381000"/>
          </a:xfrm>
          <a:prstGeom prst="rect">
            <a:avLst/>
          </a:prstGeom>
          <a:noFill/>
          <a:ln/>
        </p:spPr>
        <p:txBody>
          <a:bodyPr wrap="none" lIns="0" tIns="0" rIns="0" bIns="0" rtlCol="0" anchor="ctr"/>
          <a:lstStyle/>
          <a:p>
            <a:pPr algn="l">
              <a:lnSpc>
                <a:spcPct val="120000"/>
              </a:lnSpc>
            </a:pPr>
            <a:r>
              <a:rPr lang="en-US" sz="1300" b="1" dirty="0">
                <a:solidFill>
                  <a:srgbClr val="FFFFFF"/>
                </a:solidFill>
                <a:latin typeface="Liter" pitchFamily="34" charset="0"/>
                <a:ea typeface="Liter" pitchFamily="34" charset="-122"/>
                <a:cs typeface="Liter" pitchFamily="34" charset="-120"/>
              </a:rPr>
              <a:t>ITERATE</a:t>
            </a:r>
            <a:endParaRPr lang="en-US" sz="1300" dirty="0"/>
          </a:p>
        </p:txBody>
      </p:sp>
      <p:sp>
        <p:nvSpPr>
          <p:cNvPr id="28" name="Text 26"/>
          <p:cNvSpPr/>
          <p:nvPr/>
        </p:nvSpPr>
        <p:spPr>
          <a:xfrm>
            <a:off x="13538200" y="1828800"/>
            <a:ext cx="1981200" cy="279400"/>
          </a:xfrm>
          <a:prstGeom prst="rect">
            <a:avLst/>
          </a:prstGeom>
          <a:noFill/>
          <a:ln/>
        </p:spPr>
        <p:txBody>
          <a:bodyPr wrap="none" lIns="0" tIns="0" rIns="0" bIns="0" rtlCol="0" anchor="ctr"/>
          <a:lstStyle/>
          <a:p>
            <a:pPr algn="l">
              <a:lnSpc>
                <a:spcPct val="120000"/>
              </a:lnSpc>
            </a:pPr>
            <a:r>
              <a:rPr lang="en-US" sz="1200" dirty="0">
                <a:solidFill>
                  <a:srgbClr val="FFD0CE"/>
                </a:solidFill>
                <a:latin typeface="Liter" pitchFamily="34" charset="0"/>
                <a:ea typeface="Liter" pitchFamily="34" charset="-122"/>
                <a:cs typeface="Liter" pitchFamily="34" charset="-120"/>
              </a:rPr>
              <a:t>Measure, learn, repeat</a:t>
            </a:r>
            <a:endParaRPr lang="en-US" sz="1200" dirty="0"/>
          </a:p>
        </p:txBody>
      </p:sp>
      <p:sp>
        <p:nvSpPr>
          <p:cNvPr id="29" name="Shape 27"/>
          <p:cNvSpPr/>
          <p:nvPr/>
        </p:nvSpPr>
        <p:spPr>
          <a:xfrm>
            <a:off x="635000" y="2540000"/>
            <a:ext cx="2794000" cy="3302000"/>
          </a:xfrm>
          <a:prstGeom prst="rect">
            <a:avLst/>
          </a:prstGeom>
          <a:solidFill>
            <a:srgbClr val="FFFFFF"/>
          </a:solidFill>
          <a:ln w="12700">
            <a:solidFill>
              <a:srgbClr val="DDDDDD"/>
            </a:solidFill>
            <a:prstDash val="solid"/>
          </a:ln>
        </p:spPr>
      </p:sp>
      <p:sp>
        <p:nvSpPr>
          <p:cNvPr id="30" name="Text 28"/>
          <p:cNvSpPr/>
          <p:nvPr/>
        </p:nvSpPr>
        <p:spPr>
          <a:xfrm>
            <a:off x="787400" y="2667000"/>
            <a:ext cx="2489200" cy="3048000"/>
          </a:xfrm>
          <a:prstGeom prst="rect">
            <a:avLst/>
          </a:prstGeom>
          <a:noFill/>
          <a:ln/>
        </p:spPr>
        <p:txBody>
          <a:bodyPr wrap="square" lIns="0" tIns="0" rIns="0" bIns="0" rtlCol="0" anchor="t"/>
          <a:lstStyle/>
          <a:p>
            <a:pPr algn="l">
              <a:lnSpc>
                <a:spcPct val="160000"/>
              </a:lnSpc>
            </a:pPr>
            <a:r>
              <a:rPr lang="en-US" sz="1200" b="1" dirty="0">
                <a:solidFill>
                  <a:srgbClr val="D91E18"/>
                </a:solidFill>
                <a:latin typeface="MiSans" pitchFamily="34" charset="0"/>
                <a:ea typeface="MiSans" pitchFamily="34" charset="-122"/>
                <a:cs typeface="MiSans" pitchFamily="34" charset="-120"/>
              </a:rPr>
              <a:t>Define ICP</a:t>
            </a:r>
            <a:endParaRPr lang="en-US" sz="1200" dirty="0"/>
          </a:p>
          <a:p>
            <a:pPr algn="l">
              <a:lnSpc>
                <a:spcPct val="160000"/>
              </a:lnSpc>
            </a:pPr>
            <a:r>
              <a:rPr lang="en-US" sz="1200" dirty="0">
                <a:solidFill>
                  <a:srgbClr val="2C2C2C"/>
                </a:solidFill>
                <a:latin typeface="MiSans" pitchFamily="34" charset="0"/>
                <a:ea typeface="MiSans" pitchFamily="34" charset="-122"/>
                <a:cs typeface="MiSans" pitchFamily="34" charset="-120"/>
              </a:rPr>
              <a:t>Start with your 10 best customers. Identify common attributes. Use the reverse ICP method — let data define your ideal customer, not assumptions.</a:t>
            </a:r>
            <a:endParaRPr lang="en-US" sz="1200" dirty="0"/>
          </a:p>
          <a:p>
            <a:pPr algn="l">
              <a:lnSpc>
                <a:spcPct val="160000"/>
              </a:lnSpc>
              <a:spcBef>
                <a:spcPts val="600"/>
              </a:spcBef>
            </a:pPr>
            <a:r>
              <a:rPr lang="en-US" sz="1200" dirty="0">
                <a:solidFill>
                  <a:srgbClr val="888888"/>
                </a:solidFill>
                <a:latin typeface="MiSans" pitchFamily="34" charset="0"/>
                <a:ea typeface="MiSans" pitchFamily="34" charset="-122"/>
                <a:cs typeface="MiSans" pitchFamily="34" charset="-120"/>
              </a:rPr>
              <a:t>Minimum 20 customer interviews before finalizing.</a:t>
            </a:r>
            <a:endParaRPr lang="en-US" sz="1200" dirty="0"/>
          </a:p>
        </p:txBody>
      </p:sp>
      <p:sp>
        <p:nvSpPr>
          <p:cNvPr id="31" name="Shape 29"/>
          <p:cNvSpPr/>
          <p:nvPr/>
        </p:nvSpPr>
        <p:spPr>
          <a:xfrm>
            <a:off x="3835400" y="2540000"/>
            <a:ext cx="2794000" cy="3302000"/>
          </a:xfrm>
          <a:prstGeom prst="rect">
            <a:avLst/>
          </a:prstGeom>
          <a:solidFill>
            <a:srgbClr val="FFFFFF"/>
          </a:solidFill>
          <a:ln w="12700">
            <a:solidFill>
              <a:srgbClr val="DDDDDD"/>
            </a:solidFill>
            <a:prstDash val="solid"/>
          </a:ln>
        </p:spPr>
      </p:sp>
      <p:sp>
        <p:nvSpPr>
          <p:cNvPr id="32" name="Text 30"/>
          <p:cNvSpPr/>
          <p:nvPr/>
        </p:nvSpPr>
        <p:spPr>
          <a:xfrm>
            <a:off x="3987800" y="2667000"/>
            <a:ext cx="2489200" cy="3048000"/>
          </a:xfrm>
          <a:prstGeom prst="rect">
            <a:avLst/>
          </a:prstGeom>
          <a:noFill/>
          <a:ln/>
        </p:spPr>
        <p:txBody>
          <a:bodyPr wrap="square" lIns="0" tIns="0" rIns="0" bIns="0" rtlCol="0" anchor="t"/>
          <a:lstStyle/>
          <a:p>
            <a:pPr algn="l">
              <a:lnSpc>
                <a:spcPct val="160000"/>
              </a:lnSpc>
            </a:pPr>
            <a:r>
              <a:rPr lang="en-US" sz="1200" b="1" dirty="0">
                <a:solidFill>
                  <a:srgbClr val="D91E18"/>
                </a:solidFill>
                <a:latin typeface="MiSans" pitchFamily="34" charset="0"/>
                <a:ea typeface="MiSans" pitchFamily="34" charset="-122"/>
                <a:cs typeface="MiSans" pitchFamily="34" charset="-120"/>
              </a:rPr>
              <a:t>Pick One Motion</a:t>
            </a:r>
            <a:endParaRPr lang="en-US" sz="1200" dirty="0"/>
          </a:p>
          <a:p>
            <a:pPr algn="l">
              <a:lnSpc>
                <a:spcPct val="160000"/>
              </a:lnSpc>
            </a:pPr>
            <a:r>
              <a:rPr lang="en-US" sz="1200" dirty="0">
                <a:solidFill>
                  <a:srgbClr val="2C2C2C"/>
                </a:solidFill>
                <a:latin typeface="MiSans" pitchFamily="34" charset="0"/>
                <a:ea typeface="MiSans" pitchFamily="34" charset="-122"/>
                <a:cs typeface="MiSans" pitchFamily="34" charset="-120"/>
              </a:rPr>
              <a:t>Outbound OR content — not both. Outbound = faster feedback. Content = compounding returns. Choose based on your ACV and team strengths.</a:t>
            </a:r>
            <a:endParaRPr lang="en-US" sz="1200" dirty="0"/>
          </a:p>
          <a:p>
            <a:pPr algn="l">
              <a:lnSpc>
                <a:spcPct val="160000"/>
              </a:lnSpc>
              <a:spcBef>
                <a:spcPts val="600"/>
              </a:spcBef>
            </a:pPr>
            <a:r>
              <a:rPr lang="en-US" sz="1200" dirty="0">
                <a:solidFill>
                  <a:srgbClr val="888888"/>
                </a:solidFill>
                <a:latin typeface="MiSans" pitchFamily="34" charset="0"/>
                <a:ea typeface="MiSans" pitchFamily="34" charset="-122"/>
                <a:cs typeface="MiSans" pitchFamily="34" charset="-120"/>
              </a:rPr>
              <a:t>Master one before adding the second.</a:t>
            </a:r>
            <a:endParaRPr lang="en-US" sz="1200" dirty="0"/>
          </a:p>
        </p:txBody>
      </p:sp>
      <p:sp>
        <p:nvSpPr>
          <p:cNvPr id="33" name="Shape 31"/>
          <p:cNvSpPr/>
          <p:nvPr/>
        </p:nvSpPr>
        <p:spPr>
          <a:xfrm>
            <a:off x="7035800" y="2540000"/>
            <a:ext cx="2794000" cy="3302000"/>
          </a:xfrm>
          <a:prstGeom prst="rect">
            <a:avLst/>
          </a:prstGeom>
          <a:solidFill>
            <a:srgbClr val="FFFFFF"/>
          </a:solidFill>
          <a:ln w="12700">
            <a:solidFill>
              <a:srgbClr val="DDDDDD"/>
            </a:solidFill>
            <a:prstDash val="solid"/>
          </a:ln>
        </p:spPr>
      </p:sp>
      <p:sp>
        <p:nvSpPr>
          <p:cNvPr id="34" name="Text 32"/>
          <p:cNvSpPr/>
          <p:nvPr/>
        </p:nvSpPr>
        <p:spPr>
          <a:xfrm>
            <a:off x="7188200" y="2667000"/>
            <a:ext cx="2489200" cy="3048000"/>
          </a:xfrm>
          <a:prstGeom prst="rect">
            <a:avLst/>
          </a:prstGeom>
          <a:noFill/>
          <a:ln/>
        </p:spPr>
        <p:txBody>
          <a:bodyPr wrap="square" lIns="0" tIns="0" rIns="0" bIns="0" rtlCol="0" anchor="t"/>
          <a:lstStyle/>
          <a:p>
            <a:pPr algn="l">
              <a:lnSpc>
                <a:spcPct val="160000"/>
              </a:lnSpc>
            </a:pPr>
            <a:r>
              <a:rPr lang="en-US" sz="1200" b="1" dirty="0">
                <a:solidFill>
                  <a:srgbClr val="D91E18"/>
                </a:solidFill>
                <a:latin typeface="MiSans" pitchFamily="34" charset="0"/>
                <a:ea typeface="MiSans" pitchFamily="34" charset="-122"/>
                <a:cs typeface="MiSans" pitchFamily="34" charset="-120"/>
              </a:rPr>
              <a:t>Connect Data</a:t>
            </a:r>
            <a:endParaRPr lang="en-US" sz="1200" dirty="0"/>
          </a:p>
          <a:p>
            <a:pPr algn="l">
              <a:lnSpc>
                <a:spcPct val="160000"/>
              </a:lnSpc>
            </a:pPr>
            <a:r>
              <a:rPr lang="en-US" sz="1200" dirty="0">
                <a:solidFill>
                  <a:srgbClr val="2C2C2C"/>
                </a:solidFill>
                <a:latin typeface="MiSans" pitchFamily="34" charset="0"/>
                <a:ea typeface="MiSans" pitchFamily="34" charset="-122"/>
                <a:cs typeface="MiSans" pitchFamily="34" charset="-120"/>
              </a:rPr>
              <a:t>Link your CRM, LinkedIn, website analytics, and email platform. Data flow between tools is what makes AI agents intelligent.</a:t>
            </a:r>
            <a:endParaRPr lang="en-US" sz="1200" dirty="0"/>
          </a:p>
          <a:p>
            <a:pPr algn="l">
              <a:lnSpc>
                <a:spcPct val="160000"/>
              </a:lnSpc>
              <a:spcBef>
                <a:spcPts val="600"/>
              </a:spcBef>
            </a:pPr>
            <a:r>
              <a:rPr lang="en-US" sz="1200" dirty="0">
                <a:solidFill>
                  <a:srgbClr val="888888"/>
                </a:solidFill>
                <a:latin typeface="MiSans" pitchFamily="34" charset="0"/>
                <a:ea typeface="MiSans" pitchFamily="34" charset="-122"/>
                <a:cs typeface="MiSans" pitchFamily="34" charset="-120"/>
              </a:rPr>
              <a:t>Zapier or native integrations work.</a:t>
            </a:r>
            <a:endParaRPr lang="en-US" sz="1200" dirty="0"/>
          </a:p>
        </p:txBody>
      </p:sp>
      <p:sp>
        <p:nvSpPr>
          <p:cNvPr id="35" name="Shape 33"/>
          <p:cNvSpPr/>
          <p:nvPr/>
        </p:nvSpPr>
        <p:spPr>
          <a:xfrm>
            <a:off x="10236200" y="2540000"/>
            <a:ext cx="2794000" cy="3302000"/>
          </a:xfrm>
          <a:prstGeom prst="rect">
            <a:avLst/>
          </a:prstGeom>
          <a:solidFill>
            <a:srgbClr val="FFFFFF"/>
          </a:solidFill>
          <a:ln w="12700">
            <a:solidFill>
              <a:srgbClr val="DDDDDD"/>
            </a:solidFill>
            <a:prstDash val="solid"/>
          </a:ln>
        </p:spPr>
      </p:sp>
      <p:sp>
        <p:nvSpPr>
          <p:cNvPr id="36" name="Text 34"/>
          <p:cNvSpPr/>
          <p:nvPr/>
        </p:nvSpPr>
        <p:spPr>
          <a:xfrm>
            <a:off x="10388600" y="2667000"/>
            <a:ext cx="2489200" cy="3048000"/>
          </a:xfrm>
          <a:prstGeom prst="rect">
            <a:avLst/>
          </a:prstGeom>
          <a:noFill/>
          <a:ln/>
        </p:spPr>
        <p:txBody>
          <a:bodyPr wrap="square" lIns="0" tIns="0" rIns="0" bIns="0" rtlCol="0" anchor="t"/>
          <a:lstStyle/>
          <a:p>
            <a:pPr algn="l">
              <a:lnSpc>
                <a:spcPct val="160000"/>
              </a:lnSpc>
            </a:pPr>
            <a:r>
              <a:rPr lang="en-US" sz="1200" b="1" dirty="0">
                <a:solidFill>
                  <a:srgbClr val="D91E18"/>
                </a:solidFill>
                <a:latin typeface="MiSans" pitchFamily="34" charset="0"/>
                <a:ea typeface="MiSans" pitchFamily="34" charset="-122"/>
                <a:cs typeface="MiSans" pitchFamily="34" charset="-120"/>
              </a:rPr>
              <a:t>Deploy Agents</a:t>
            </a:r>
            <a:endParaRPr lang="en-US" sz="1200" dirty="0"/>
          </a:p>
          <a:p>
            <a:pPr algn="l">
              <a:lnSpc>
                <a:spcPct val="160000"/>
              </a:lnSpc>
            </a:pPr>
            <a:r>
              <a:rPr lang="en-US" sz="1200" dirty="0">
                <a:solidFill>
                  <a:srgbClr val="2C2C2C"/>
                </a:solidFill>
                <a:latin typeface="MiSans" pitchFamily="34" charset="0"/>
                <a:ea typeface="MiSans" pitchFamily="34" charset="-122"/>
                <a:cs typeface="MiSans" pitchFamily="34" charset="-120"/>
              </a:rPr>
              <a:t>One AI tool per function: prospecting (Clay), outreach (Apollo), content (Copy.ai), reporting (HubSpot). Set triggers and schedules.</a:t>
            </a:r>
            <a:endParaRPr lang="en-US" sz="1200" dirty="0"/>
          </a:p>
          <a:p>
            <a:pPr algn="l">
              <a:lnSpc>
                <a:spcPct val="160000"/>
              </a:lnSpc>
              <a:spcBef>
                <a:spcPts val="600"/>
              </a:spcBef>
            </a:pPr>
            <a:r>
              <a:rPr lang="en-US" sz="1200" dirty="0">
                <a:solidFill>
                  <a:srgbClr val="888888"/>
                </a:solidFill>
                <a:latin typeface="MiSans" pitchFamily="34" charset="0"/>
                <a:ea typeface="MiSans" pitchFamily="34" charset="-122"/>
                <a:cs typeface="MiSans" pitchFamily="34" charset="-120"/>
              </a:rPr>
              <a:t>Start simple. Add complexity later.</a:t>
            </a:r>
            <a:endParaRPr lang="en-US" sz="1200" dirty="0"/>
          </a:p>
        </p:txBody>
      </p:sp>
      <p:sp>
        <p:nvSpPr>
          <p:cNvPr id="37" name="Shape 35"/>
          <p:cNvSpPr/>
          <p:nvPr/>
        </p:nvSpPr>
        <p:spPr>
          <a:xfrm>
            <a:off x="13436600" y="2540000"/>
            <a:ext cx="2184400" cy="3302000"/>
          </a:xfrm>
          <a:prstGeom prst="rect">
            <a:avLst/>
          </a:prstGeom>
          <a:solidFill>
            <a:srgbClr val="D91E18">
              <a:alpha val="5882"/>
            </a:srgbClr>
          </a:solidFill>
          <a:ln/>
        </p:spPr>
      </p:sp>
      <p:sp>
        <p:nvSpPr>
          <p:cNvPr id="38" name="Text 36"/>
          <p:cNvSpPr/>
          <p:nvPr/>
        </p:nvSpPr>
        <p:spPr>
          <a:xfrm>
            <a:off x="13589000" y="2667000"/>
            <a:ext cx="1879600" cy="3048000"/>
          </a:xfrm>
          <a:prstGeom prst="rect">
            <a:avLst/>
          </a:prstGeom>
          <a:noFill/>
          <a:ln/>
        </p:spPr>
        <p:txBody>
          <a:bodyPr wrap="square" lIns="0" tIns="0" rIns="0" bIns="0" rtlCol="0" anchor="t"/>
          <a:lstStyle/>
          <a:p>
            <a:pPr algn="l">
              <a:lnSpc>
                <a:spcPct val="160000"/>
              </a:lnSpc>
            </a:pPr>
            <a:r>
              <a:rPr lang="en-US" sz="1200" b="1" dirty="0">
                <a:solidFill>
                  <a:srgbClr val="D91E18"/>
                </a:solidFill>
                <a:latin typeface="MiSans" pitchFamily="34" charset="0"/>
                <a:ea typeface="MiSans" pitchFamily="34" charset="-122"/>
                <a:cs typeface="MiSans" pitchFamily="34" charset="-120"/>
              </a:rPr>
              <a:t>Iterate Weekly</a:t>
            </a:r>
            <a:endParaRPr lang="en-US" sz="1200" dirty="0"/>
          </a:p>
          <a:p>
            <a:pPr algn="l">
              <a:lnSpc>
                <a:spcPct val="160000"/>
              </a:lnSpc>
            </a:pPr>
            <a:r>
              <a:rPr lang="en-US" sz="1200" dirty="0">
                <a:solidFill>
                  <a:srgbClr val="2C2C2C"/>
                </a:solidFill>
                <a:latin typeface="MiSans" pitchFamily="34" charset="0"/>
                <a:ea typeface="MiSans" pitchFamily="34" charset="-122"/>
                <a:cs typeface="MiSans" pitchFamily="34" charset="-120"/>
              </a:rPr>
              <a:t>The weekly GTM journal: 3 things learned, 1 assumption proved wrong, 1 thing to change. Patterns emerge after 30 days.</a:t>
            </a:r>
            <a:endParaRPr lang="en-US" sz="1200" dirty="0"/>
          </a:p>
          <a:p>
            <a:pPr algn="l">
              <a:lnSpc>
                <a:spcPct val="160000"/>
              </a:lnSpc>
              <a:spcBef>
                <a:spcPts val="600"/>
              </a:spcBef>
            </a:pPr>
            <a:r>
              <a:rPr lang="en-US" sz="1200" dirty="0">
                <a:solidFill>
                  <a:srgbClr val="888888"/>
                </a:solidFill>
                <a:latin typeface="MiSans" pitchFamily="34" charset="0"/>
                <a:ea typeface="MiSans" pitchFamily="34" charset="-122"/>
                <a:cs typeface="MiSans" pitchFamily="34" charset="-120"/>
              </a:rPr>
              <a:t>This discipline separates winners.</a:t>
            </a:r>
            <a:endParaRPr lang="en-US" sz="1200" dirty="0"/>
          </a:p>
        </p:txBody>
      </p:sp>
      <p:sp>
        <p:nvSpPr>
          <p:cNvPr id="39" name="Text 37"/>
          <p:cNvSpPr/>
          <p:nvPr/>
        </p:nvSpPr>
        <p:spPr>
          <a:xfrm>
            <a:off x="635000" y="6096000"/>
            <a:ext cx="14986000" cy="12700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The Weekly GTM Journal Framework:</a:t>
            </a:r>
            <a:pPr algn="l">
              <a:lnSpc>
                <a:spcPct val="160000"/>
              </a:lnSpc>
            </a:pPr>
            <a:r>
              <a:rPr lang="en-US" sz="1300" dirty="0">
                <a:solidFill>
                  <a:srgbClr val="2C2C2C"/>
                </a:solidFill>
                <a:latin typeface="MiSans" pitchFamily="34" charset="0"/>
                <a:ea typeface="MiSans" pitchFamily="34" charset="-122"/>
                <a:cs typeface="MiSans" pitchFamily="34" charset="-120"/>
              </a:rPr>
              <a:t> Every Friday, each person on the commercial team writes down three things they learned from customer interactions that week, one assumption that was proved wrong, and one thing they would change about the current approach. After thirty days, patterns emerge that no dashboard can surface. This discipline of structured reflection separates teams that learn from teams that merely execute.</a:t>
            </a:r>
            <a:endParaRPr lang="en-US" sz="1300" dirty="0"/>
          </a:p>
        </p:txBody>
      </p:sp>
      <p:sp>
        <p:nvSpPr>
          <p:cNvPr id="40" name="Shape 38"/>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41" name="Text 39"/>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Miniloop AI GTM Stack Guide 2026</a:t>
            </a:r>
            <a:endParaRPr lang="en-US" sz="1300" dirty="0"/>
          </a:p>
        </p:txBody>
      </p:sp>
      <p:sp>
        <p:nvSpPr>
          <p:cNvPr id="42" name="Text 40"/>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16</a:t>
            </a:r>
            <a:endParaRPr lang="en-US" sz="12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The modern AI GTM stack maps to four core pillars</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AI DOES NOT REPLACE YOUR GTM STACK — IT MAKES IT FASTER, LEANER, MORE RESPONSIVE</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635000" y="1346200"/>
            <a:ext cx="3556000" cy="3048000"/>
          </a:xfrm>
          <a:prstGeom prst="rect">
            <a:avLst/>
          </a:prstGeom>
          <a:solidFill>
            <a:srgbClr val="FFFFFF"/>
          </a:solidFill>
          <a:ln w="12700">
            <a:solidFill>
              <a:srgbClr val="DDDDDD"/>
            </a:solidFill>
            <a:prstDash val="solid"/>
          </a:ln>
        </p:spPr>
      </p:sp>
      <p:sp>
        <p:nvSpPr>
          <p:cNvPr id="6" name="Shape 4"/>
          <p:cNvSpPr/>
          <p:nvPr/>
        </p:nvSpPr>
        <p:spPr>
          <a:xfrm>
            <a:off x="635000" y="1346200"/>
            <a:ext cx="3556000" cy="63500"/>
          </a:xfrm>
          <a:prstGeom prst="rect">
            <a:avLst/>
          </a:prstGeom>
          <a:solidFill>
            <a:srgbClr val="D91E18"/>
          </a:solidFill>
          <a:ln/>
        </p:spPr>
      </p:sp>
      <p:sp>
        <p:nvSpPr>
          <p:cNvPr id="7" name="Text 5"/>
          <p:cNvSpPr/>
          <p:nvPr/>
        </p:nvSpPr>
        <p:spPr>
          <a:xfrm>
            <a:off x="787400" y="1524000"/>
            <a:ext cx="3251200" cy="355600"/>
          </a:xfrm>
          <a:prstGeom prst="rect">
            <a:avLst/>
          </a:prstGeom>
          <a:noFill/>
          <a:ln/>
        </p:spPr>
        <p:txBody>
          <a:bodyPr wrap="none" lIns="0" tIns="0" rIns="0" bIns="0" rtlCol="0" anchor="ctr"/>
          <a:lstStyle/>
          <a:p>
            <a:pPr algn="l">
              <a:lnSpc>
                <a:spcPct val="120000"/>
              </a:lnSpc>
            </a:pPr>
            <a:r>
              <a:rPr lang="en-US" sz="1600" b="1" dirty="0">
                <a:solidFill>
                  <a:srgbClr val="D91E18"/>
                </a:solidFill>
                <a:latin typeface="Liter" pitchFamily="34" charset="0"/>
                <a:ea typeface="Liter" pitchFamily="34" charset="-122"/>
                <a:cs typeface="Liter" pitchFamily="34" charset="-120"/>
              </a:rPr>
              <a:t>MARKETING</a:t>
            </a:r>
            <a:endParaRPr lang="en-US" sz="1600" dirty="0"/>
          </a:p>
        </p:txBody>
      </p:sp>
      <p:sp>
        <p:nvSpPr>
          <p:cNvPr id="8" name="Text 6"/>
          <p:cNvSpPr/>
          <p:nvPr/>
        </p:nvSpPr>
        <p:spPr>
          <a:xfrm>
            <a:off x="787400" y="1930400"/>
            <a:ext cx="3251200" cy="2362200"/>
          </a:xfrm>
          <a:prstGeom prst="rect">
            <a:avLst/>
          </a:prstGeom>
          <a:noFill/>
          <a:ln/>
        </p:spPr>
        <p:txBody>
          <a:bodyPr wrap="square" lIns="0" tIns="0" rIns="0" bIns="0" rtlCol="0" anchor="t"/>
          <a:lstStyle/>
          <a:p>
            <a:pPr algn="l">
              <a:lnSpc>
                <a:spcPct val="160000"/>
              </a:lnSpc>
            </a:pPr>
            <a:r>
              <a:rPr lang="en-US" sz="1300" b="1" dirty="0">
                <a:solidFill>
                  <a:srgbClr val="2C2C2C"/>
                </a:solidFill>
                <a:latin typeface="MiSans" pitchFamily="34" charset="0"/>
                <a:ea typeface="MiSans" pitchFamily="34" charset="-122"/>
                <a:cs typeface="MiSans" pitchFamily="34" charset="-120"/>
              </a:rPr>
              <a:t>Content:</a:t>
            </a:r>
            <a:pPr algn="l">
              <a:lnSpc>
                <a:spcPct val="160000"/>
              </a:lnSpc>
            </a:pPr>
            <a:r>
              <a:rPr lang="en-US" sz="1300" dirty="0">
                <a:solidFill>
                  <a:srgbClr val="2C2C2C"/>
                </a:solidFill>
                <a:latin typeface="MiSans" pitchFamily="34" charset="0"/>
                <a:ea typeface="MiSans" pitchFamily="34" charset="-122"/>
                <a:cs typeface="MiSans" pitchFamily="34" charset="-120"/>
              </a:rPr>
              <a:t> ChatGPT, Copy.ai, Jasper</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Visuals:</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Gamma.app, Veo3, Designs.ai</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SEO:</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Surfer, Clearscope</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Social:</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Buffer AI, Hootsuite</a:t>
            </a:r>
            <a:endParaRPr lang="en-US" sz="1300" dirty="0"/>
          </a:p>
          <a:p>
            <a:pPr algn="l">
              <a:lnSpc>
                <a:spcPct val="160000"/>
              </a:lnSpc>
              <a:spcBef>
                <a:spcPts val="800"/>
              </a:spcBef>
            </a:pPr>
            <a:r>
              <a:rPr lang="en-US" sz="1300" dirty="0">
                <a:solidFill>
                  <a:srgbClr val="888888"/>
                </a:solidFill>
                <a:latin typeface="MiSans" pitchFamily="34" charset="0"/>
                <a:ea typeface="MiSans" pitchFamily="34" charset="-122"/>
                <a:cs typeface="MiSans" pitchFamily="34" charset="-120"/>
              </a:rPr>
              <a:t>Automate ideation, drafting, design, and distribution across all channels.</a:t>
            </a:r>
            <a:endParaRPr lang="en-US" sz="1300" dirty="0"/>
          </a:p>
        </p:txBody>
      </p:sp>
      <p:sp>
        <p:nvSpPr>
          <p:cNvPr id="9" name="Shape 7"/>
          <p:cNvSpPr/>
          <p:nvPr/>
        </p:nvSpPr>
        <p:spPr>
          <a:xfrm>
            <a:off x="4445000" y="1346200"/>
            <a:ext cx="3556000" cy="3048000"/>
          </a:xfrm>
          <a:prstGeom prst="rect">
            <a:avLst/>
          </a:prstGeom>
          <a:solidFill>
            <a:srgbClr val="FFFFFF"/>
          </a:solidFill>
          <a:ln w="12700">
            <a:solidFill>
              <a:srgbClr val="DDDDDD"/>
            </a:solidFill>
            <a:prstDash val="solid"/>
          </a:ln>
        </p:spPr>
      </p:sp>
      <p:sp>
        <p:nvSpPr>
          <p:cNvPr id="10" name="Shape 8"/>
          <p:cNvSpPr/>
          <p:nvPr/>
        </p:nvSpPr>
        <p:spPr>
          <a:xfrm>
            <a:off x="4445000" y="1346200"/>
            <a:ext cx="3556000" cy="63500"/>
          </a:xfrm>
          <a:prstGeom prst="rect">
            <a:avLst/>
          </a:prstGeom>
          <a:solidFill>
            <a:srgbClr val="E8762B"/>
          </a:solidFill>
          <a:ln/>
        </p:spPr>
      </p:sp>
      <p:sp>
        <p:nvSpPr>
          <p:cNvPr id="11" name="Text 9"/>
          <p:cNvSpPr/>
          <p:nvPr/>
        </p:nvSpPr>
        <p:spPr>
          <a:xfrm>
            <a:off x="4597400" y="1524000"/>
            <a:ext cx="3251200" cy="355600"/>
          </a:xfrm>
          <a:prstGeom prst="rect">
            <a:avLst/>
          </a:prstGeom>
          <a:noFill/>
          <a:ln/>
        </p:spPr>
        <p:txBody>
          <a:bodyPr wrap="none" lIns="0" tIns="0" rIns="0" bIns="0" rtlCol="0" anchor="ctr"/>
          <a:lstStyle/>
          <a:p>
            <a:pPr algn="l">
              <a:lnSpc>
                <a:spcPct val="120000"/>
              </a:lnSpc>
            </a:pPr>
            <a:r>
              <a:rPr lang="en-US" sz="1600" b="1" dirty="0">
                <a:solidFill>
                  <a:srgbClr val="E8762B"/>
                </a:solidFill>
                <a:latin typeface="Liter" pitchFamily="34" charset="0"/>
                <a:ea typeface="Liter" pitchFamily="34" charset="-122"/>
                <a:cs typeface="Liter" pitchFamily="34" charset="-120"/>
              </a:rPr>
              <a:t>SALES</a:t>
            </a:r>
            <a:endParaRPr lang="en-US" sz="1600" dirty="0"/>
          </a:p>
        </p:txBody>
      </p:sp>
      <p:sp>
        <p:nvSpPr>
          <p:cNvPr id="12" name="Text 10"/>
          <p:cNvSpPr/>
          <p:nvPr/>
        </p:nvSpPr>
        <p:spPr>
          <a:xfrm>
            <a:off x="4597400" y="1930400"/>
            <a:ext cx="3251200" cy="2362200"/>
          </a:xfrm>
          <a:prstGeom prst="rect">
            <a:avLst/>
          </a:prstGeom>
          <a:noFill/>
          <a:ln/>
        </p:spPr>
        <p:txBody>
          <a:bodyPr wrap="square" lIns="0" tIns="0" rIns="0" bIns="0" rtlCol="0" anchor="t"/>
          <a:lstStyle/>
          <a:p>
            <a:pPr algn="l">
              <a:lnSpc>
                <a:spcPct val="160000"/>
              </a:lnSpc>
            </a:pPr>
            <a:r>
              <a:rPr lang="en-US" sz="1300" b="1" dirty="0">
                <a:solidFill>
                  <a:srgbClr val="2C2C2C"/>
                </a:solidFill>
                <a:latin typeface="MiSans" pitchFamily="34" charset="0"/>
                <a:ea typeface="MiSans" pitchFamily="34" charset="-122"/>
                <a:cs typeface="MiSans" pitchFamily="34" charset="-120"/>
              </a:rPr>
              <a:t>Lead Gen:</a:t>
            </a:r>
            <a:pPr algn="l">
              <a:lnSpc>
                <a:spcPct val="160000"/>
              </a:lnSpc>
            </a:pPr>
            <a:r>
              <a:rPr lang="en-US" sz="1300" dirty="0">
                <a:solidFill>
                  <a:srgbClr val="2C2C2C"/>
                </a:solidFill>
                <a:latin typeface="MiSans" pitchFamily="34" charset="0"/>
                <a:ea typeface="MiSans" pitchFamily="34" charset="-122"/>
                <a:cs typeface="MiSans" pitchFamily="34" charset="-120"/>
              </a:rPr>
              <a:t> Clay, Apollo, Lusha</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Outbound:</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Outreach, Salesloft</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Tech Sales:</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Docket AI</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Proposals:</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PandaDoc, Qwilr</a:t>
            </a:r>
            <a:endParaRPr lang="en-US" sz="1300" dirty="0"/>
          </a:p>
          <a:p>
            <a:pPr algn="l">
              <a:lnSpc>
                <a:spcPct val="160000"/>
              </a:lnSpc>
              <a:spcBef>
                <a:spcPts val="800"/>
              </a:spcBef>
            </a:pPr>
            <a:r>
              <a:rPr lang="en-US" sz="1300" dirty="0">
                <a:solidFill>
                  <a:srgbClr val="888888"/>
                </a:solidFill>
                <a:latin typeface="MiSans" pitchFamily="34" charset="0"/>
                <a:ea typeface="MiSans" pitchFamily="34" charset="-122"/>
                <a:cs typeface="MiSans" pitchFamily="34" charset="-120"/>
              </a:rPr>
              <a:t>Automate prospecting, enrichment, sequencing, and deal documentation.</a:t>
            </a:r>
            <a:endParaRPr lang="en-US" sz="1300" dirty="0"/>
          </a:p>
        </p:txBody>
      </p:sp>
      <p:sp>
        <p:nvSpPr>
          <p:cNvPr id="13" name="Shape 11"/>
          <p:cNvSpPr/>
          <p:nvPr/>
        </p:nvSpPr>
        <p:spPr>
          <a:xfrm>
            <a:off x="8255000" y="1346200"/>
            <a:ext cx="3556000" cy="3048000"/>
          </a:xfrm>
          <a:prstGeom prst="rect">
            <a:avLst/>
          </a:prstGeom>
          <a:solidFill>
            <a:srgbClr val="FFFFFF"/>
          </a:solidFill>
          <a:ln w="12700">
            <a:solidFill>
              <a:srgbClr val="DDDDDD"/>
            </a:solidFill>
            <a:prstDash val="solid"/>
          </a:ln>
        </p:spPr>
      </p:sp>
      <p:sp>
        <p:nvSpPr>
          <p:cNvPr id="14" name="Shape 12"/>
          <p:cNvSpPr/>
          <p:nvPr/>
        </p:nvSpPr>
        <p:spPr>
          <a:xfrm>
            <a:off x="8255000" y="1346200"/>
            <a:ext cx="3556000" cy="63500"/>
          </a:xfrm>
          <a:prstGeom prst="rect">
            <a:avLst/>
          </a:prstGeom>
          <a:solidFill>
            <a:srgbClr val="00A3A1"/>
          </a:solidFill>
          <a:ln/>
        </p:spPr>
      </p:sp>
      <p:sp>
        <p:nvSpPr>
          <p:cNvPr id="15" name="Text 13"/>
          <p:cNvSpPr/>
          <p:nvPr/>
        </p:nvSpPr>
        <p:spPr>
          <a:xfrm>
            <a:off x="8407400" y="1524000"/>
            <a:ext cx="3251200" cy="355600"/>
          </a:xfrm>
          <a:prstGeom prst="rect">
            <a:avLst/>
          </a:prstGeom>
          <a:noFill/>
          <a:ln/>
        </p:spPr>
        <p:txBody>
          <a:bodyPr wrap="none" lIns="0" tIns="0" rIns="0" bIns="0" rtlCol="0" anchor="ctr"/>
          <a:lstStyle/>
          <a:p>
            <a:pPr algn="l">
              <a:lnSpc>
                <a:spcPct val="120000"/>
              </a:lnSpc>
            </a:pPr>
            <a:r>
              <a:rPr lang="en-US" sz="1600" b="1" dirty="0">
                <a:solidFill>
                  <a:srgbClr val="00A3A1"/>
                </a:solidFill>
                <a:latin typeface="Liter" pitchFamily="34" charset="0"/>
                <a:ea typeface="Liter" pitchFamily="34" charset="-122"/>
                <a:cs typeface="Liter" pitchFamily="34" charset="-120"/>
              </a:rPr>
              <a:t>REVOPS</a:t>
            </a:r>
            <a:endParaRPr lang="en-US" sz="1600" dirty="0"/>
          </a:p>
        </p:txBody>
      </p:sp>
      <p:sp>
        <p:nvSpPr>
          <p:cNvPr id="16" name="Text 14"/>
          <p:cNvSpPr/>
          <p:nvPr/>
        </p:nvSpPr>
        <p:spPr>
          <a:xfrm>
            <a:off x="8407400" y="1930400"/>
            <a:ext cx="3251200" cy="2362200"/>
          </a:xfrm>
          <a:prstGeom prst="rect">
            <a:avLst/>
          </a:prstGeom>
          <a:noFill/>
          <a:ln/>
        </p:spPr>
        <p:txBody>
          <a:bodyPr wrap="square" lIns="0" tIns="0" rIns="0" bIns="0" rtlCol="0" anchor="t"/>
          <a:lstStyle/>
          <a:p>
            <a:pPr algn="l">
              <a:lnSpc>
                <a:spcPct val="160000"/>
              </a:lnSpc>
            </a:pPr>
            <a:r>
              <a:rPr lang="en-US" sz="1300" b="1" dirty="0">
                <a:solidFill>
                  <a:srgbClr val="2C2C2C"/>
                </a:solidFill>
                <a:latin typeface="MiSans" pitchFamily="34" charset="0"/>
                <a:ea typeface="MiSans" pitchFamily="34" charset="-122"/>
                <a:cs typeface="MiSans" pitchFamily="34" charset="-120"/>
              </a:rPr>
              <a:t>Forecasting:</a:t>
            </a:r>
            <a:pPr algn="l">
              <a:lnSpc>
                <a:spcPct val="160000"/>
              </a:lnSpc>
            </a:pPr>
            <a:r>
              <a:rPr lang="en-US" sz="1300" dirty="0">
                <a:solidFill>
                  <a:srgbClr val="2C2C2C"/>
                </a:solidFill>
                <a:latin typeface="MiSans" pitchFamily="34" charset="0"/>
                <a:ea typeface="MiSans" pitchFamily="34" charset="-122"/>
                <a:cs typeface="MiSans" pitchFamily="34" charset="-120"/>
              </a:rPr>
              <a:t> Clari, Aviso</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CRM:</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HubSpot, Salesforce</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Analytics:</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Tableau, Looker</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Pipeline:</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Gong, Chorus</a:t>
            </a:r>
            <a:endParaRPr lang="en-US" sz="1300" dirty="0"/>
          </a:p>
          <a:p>
            <a:pPr algn="l">
              <a:lnSpc>
                <a:spcPct val="160000"/>
              </a:lnSpc>
              <a:spcBef>
                <a:spcPts val="800"/>
              </a:spcBef>
            </a:pPr>
            <a:r>
              <a:rPr lang="en-US" sz="1300" dirty="0">
                <a:solidFill>
                  <a:srgbClr val="888888"/>
                </a:solidFill>
                <a:latin typeface="MiSans" pitchFamily="34" charset="0"/>
                <a:ea typeface="MiSans" pitchFamily="34" charset="-122"/>
                <a:cs typeface="MiSans" pitchFamily="34" charset="-120"/>
              </a:rPr>
              <a:t>Predict outcomes, identify deal risks, and streamline weekly reporting.</a:t>
            </a:r>
            <a:endParaRPr lang="en-US" sz="1300" dirty="0"/>
          </a:p>
        </p:txBody>
      </p:sp>
      <p:sp>
        <p:nvSpPr>
          <p:cNvPr id="17" name="Shape 15"/>
          <p:cNvSpPr/>
          <p:nvPr/>
        </p:nvSpPr>
        <p:spPr>
          <a:xfrm>
            <a:off x="12065000" y="1346200"/>
            <a:ext cx="3556000" cy="3048000"/>
          </a:xfrm>
          <a:prstGeom prst="rect">
            <a:avLst/>
          </a:prstGeom>
          <a:solidFill>
            <a:srgbClr val="FFFFFF"/>
          </a:solidFill>
          <a:ln w="12700">
            <a:solidFill>
              <a:srgbClr val="DDDDDD"/>
            </a:solidFill>
            <a:prstDash val="solid"/>
          </a:ln>
        </p:spPr>
      </p:sp>
      <p:sp>
        <p:nvSpPr>
          <p:cNvPr id="18" name="Shape 16"/>
          <p:cNvSpPr/>
          <p:nvPr/>
        </p:nvSpPr>
        <p:spPr>
          <a:xfrm>
            <a:off x="12065000" y="1346200"/>
            <a:ext cx="3556000" cy="63500"/>
          </a:xfrm>
          <a:prstGeom prst="rect">
            <a:avLst/>
          </a:prstGeom>
          <a:solidFill>
            <a:srgbClr val="5B9BD5"/>
          </a:solidFill>
          <a:ln/>
        </p:spPr>
      </p:sp>
      <p:sp>
        <p:nvSpPr>
          <p:cNvPr id="19" name="Text 17"/>
          <p:cNvSpPr/>
          <p:nvPr/>
        </p:nvSpPr>
        <p:spPr>
          <a:xfrm>
            <a:off x="12217400" y="1524000"/>
            <a:ext cx="3251200" cy="355600"/>
          </a:xfrm>
          <a:prstGeom prst="rect">
            <a:avLst/>
          </a:prstGeom>
          <a:noFill/>
          <a:ln/>
        </p:spPr>
        <p:txBody>
          <a:bodyPr wrap="none" lIns="0" tIns="0" rIns="0" bIns="0" rtlCol="0" anchor="ctr"/>
          <a:lstStyle/>
          <a:p>
            <a:pPr algn="l">
              <a:lnSpc>
                <a:spcPct val="120000"/>
              </a:lnSpc>
            </a:pPr>
            <a:r>
              <a:rPr lang="en-US" sz="1600" b="1" dirty="0">
                <a:solidFill>
                  <a:srgbClr val="5B9BD5"/>
                </a:solidFill>
                <a:latin typeface="Liter" pitchFamily="34" charset="0"/>
                <a:ea typeface="Liter" pitchFamily="34" charset="-122"/>
                <a:cs typeface="Liter" pitchFamily="34" charset="-120"/>
              </a:rPr>
              <a:t>CUSTOMER SUCCESS</a:t>
            </a:r>
            <a:endParaRPr lang="en-US" sz="1600" dirty="0"/>
          </a:p>
        </p:txBody>
      </p:sp>
      <p:sp>
        <p:nvSpPr>
          <p:cNvPr id="20" name="Text 18"/>
          <p:cNvSpPr/>
          <p:nvPr/>
        </p:nvSpPr>
        <p:spPr>
          <a:xfrm>
            <a:off x="12217400" y="1930400"/>
            <a:ext cx="3251200" cy="2362200"/>
          </a:xfrm>
          <a:prstGeom prst="rect">
            <a:avLst/>
          </a:prstGeom>
          <a:noFill/>
          <a:ln/>
        </p:spPr>
        <p:txBody>
          <a:bodyPr wrap="square" lIns="0" tIns="0" rIns="0" bIns="0" rtlCol="0" anchor="t"/>
          <a:lstStyle/>
          <a:p>
            <a:pPr algn="l">
              <a:lnSpc>
                <a:spcPct val="160000"/>
              </a:lnSpc>
            </a:pPr>
            <a:r>
              <a:rPr lang="en-US" sz="1300" b="1" dirty="0">
                <a:solidFill>
                  <a:srgbClr val="2C2C2C"/>
                </a:solidFill>
                <a:latin typeface="MiSans" pitchFamily="34" charset="0"/>
                <a:ea typeface="MiSans" pitchFamily="34" charset="-122"/>
                <a:cs typeface="MiSans" pitchFamily="34" charset="-120"/>
              </a:rPr>
              <a:t>Support:</a:t>
            </a:r>
            <a:pPr algn="l">
              <a:lnSpc>
                <a:spcPct val="160000"/>
              </a:lnSpc>
            </a:pPr>
            <a:r>
              <a:rPr lang="en-US" sz="1300" dirty="0">
                <a:solidFill>
                  <a:srgbClr val="2C2C2C"/>
                </a:solidFill>
                <a:latin typeface="MiSans" pitchFamily="34" charset="0"/>
                <a:ea typeface="MiSans" pitchFamily="34" charset="-122"/>
                <a:cs typeface="MiSans" pitchFamily="34" charset="-120"/>
              </a:rPr>
              <a:t> Kommunicate, Intercom</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Intelligence:</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Fireflies.ai</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Health:</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ChurnZero, Gainsight</a:t>
            </a:r>
            <a:endParaRPr lang="en-US" sz="1300" dirty="0"/>
          </a:p>
          <a:p>
            <a:pPr algn="l">
              <a:lnSpc>
                <a:spcPct val="160000"/>
              </a:lnSpc>
              <a:spcBef>
                <a:spcPts val="400"/>
              </a:spcBef>
            </a:pPr>
            <a:r>
              <a:rPr lang="en-US" sz="1300" b="1" dirty="0">
                <a:solidFill>
                  <a:srgbClr val="2C2C2C"/>
                </a:solidFill>
                <a:latin typeface="MiSans" pitchFamily="34" charset="0"/>
                <a:ea typeface="MiSans" pitchFamily="34" charset="-122"/>
                <a:cs typeface="MiSans" pitchFamily="34" charset="-120"/>
              </a:rPr>
              <a:t>Onboarding:</a:t>
            </a:r>
            <a:pPr algn="l">
              <a:lnSpc>
                <a:spcPct val="160000"/>
              </a:lnSpc>
              <a:spcBef>
                <a:spcPts val="400"/>
              </a:spcBef>
            </a:pPr>
            <a:r>
              <a:rPr lang="en-US" sz="1300" dirty="0">
                <a:solidFill>
                  <a:srgbClr val="2C2C2C"/>
                </a:solidFill>
                <a:latin typeface="MiSans" pitchFamily="34" charset="0"/>
                <a:ea typeface="MiSans" pitchFamily="34" charset="-122"/>
                <a:cs typeface="MiSans" pitchFamily="34" charset="-120"/>
              </a:rPr>
              <a:t> Appcues, Pendo</a:t>
            </a:r>
            <a:endParaRPr lang="en-US" sz="1300" dirty="0"/>
          </a:p>
          <a:p>
            <a:pPr algn="l">
              <a:lnSpc>
                <a:spcPct val="160000"/>
              </a:lnSpc>
              <a:spcBef>
                <a:spcPts val="800"/>
              </a:spcBef>
            </a:pPr>
            <a:r>
              <a:rPr lang="en-US" sz="1300" dirty="0">
                <a:solidFill>
                  <a:srgbClr val="888888"/>
                </a:solidFill>
                <a:latin typeface="MiSans" pitchFamily="34" charset="0"/>
                <a:ea typeface="MiSans" pitchFamily="34" charset="-122"/>
                <a:cs typeface="MiSans" pitchFamily="34" charset="-120"/>
              </a:rPr>
              <a:t>Deliver support at scale, reduce ticket volume, and improve retention.</a:t>
            </a:r>
            <a:endParaRPr lang="en-US" sz="1300" dirty="0"/>
          </a:p>
        </p:txBody>
      </p:sp>
      <p:sp>
        <p:nvSpPr>
          <p:cNvPr id="21" name="Shape 19"/>
          <p:cNvSpPr/>
          <p:nvPr/>
        </p:nvSpPr>
        <p:spPr>
          <a:xfrm>
            <a:off x="2413000" y="4394200"/>
            <a:ext cx="0" cy="381000"/>
          </a:xfrm>
          <a:prstGeom prst="straightConnector1">
            <a:avLst/>
          </a:prstGeom>
          <a:noFill/>
          <a:ln w="25400">
            <a:solidFill>
              <a:srgbClr val="DDDDDD"/>
            </a:solidFill>
            <a:prstDash val="solid"/>
            <a:headEnd type="none"/>
            <a:tailEnd type="none"/>
          </a:ln>
        </p:spPr>
      </p:sp>
      <p:sp>
        <p:nvSpPr>
          <p:cNvPr id="22" name="Shape 20"/>
          <p:cNvSpPr/>
          <p:nvPr/>
        </p:nvSpPr>
        <p:spPr>
          <a:xfrm>
            <a:off x="6223000" y="4394200"/>
            <a:ext cx="0" cy="381000"/>
          </a:xfrm>
          <a:prstGeom prst="straightConnector1">
            <a:avLst/>
          </a:prstGeom>
          <a:noFill/>
          <a:ln w="25400">
            <a:solidFill>
              <a:srgbClr val="DDDDDD"/>
            </a:solidFill>
            <a:prstDash val="solid"/>
            <a:headEnd type="none"/>
            <a:tailEnd type="none"/>
          </a:ln>
        </p:spPr>
      </p:sp>
      <p:sp>
        <p:nvSpPr>
          <p:cNvPr id="23" name="Shape 21"/>
          <p:cNvSpPr/>
          <p:nvPr/>
        </p:nvSpPr>
        <p:spPr>
          <a:xfrm>
            <a:off x="10033000" y="4394200"/>
            <a:ext cx="0" cy="381000"/>
          </a:xfrm>
          <a:prstGeom prst="straightConnector1">
            <a:avLst/>
          </a:prstGeom>
          <a:noFill/>
          <a:ln w="25400">
            <a:solidFill>
              <a:srgbClr val="DDDDDD"/>
            </a:solidFill>
            <a:prstDash val="solid"/>
            <a:headEnd type="none"/>
            <a:tailEnd type="none"/>
          </a:ln>
        </p:spPr>
      </p:sp>
      <p:sp>
        <p:nvSpPr>
          <p:cNvPr id="24" name="Shape 22"/>
          <p:cNvSpPr/>
          <p:nvPr/>
        </p:nvSpPr>
        <p:spPr>
          <a:xfrm>
            <a:off x="13843000" y="4394200"/>
            <a:ext cx="0" cy="381000"/>
          </a:xfrm>
          <a:prstGeom prst="straightConnector1">
            <a:avLst/>
          </a:prstGeom>
          <a:noFill/>
          <a:ln w="25400">
            <a:solidFill>
              <a:srgbClr val="DDDDDD"/>
            </a:solidFill>
            <a:prstDash val="solid"/>
            <a:headEnd type="none"/>
            <a:tailEnd type="none"/>
          </a:ln>
        </p:spPr>
      </p:sp>
      <p:sp>
        <p:nvSpPr>
          <p:cNvPr id="25" name="Shape 23"/>
          <p:cNvSpPr/>
          <p:nvPr/>
        </p:nvSpPr>
        <p:spPr>
          <a:xfrm>
            <a:off x="2413000" y="4775200"/>
            <a:ext cx="11430000" cy="0"/>
          </a:xfrm>
          <a:prstGeom prst="straightConnector1">
            <a:avLst/>
          </a:prstGeom>
          <a:noFill/>
          <a:ln w="25400">
            <a:solidFill>
              <a:srgbClr val="DDDDDD"/>
            </a:solidFill>
            <a:prstDash val="solid"/>
            <a:headEnd type="none"/>
            <a:tailEnd type="none"/>
          </a:ln>
        </p:spPr>
      </p:sp>
      <p:sp>
        <p:nvSpPr>
          <p:cNvPr id="26" name="Shape 24"/>
          <p:cNvSpPr/>
          <p:nvPr/>
        </p:nvSpPr>
        <p:spPr>
          <a:xfrm>
            <a:off x="8128000" y="4775200"/>
            <a:ext cx="0" cy="381000"/>
          </a:xfrm>
          <a:prstGeom prst="straightConnector1">
            <a:avLst/>
          </a:prstGeom>
          <a:noFill/>
          <a:ln w="25400">
            <a:solidFill>
              <a:srgbClr val="D91E18"/>
            </a:solidFill>
            <a:prstDash val="solid"/>
            <a:headEnd type="none"/>
            <a:tailEnd type="arrow"/>
          </a:ln>
        </p:spPr>
      </p:sp>
      <p:sp>
        <p:nvSpPr>
          <p:cNvPr id="27" name="Shape 25"/>
          <p:cNvSpPr/>
          <p:nvPr/>
        </p:nvSpPr>
        <p:spPr>
          <a:xfrm>
            <a:off x="5588000" y="5156200"/>
            <a:ext cx="5080000" cy="762000"/>
          </a:xfrm>
          <a:prstGeom prst="rect">
            <a:avLst/>
          </a:prstGeom>
          <a:solidFill>
            <a:srgbClr val="D91E18"/>
          </a:solidFill>
          <a:ln/>
        </p:spPr>
      </p:sp>
      <p:sp>
        <p:nvSpPr>
          <p:cNvPr id="28" name="Text 26"/>
          <p:cNvSpPr/>
          <p:nvPr/>
        </p:nvSpPr>
        <p:spPr>
          <a:xfrm>
            <a:off x="5588000" y="5156200"/>
            <a:ext cx="5080000" cy="762000"/>
          </a:xfrm>
          <a:prstGeom prst="rect">
            <a:avLst/>
          </a:prstGeom>
          <a:noFill/>
          <a:ln/>
        </p:spPr>
        <p:txBody>
          <a:bodyPr wrap="none" lIns="0" tIns="0" rIns="0" bIns="0" rtlCol="0" anchor="ctr"/>
          <a:lstStyle/>
          <a:p>
            <a:pPr algn="ctr">
              <a:lnSpc>
                <a:spcPct val="120000"/>
              </a:lnSpc>
            </a:pPr>
            <a:r>
              <a:rPr lang="en-US" sz="1600" b="1" dirty="0">
                <a:solidFill>
                  <a:srgbClr val="FFFFFF"/>
                </a:solidFill>
                <a:latin typeface="Liter" pitchFamily="34" charset="0"/>
                <a:ea typeface="Liter" pitchFamily="34" charset="-122"/>
                <a:cs typeface="Liter" pitchFamily="34" charset="-120"/>
              </a:rPr>
              <a:t>UNIFIED AI-GTM ENGINE</a:t>
            </a:r>
            <a:endParaRPr lang="en-US" sz="1600" dirty="0"/>
          </a:p>
        </p:txBody>
      </p:sp>
      <p:sp>
        <p:nvSpPr>
          <p:cNvPr id="29" name="Shape 27"/>
          <p:cNvSpPr/>
          <p:nvPr/>
        </p:nvSpPr>
        <p:spPr>
          <a:xfrm>
            <a:off x="635000" y="6223000"/>
            <a:ext cx="14986000" cy="1270000"/>
          </a:xfrm>
          <a:prstGeom prst="rect">
            <a:avLst/>
          </a:prstGeom>
          <a:solidFill>
            <a:srgbClr val="FFFFFF"/>
          </a:solidFill>
          <a:ln w="12700">
            <a:solidFill>
              <a:srgbClr val="DDDDDD"/>
            </a:solidFill>
            <a:prstDash val="solid"/>
          </a:ln>
        </p:spPr>
      </p:sp>
      <p:sp>
        <p:nvSpPr>
          <p:cNvPr id="30" name="Shape 28"/>
          <p:cNvSpPr/>
          <p:nvPr/>
        </p:nvSpPr>
        <p:spPr>
          <a:xfrm>
            <a:off x="635000" y="6223000"/>
            <a:ext cx="50800" cy="1270000"/>
          </a:xfrm>
          <a:prstGeom prst="rect">
            <a:avLst/>
          </a:prstGeom>
          <a:solidFill>
            <a:srgbClr val="D91E18"/>
          </a:solidFill>
          <a:ln/>
        </p:spPr>
      </p:sp>
      <p:sp>
        <p:nvSpPr>
          <p:cNvPr id="31" name="Text 29"/>
          <p:cNvSpPr/>
          <p:nvPr/>
        </p:nvSpPr>
        <p:spPr>
          <a:xfrm>
            <a:off x="838200" y="6299200"/>
            <a:ext cx="14579600" cy="1117600"/>
          </a:xfrm>
          <a:prstGeom prst="rect">
            <a:avLst/>
          </a:prstGeom>
          <a:noFill/>
          <a:ln/>
        </p:spPr>
        <p:txBody>
          <a:bodyPr wrap="square" lIns="0" tIns="0" rIns="0" bIns="0" rtlCol="0" anchor="t"/>
          <a:lstStyle/>
          <a:p>
            <a:pPr algn="l">
              <a:lnSpc>
                <a:spcPct val="150000"/>
              </a:lnSpc>
            </a:pPr>
            <a:r>
              <a:rPr lang="en-US" sz="1300" b="1" dirty="0">
                <a:solidFill>
                  <a:srgbClr val="D91E18"/>
                </a:solidFill>
                <a:latin typeface="MiSans" pitchFamily="34" charset="0"/>
                <a:ea typeface="MiSans" pitchFamily="34" charset="-122"/>
                <a:cs typeface="MiSans" pitchFamily="34" charset="-120"/>
              </a:rPr>
              <a:t>Integration is the key:</a:t>
            </a:r>
            <a:pPr algn="l">
              <a:lnSpc>
                <a:spcPct val="150000"/>
              </a:lnSpc>
            </a:pPr>
            <a:r>
              <a:rPr lang="en-US" sz="1300" dirty="0">
                <a:solidFill>
                  <a:srgbClr val="2C2C2C"/>
                </a:solidFill>
                <a:latin typeface="MiSans" pitchFamily="34" charset="0"/>
                <a:ea typeface="MiSans" pitchFamily="34" charset="-122"/>
                <a:cs typeface="MiSans" pitchFamily="34" charset="-120"/>
              </a:rPr>
              <a:t> The modern AI paradigm has shifted the GTM strategy. Five to ten years ago, every channel and platform was separate; now, everything is interconnected, allowing GTM marketers to think systematically. AI enables users to more accurately find and reach out to individuals who meet specific ICP parameters, and it is far better at recognizing false positives and false negatives.</a:t>
            </a:r>
            <a:endParaRPr lang="en-US" sz="1300" dirty="0"/>
          </a:p>
        </p:txBody>
      </p:sp>
      <p:sp>
        <p:nvSpPr>
          <p:cNvPr id="32" name="Shape 30"/>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33" name="Text 31"/>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GTMx Ventures AI Tools for SaaS GTM 2025</a:t>
            </a:r>
            <a:endParaRPr lang="en-US" sz="1300" dirty="0"/>
          </a:p>
        </p:txBody>
      </p:sp>
      <p:sp>
        <p:nvSpPr>
          <p:cNvPr id="34" name="Text 32"/>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17</a:t>
            </a:r>
            <a:endParaRPr lang="en-US" sz="12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Track these KPIs obsessively — pipeline, conversion, time-to-close</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THE AARRR FRAMEWORK + GTM METRICS THAT DRIVE GROWTH</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Text 3"/>
          <p:cNvSpPr/>
          <p:nvPr/>
        </p:nvSpPr>
        <p:spPr>
          <a:xfrm>
            <a:off x="635000" y="1270000"/>
            <a:ext cx="7112000" cy="304800"/>
          </a:xfrm>
          <a:prstGeom prst="rect">
            <a:avLst/>
          </a:prstGeom>
          <a:noFill/>
          <a:ln/>
        </p:spPr>
        <p:txBody>
          <a:bodyPr wrap="none" lIns="0" tIns="0" rIns="0" bIns="0" rtlCol="0" anchor="ctr"/>
          <a:lstStyle/>
          <a:p>
            <a:pPr algn="l">
              <a:lnSpc>
                <a:spcPct val="120000"/>
              </a:lnSpc>
            </a:pPr>
            <a:r>
              <a:rPr lang="en-US" sz="1400" b="1" dirty="0">
                <a:solidFill>
                  <a:srgbClr val="2C2C2C"/>
                </a:solidFill>
                <a:latin typeface="Liter" pitchFamily="34" charset="0"/>
                <a:ea typeface="Liter" pitchFamily="34" charset="-122"/>
                <a:cs typeface="Liter" pitchFamily="34" charset="-120"/>
              </a:rPr>
              <a:t>AARRR Pirate Metrics Framework</a:t>
            </a:r>
            <a:endParaRPr lang="en-US" sz="1400" dirty="0"/>
          </a:p>
        </p:txBody>
      </p:sp>
      <p:graphicFrame>
        <p:nvGraphicFramePr>
          <p:cNvPr id="6" name="Chart 0" descr=""/>
          <p:cNvGraphicFramePr/>
          <p:nvPr/>
        </p:nvGraphicFramePr>
        <p:xfrm>
          <a:off x="635000" y="1625600"/>
          <a:ext cx="7112000" cy="3810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128000" y="1270000"/>
            <a:ext cx="38100" cy="304800"/>
          </a:xfrm>
          <a:prstGeom prst="rect">
            <a:avLst/>
          </a:prstGeom>
          <a:solidFill>
            <a:srgbClr val="D91E18"/>
          </a:solidFill>
          <a:ln/>
        </p:spPr>
      </p:sp>
      <p:sp>
        <p:nvSpPr>
          <p:cNvPr id="8" name="Text 5"/>
          <p:cNvSpPr/>
          <p:nvPr/>
        </p:nvSpPr>
        <p:spPr>
          <a:xfrm>
            <a:off x="8229600" y="1270000"/>
            <a:ext cx="7391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CORE GTM METRICS &amp; TARGETS</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128000" y="1651000"/>
          <a:ext cx="7493000" cy="2540000"/>
        </p:xfrm>
        <a:graphic>
          <a:graphicData uri="http://schemas.openxmlformats.org/drawingml/2006/table">
            <a:tbl>
              <a:tblPr/>
              <a:tblGrid>
                <a:gridCol w="2997200"/>
                <a:gridCol w="2247900"/>
                <a:gridCol w="2247900"/>
              </a:tblGrid>
              <a:tr h="406400">
                <a:tc>
                  <a:txBody>
                    <a:bodyPr/>
                    <a:lstStyle/>
                    <a:p>
                      <a:pPr algn="ctr"/>
                      <a:r>
                        <a:rPr lang="en-US" sz="1300" b="1" dirty="0">
                          <a:solidFill>
                            <a:srgbClr val="FFFFFF"/>
                          </a:solidFill>
                          <a:latin typeface="Liter" pitchFamily="34" charset="0"/>
                          <a:ea typeface="Liter" pitchFamily="34" charset="-122"/>
                          <a:cs typeface="Liter" pitchFamily="34" charset="-120"/>
                        </a:rPr>
                        <a:t>Metric</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Target</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c>
                  <a:txBody>
                    <a:bodyPr/>
                    <a:lstStyle/>
                    <a:p>
                      <a:pPr algn="ctr"/>
                      <a:r>
                        <a:rPr lang="en-US" sz="1300" b="1" dirty="0">
                          <a:solidFill>
                            <a:srgbClr val="FFFFFF"/>
                          </a:solidFill>
                          <a:latin typeface="Liter" pitchFamily="34" charset="0"/>
                          <a:ea typeface="Liter" pitchFamily="34" charset="-122"/>
                          <a:cs typeface="Liter" pitchFamily="34" charset="-120"/>
                        </a:rPr>
                        <a:t>Frequency</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C2C2C"/>
                    </a:solidFill>
                  </a:tcPr>
                </a:tc>
              </a:tr>
              <a:tr h="426720">
                <a:tc>
                  <a:txBody>
                    <a:bodyPr/>
                    <a:lstStyle/>
                    <a:p>
                      <a:pPr algn="ctr"/>
                      <a:r>
                        <a:rPr lang="en-US" sz="1300" dirty="0">
                          <a:solidFill>
                            <a:srgbClr val="2C2C2C"/>
                          </a:solidFill>
                          <a:latin typeface="Liter" pitchFamily="34" charset="0"/>
                          <a:ea typeface="Liter" pitchFamily="34" charset="-122"/>
                          <a:cs typeface="Liter" pitchFamily="34" charset="-120"/>
                        </a:rPr>
                        <a:t>CAC Payback</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D91E18"/>
                          </a:solidFill>
                          <a:latin typeface="Liter" pitchFamily="34" charset="0"/>
                          <a:ea typeface="Liter" pitchFamily="34" charset="-122"/>
                          <a:cs typeface="Liter" pitchFamily="34" charset="-120"/>
                        </a:rPr>
                        <a:t>&lt; 6 months</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Monthly</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426720">
                <a:tc>
                  <a:txBody>
                    <a:bodyPr/>
                    <a:lstStyle/>
                    <a:p>
                      <a:pPr algn="ctr"/>
                      <a:r>
                        <a:rPr lang="en-US" sz="1300" dirty="0">
                          <a:solidFill>
                            <a:srgbClr val="2C2C2C"/>
                          </a:solidFill>
                          <a:latin typeface="Liter" pitchFamily="34" charset="0"/>
                          <a:ea typeface="Liter" pitchFamily="34" charset="-122"/>
                          <a:cs typeface="Liter" pitchFamily="34" charset="-120"/>
                        </a:rPr>
                        <a:t>LTV:CAC Ratio</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D91E18"/>
                          </a:solidFill>
                          <a:latin typeface="Liter" pitchFamily="34" charset="0"/>
                          <a:ea typeface="Liter" pitchFamily="34" charset="-122"/>
                          <a:cs typeface="Liter" pitchFamily="34" charset="-120"/>
                        </a:rPr>
                        <a:t>3:1+</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2C2C2C"/>
                          </a:solidFill>
                          <a:latin typeface="Liter" pitchFamily="34" charset="0"/>
                          <a:ea typeface="Liter" pitchFamily="34" charset="-122"/>
                          <a:cs typeface="Liter" pitchFamily="34" charset="-120"/>
                        </a:rPr>
                        <a:t>Quarterly</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r>
              <a:tr h="426720">
                <a:tc>
                  <a:txBody>
                    <a:bodyPr/>
                    <a:lstStyle/>
                    <a:p>
                      <a:pPr algn="ctr"/>
                      <a:r>
                        <a:rPr lang="en-US" sz="1300" dirty="0">
                          <a:solidFill>
                            <a:srgbClr val="2C2C2C"/>
                          </a:solidFill>
                          <a:latin typeface="Liter" pitchFamily="34" charset="0"/>
                          <a:ea typeface="Liter" pitchFamily="34" charset="-122"/>
                          <a:cs typeface="Liter" pitchFamily="34" charset="-120"/>
                        </a:rPr>
                        <a:t>Sales Cycle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D91E18"/>
                          </a:solidFill>
                          <a:latin typeface="Liter" pitchFamily="34" charset="0"/>
                          <a:ea typeface="Liter" pitchFamily="34" charset="-122"/>
                          <a:cs typeface="Liter" pitchFamily="34" charset="-120"/>
                        </a:rPr>
                        <a:t>Track weekly</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Weekly</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426720">
                <a:tc>
                  <a:txBody>
                    <a:bodyPr/>
                    <a:lstStyle/>
                    <a:p>
                      <a:pPr algn="ctr"/>
                      <a:r>
                        <a:rPr lang="en-US" sz="1300" dirty="0">
                          <a:solidFill>
                            <a:srgbClr val="2C2C2C"/>
                          </a:solidFill>
                          <a:latin typeface="Liter" pitchFamily="34" charset="0"/>
                          <a:ea typeface="Liter" pitchFamily="34" charset="-122"/>
                          <a:cs typeface="Liter" pitchFamily="34" charset="-120"/>
                        </a:rPr>
                        <a:t>Pipeline Coverage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D91E18"/>
                          </a:solidFill>
                          <a:latin typeface="Liter" pitchFamily="34" charset="0"/>
                          <a:ea typeface="Liter" pitchFamily="34" charset="-122"/>
                          <a:cs typeface="Liter" pitchFamily="34" charset="-120"/>
                        </a:rPr>
                        <a:t>3-5x quota</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c>
                  <a:txBody>
                    <a:bodyPr/>
                    <a:lstStyle/>
                    <a:p>
                      <a:pPr algn="ctr"/>
                      <a:r>
                        <a:rPr lang="en-US" sz="1300" dirty="0">
                          <a:solidFill>
                            <a:srgbClr val="2C2C2C"/>
                          </a:solidFill>
                          <a:latin typeface="Liter" pitchFamily="34" charset="0"/>
                          <a:ea typeface="Liter" pitchFamily="34" charset="-122"/>
                          <a:cs typeface="Liter" pitchFamily="34" charset="-120"/>
                        </a:rPr>
                        <a:t>Weekly</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4F4F4"/>
                    </a:solidFill>
                  </a:tcPr>
                </a:tc>
              </a:tr>
              <a:tr h="426720">
                <a:tc>
                  <a:txBody>
                    <a:bodyPr/>
                    <a:lstStyle/>
                    <a:p>
                      <a:pPr algn="ctr"/>
                      <a:r>
                        <a:rPr lang="en-US" sz="1300" dirty="0">
                          <a:solidFill>
                            <a:srgbClr val="2C2C2C"/>
                          </a:solidFill>
                          <a:latin typeface="Liter" pitchFamily="34" charset="0"/>
                          <a:ea typeface="Liter" pitchFamily="34" charset="-122"/>
                          <a:cs typeface="Liter" pitchFamily="34" charset="-120"/>
                        </a:rPr>
                        <a:t>Churn Rate</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D91E18"/>
                          </a:solidFill>
                          <a:latin typeface="Liter" pitchFamily="34" charset="0"/>
                          <a:ea typeface="Liter" pitchFamily="34" charset="-122"/>
                          <a:cs typeface="Liter" pitchFamily="34" charset="-120"/>
                        </a:rPr>
                        <a:t>&lt; 5%/month</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a:r>
                        <a:rPr lang="en-US" sz="1300" dirty="0">
                          <a:solidFill>
                            <a:srgbClr val="2C2C2C"/>
                          </a:solidFill>
                          <a:latin typeface="Liter" pitchFamily="34" charset="0"/>
                          <a:ea typeface="Liter" pitchFamily="34" charset="-122"/>
                          <a:cs typeface="Liter" pitchFamily="34" charset="-120"/>
                        </a:rPr>
                        <a:t>Monthly</a:t>
                      </a:r>
                      <a:endParaRPr lang="en-US" sz="1300" dirty="0">
                        <a:latin typeface="Liter" charset="0"/>
                        <a:ea typeface="Liter" charset="0"/>
                        <a:cs typeface="Liter" charset="0"/>
                      </a:endParaRPr>
                    </a:p>
                  </a:txBody>
                  <a:tcPr marL="54864" marR="54864" marT="0" marB="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10" name="Shape 6"/>
          <p:cNvSpPr/>
          <p:nvPr/>
        </p:nvSpPr>
        <p:spPr>
          <a:xfrm>
            <a:off x="8128000" y="4445000"/>
            <a:ext cx="38100" cy="304800"/>
          </a:xfrm>
          <a:prstGeom prst="rect">
            <a:avLst/>
          </a:prstGeom>
          <a:solidFill>
            <a:srgbClr val="D91E18"/>
          </a:solidFill>
          <a:ln/>
        </p:spPr>
      </p:sp>
      <p:sp>
        <p:nvSpPr>
          <p:cNvPr id="11" name="Text 7"/>
          <p:cNvSpPr/>
          <p:nvPr/>
        </p:nvSpPr>
        <p:spPr>
          <a:xfrm>
            <a:off x="8229600" y="4445000"/>
            <a:ext cx="7391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AI GTM ROI BENCHMARKS</a:t>
            </a:r>
            <a:endParaRPr lang="en-US" sz="1100" dirty="0"/>
          </a:p>
        </p:txBody>
      </p:sp>
      <p:sp>
        <p:nvSpPr>
          <p:cNvPr id="12" name="Text 8"/>
          <p:cNvSpPr/>
          <p:nvPr/>
        </p:nvSpPr>
        <p:spPr>
          <a:xfrm>
            <a:off x="8229600" y="4826000"/>
            <a:ext cx="7391400" cy="762000"/>
          </a:xfrm>
          <a:prstGeom prst="rect">
            <a:avLst/>
          </a:prstGeom>
          <a:noFill/>
          <a:ln/>
        </p:spPr>
        <p:txBody>
          <a:bodyPr wrap="square" lIns="0" tIns="0" rIns="0" bIns="0" rtlCol="0" anchor="t"/>
          <a:lstStyle/>
          <a:p>
            <a:pPr algn="l">
              <a:lnSpc>
                <a:spcPct val="150000"/>
              </a:lnSpc>
            </a:pPr>
            <a:r>
              <a:rPr lang="en-US" sz="1300" b="1" dirty="0">
                <a:solidFill>
                  <a:srgbClr val="D91E18"/>
                </a:solidFill>
                <a:latin typeface="MiSans" pitchFamily="34" charset="0"/>
                <a:ea typeface="MiSans" pitchFamily="34" charset="-122"/>
                <a:cs typeface="MiSans" pitchFamily="34" charset="-120"/>
              </a:rPr>
              <a:t>300%</a:t>
            </a:r>
            <a:pPr algn="l">
              <a:lnSpc>
                <a:spcPct val="150000"/>
              </a:lnSpc>
            </a:pPr>
            <a:r>
              <a:rPr lang="en-US" sz="1300" dirty="0">
                <a:solidFill>
                  <a:srgbClr val="2C2C2C"/>
                </a:solidFill>
                <a:latin typeface="MiSans" pitchFamily="34" charset="0"/>
                <a:ea typeface="MiSans" pitchFamily="34" charset="-122"/>
                <a:cs typeface="MiSans" pitchFamily="34" charset="-120"/>
              </a:rPr>
              <a:t> avg ROI from AI marketing tools</a:t>
            </a:r>
            <a:endParaRPr lang="en-US" sz="1300" dirty="0"/>
          </a:p>
          <a:p>
            <a:pPr algn="l">
              <a:lnSpc>
                <a:spcPct val="150000"/>
              </a:lnSpc>
            </a:pPr>
            <a:r>
              <a:rPr lang="en-US" sz="1300" b="1" dirty="0">
                <a:solidFill>
                  <a:srgbClr val="D91E18"/>
                </a:solidFill>
                <a:latin typeface="MiSans" pitchFamily="34" charset="0"/>
                <a:ea typeface="MiSans" pitchFamily="34" charset="-122"/>
                <a:cs typeface="MiSans" pitchFamily="34" charset="-120"/>
              </a:rPr>
              <a:t>&lt;6 mo</a:t>
            </a:r>
            <a:pPr algn="l">
              <a:lnSpc>
                <a:spcPct val="150000"/>
              </a:lnSpc>
            </a:pPr>
            <a:r>
              <a:rPr lang="en-US" sz="1300" dirty="0">
                <a:solidFill>
                  <a:srgbClr val="2C2C2C"/>
                </a:solidFill>
                <a:latin typeface="MiSans" pitchFamily="34" charset="0"/>
                <a:ea typeface="MiSans" pitchFamily="34" charset="-122"/>
                <a:cs typeface="MiSans" pitchFamily="34" charset="-120"/>
              </a:rPr>
              <a:t> payback | </a:t>
            </a:r>
            <a:pPr algn="l">
              <a:lnSpc>
                <a:spcPct val="150000"/>
              </a:lnSpc>
            </a:pPr>
            <a:r>
              <a:rPr lang="en-US" sz="1300" b="1" dirty="0">
                <a:solidFill>
                  <a:srgbClr val="2C2C2C"/>
                </a:solidFill>
                <a:latin typeface="MiSans" pitchFamily="34" charset="0"/>
                <a:ea typeface="MiSans" pitchFamily="34" charset="-122"/>
                <a:cs typeface="MiSans" pitchFamily="34" charset="-120"/>
              </a:rPr>
              <a:t>37%</a:t>
            </a:r>
            <a:pPr algn="l">
              <a:lnSpc>
                <a:spcPct val="150000"/>
              </a:lnSpc>
            </a:pPr>
            <a:r>
              <a:rPr lang="en-US" sz="1300" dirty="0">
                <a:solidFill>
                  <a:srgbClr val="2C2C2C"/>
                </a:solidFill>
                <a:latin typeface="MiSans" pitchFamily="34" charset="0"/>
                <a:ea typeface="MiSans" pitchFamily="34" charset="-122"/>
                <a:cs typeface="MiSans" pitchFamily="34" charset="-120"/>
              </a:rPr>
              <a:t> lower CAC</a:t>
            </a:r>
            <a:endParaRPr lang="en-US" sz="1300" dirty="0"/>
          </a:p>
        </p:txBody>
      </p:sp>
      <p:sp>
        <p:nvSpPr>
          <p:cNvPr id="13" name="Text 9"/>
          <p:cNvSpPr/>
          <p:nvPr/>
        </p:nvSpPr>
        <p:spPr>
          <a:xfrm>
            <a:off x="635000" y="5715000"/>
            <a:ext cx="4699000" cy="22860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Acquisition</a:t>
            </a:r>
            <a:endParaRPr lang="en-US" sz="1300" dirty="0"/>
          </a:p>
          <a:p>
            <a:pPr algn="l">
              <a:lnSpc>
                <a:spcPct val="160000"/>
              </a:lnSpc>
            </a:pPr>
            <a:r>
              <a:rPr lang="en-US" sz="1300" dirty="0">
                <a:solidFill>
                  <a:srgbClr val="2C2C2C"/>
                </a:solidFill>
                <a:latin typeface="MiSans" pitchFamily="34" charset="0"/>
                <a:ea typeface="MiSans" pitchFamily="34" charset="-122"/>
                <a:cs typeface="MiSans" pitchFamily="34" charset="-120"/>
              </a:rPr>
              <a:t>Traffic, leads, MQLs. The top of funnel. Measure by channel and track cost per lead. AI-powered targeting improves quality by 40%.</a:t>
            </a:r>
            <a:endParaRPr lang="en-US" sz="1300" dirty="0"/>
          </a:p>
        </p:txBody>
      </p:sp>
      <p:sp>
        <p:nvSpPr>
          <p:cNvPr id="14" name="Shape 10"/>
          <p:cNvSpPr/>
          <p:nvPr/>
        </p:nvSpPr>
        <p:spPr>
          <a:xfrm>
            <a:off x="5461000" y="5715000"/>
            <a:ext cx="0" cy="2286000"/>
          </a:xfrm>
          <a:prstGeom prst="straightConnector1">
            <a:avLst/>
          </a:prstGeom>
          <a:noFill/>
          <a:ln w="12700">
            <a:solidFill>
              <a:srgbClr val="DDDDDD"/>
            </a:solidFill>
            <a:prstDash val="solid"/>
            <a:headEnd type="none"/>
            <a:tailEnd type="none"/>
          </a:ln>
        </p:spPr>
      </p:sp>
      <p:sp>
        <p:nvSpPr>
          <p:cNvPr id="15" name="Text 11"/>
          <p:cNvSpPr/>
          <p:nvPr/>
        </p:nvSpPr>
        <p:spPr>
          <a:xfrm>
            <a:off x="5638800" y="5715000"/>
            <a:ext cx="4699000" cy="22860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Activation</a:t>
            </a:r>
            <a:endParaRPr lang="en-US" sz="1300" dirty="0"/>
          </a:p>
          <a:p>
            <a:pPr algn="l">
              <a:lnSpc>
                <a:spcPct val="160000"/>
              </a:lnSpc>
            </a:pPr>
            <a:r>
              <a:rPr lang="en-US" sz="1300" dirty="0">
                <a:solidFill>
                  <a:srgbClr val="2C2C2C"/>
                </a:solidFill>
                <a:latin typeface="MiSans" pitchFamily="34" charset="0"/>
                <a:ea typeface="MiSans" pitchFamily="34" charset="-122"/>
                <a:cs typeface="MiSans" pitchFamily="34" charset="-120"/>
              </a:rPr>
              <a:t>Trial signups, first value moment, onboarding completion. The "aha" moment. AI chatbots can guide users to value 2x faster.</a:t>
            </a:r>
            <a:endParaRPr lang="en-US" sz="1300" dirty="0"/>
          </a:p>
        </p:txBody>
      </p:sp>
      <p:sp>
        <p:nvSpPr>
          <p:cNvPr id="16" name="Shape 12"/>
          <p:cNvSpPr/>
          <p:nvPr/>
        </p:nvSpPr>
        <p:spPr>
          <a:xfrm>
            <a:off x="10464800" y="5715000"/>
            <a:ext cx="0" cy="2286000"/>
          </a:xfrm>
          <a:prstGeom prst="straightConnector1">
            <a:avLst/>
          </a:prstGeom>
          <a:noFill/>
          <a:ln w="12700">
            <a:solidFill>
              <a:srgbClr val="DDDDDD"/>
            </a:solidFill>
            <a:prstDash val="solid"/>
            <a:headEnd type="none"/>
            <a:tailEnd type="none"/>
          </a:ln>
        </p:spPr>
      </p:sp>
      <p:sp>
        <p:nvSpPr>
          <p:cNvPr id="17" name="Text 13"/>
          <p:cNvSpPr/>
          <p:nvPr/>
        </p:nvSpPr>
        <p:spPr>
          <a:xfrm>
            <a:off x="10642600" y="5715000"/>
            <a:ext cx="4978400" cy="2286000"/>
          </a:xfrm>
          <a:prstGeom prst="rect">
            <a:avLst/>
          </a:prstGeom>
          <a:noFill/>
          <a:ln/>
        </p:spPr>
        <p:txBody>
          <a:bodyPr wrap="square" lIns="0" tIns="0" rIns="0" bIns="0" rtlCol="0" anchor="t"/>
          <a:lstStyle/>
          <a:p>
            <a:pPr algn="l">
              <a:lnSpc>
                <a:spcPct val="160000"/>
              </a:lnSpc>
            </a:pPr>
            <a:r>
              <a:rPr lang="en-US" sz="1300" b="1" dirty="0">
                <a:solidFill>
                  <a:srgbClr val="D91E18"/>
                </a:solidFill>
                <a:latin typeface="MiSans" pitchFamily="34" charset="0"/>
                <a:ea typeface="MiSans" pitchFamily="34" charset="-122"/>
                <a:cs typeface="MiSans" pitchFamily="34" charset="-120"/>
              </a:rPr>
              <a:t>Retention &amp; Revenue</a:t>
            </a:r>
            <a:endParaRPr lang="en-US" sz="1300" dirty="0"/>
          </a:p>
          <a:p>
            <a:pPr algn="l">
              <a:lnSpc>
                <a:spcPct val="160000"/>
              </a:lnSpc>
            </a:pPr>
            <a:r>
              <a:rPr lang="en-US" sz="1300" dirty="0">
                <a:solidFill>
                  <a:srgbClr val="2C2C2C"/>
                </a:solidFill>
                <a:latin typeface="MiSans" pitchFamily="34" charset="0"/>
                <a:ea typeface="MiSans" pitchFamily="34" charset="-122"/>
                <a:cs typeface="MiSans" pitchFamily="34" charset="-120"/>
              </a:rPr>
              <a:t>Monthly active users, churn rate, ARR, MRR, ACV, NPS. The bottom line. AI predicts churn 30 days before it happens.</a:t>
            </a:r>
            <a:endParaRPr lang="en-US" sz="1300" dirty="0"/>
          </a:p>
        </p:txBody>
      </p:sp>
      <p:sp>
        <p:nvSpPr>
          <p:cNvPr id="18" name="Shape 14"/>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19" name="Text 15"/>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Source: Zigment AI Research, Planetary Labour ROI Study 2025</a:t>
            </a:r>
            <a:endParaRPr lang="en-US" sz="1300" dirty="0"/>
          </a:p>
        </p:txBody>
      </p:sp>
      <p:sp>
        <p:nvSpPr>
          <p:cNvPr id="20" name="Text 16"/>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18</a:t>
            </a:r>
            <a:endParaRPr lang="en-US" sz="12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EFCFB"/>
        </a:solidFill>
      </p:bgPr>
    </p:bg>
    <p:spTree>
      <p:nvGrpSpPr>
        <p:cNvPr id="1" name=""/>
        <p:cNvGrpSpPr/>
        <p:nvPr/>
      </p:nvGrpSpPr>
      <p:grpSpPr>
        <a:xfrm>
          <a:off x="0" y="0"/>
          <a:ext cx="0" cy="0"/>
          <a:chOff x="0" y="0"/>
          <a:chExt cx="0" cy="0"/>
        </a:xfrm>
      </p:grpSpPr>
      <p:sp>
        <p:nvSpPr>
          <p:cNvPr id="2" name="Text 0"/>
          <p:cNvSpPr/>
          <p:nvPr/>
        </p:nvSpPr>
        <p:spPr>
          <a:xfrm>
            <a:off x="635000" y="228600"/>
            <a:ext cx="12700000" cy="533400"/>
          </a:xfrm>
          <a:prstGeom prst="rect">
            <a:avLst/>
          </a:prstGeom>
          <a:noFill/>
          <a:ln/>
        </p:spPr>
        <p:txBody>
          <a:bodyPr wrap="square" lIns="0" tIns="0" rIns="0" bIns="0" rtlCol="0" anchor="ctr"/>
          <a:lstStyle/>
          <a:p>
            <a:pPr algn="l">
              <a:lnSpc>
                <a:spcPct val="120000"/>
              </a:lnSpc>
            </a:pPr>
            <a:r>
              <a:rPr lang="en-US" sz="2400" b="1" dirty="0">
                <a:solidFill>
                  <a:srgbClr val="2C2C2C"/>
                </a:solidFill>
                <a:latin typeface="Liter" pitchFamily="34" charset="0"/>
                <a:ea typeface="Liter" pitchFamily="34" charset="-122"/>
                <a:cs typeface="Liter" pitchFamily="34" charset="-120"/>
              </a:rPr>
              <a:t>Key takeaways — the startup playbook for marketing, GTM, and AI</a:t>
            </a:r>
            <a:endParaRPr lang="en-US" sz="2400" dirty="0"/>
          </a:p>
        </p:txBody>
      </p:sp>
      <p:sp>
        <p:nvSpPr>
          <p:cNvPr id="3" name="Text 1"/>
          <p:cNvSpPr/>
          <p:nvPr/>
        </p:nvSpPr>
        <p:spPr>
          <a:xfrm>
            <a:off x="635000" y="787400"/>
            <a:ext cx="11430000" cy="304800"/>
          </a:xfrm>
          <a:prstGeom prst="rect">
            <a:avLst/>
          </a:prstGeom>
          <a:noFill/>
          <a:ln/>
        </p:spPr>
        <p:txBody>
          <a:bodyPr wrap="none" lIns="0" tIns="0" rIns="0" bIns="0" rtlCol="0" anchor="ctr"/>
          <a:lstStyle/>
          <a:p>
            <a:pPr algn="l">
              <a:lnSpc>
                <a:spcPct val="120000"/>
              </a:lnSpc>
            </a:pPr>
            <a:r>
              <a:rPr lang="en-US" sz="1400" dirty="0">
                <a:solidFill>
                  <a:srgbClr val="888888"/>
                </a:solidFill>
                <a:latin typeface="Liter" pitchFamily="34" charset="0"/>
                <a:ea typeface="Liter" pitchFamily="34" charset="-122"/>
                <a:cs typeface="Liter" pitchFamily="34" charset="-120"/>
              </a:rPr>
              <a:t>SIX PRINCIPLES TO SCALE YOUR STARTUP SMART</a:t>
            </a:r>
            <a:endParaRPr lang="en-US" sz="1400" dirty="0"/>
          </a:p>
        </p:txBody>
      </p:sp>
      <p:sp>
        <p:nvSpPr>
          <p:cNvPr id="4" name="Shape 2"/>
          <p:cNvSpPr/>
          <p:nvPr/>
        </p:nvSpPr>
        <p:spPr>
          <a:xfrm>
            <a:off x="635000" y="1117600"/>
            <a:ext cx="10160000" cy="0"/>
          </a:xfrm>
          <a:prstGeom prst="straightConnector1">
            <a:avLst/>
          </a:prstGeom>
          <a:noFill/>
          <a:ln w="25400">
            <a:solidFill>
              <a:srgbClr val="D91E18"/>
            </a:solidFill>
            <a:prstDash val="solid"/>
            <a:headEnd type="none"/>
            <a:tailEnd type="none"/>
          </a:ln>
        </p:spPr>
      </p:sp>
      <p:sp>
        <p:nvSpPr>
          <p:cNvPr id="5" name="Shape 3"/>
          <p:cNvSpPr/>
          <p:nvPr/>
        </p:nvSpPr>
        <p:spPr>
          <a:xfrm>
            <a:off x="635000" y="1346200"/>
            <a:ext cx="4826000" cy="2349500"/>
          </a:xfrm>
          <a:prstGeom prst="rect">
            <a:avLst/>
          </a:prstGeom>
          <a:solidFill>
            <a:srgbClr val="FFFFFF"/>
          </a:solidFill>
          <a:ln w="12700">
            <a:solidFill>
              <a:srgbClr val="DDDDDD"/>
            </a:solidFill>
            <a:prstDash val="solid"/>
          </a:ln>
        </p:spPr>
      </p:sp>
      <p:sp>
        <p:nvSpPr>
          <p:cNvPr id="6" name="Shape 4"/>
          <p:cNvSpPr/>
          <p:nvPr/>
        </p:nvSpPr>
        <p:spPr>
          <a:xfrm>
            <a:off x="635000" y="1346200"/>
            <a:ext cx="50800" cy="2349500"/>
          </a:xfrm>
          <a:prstGeom prst="rect">
            <a:avLst/>
          </a:prstGeom>
          <a:solidFill>
            <a:srgbClr val="D91E18"/>
          </a:solidFill>
          <a:ln/>
        </p:spPr>
      </p:sp>
      <p:sp>
        <p:nvSpPr>
          <p:cNvPr id="7" name="Text 5"/>
          <p:cNvSpPr/>
          <p:nvPr/>
        </p:nvSpPr>
        <p:spPr>
          <a:xfrm>
            <a:off x="812800" y="1422400"/>
            <a:ext cx="635000" cy="381000"/>
          </a:xfrm>
          <a:prstGeom prst="rect">
            <a:avLst/>
          </a:prstGeom>
          <a:noFill/>
          <a:ln/>
        </p:spPr>
        <p:txBody>
          <a:bodyPr wrap="none" lIns="0" tIns="0" rIns="0" bIns="0" rtlCol="0" anchor="ctr"/>
          <a:lstStyle/>
          <a:p>
            <a:pPr algn="l">
              <a:lnSpc>
                <a:spcPct val="120000"/>
              </a:lnSpc>
            </a:pPr>
            <a:r>
              <a:rPr lang="en-US" sz="2400" b="1" dirty="0">
                <a:solidFill>
                  <a:srgbClr val="D91E18"/>
                </a:solidFill>
                <a:latin typeface="Liter" pitchFamily="34" charset="0"/>
                <a:ea typeface="Liter" pitchFamily="34" charset="-122"/>
                <a:cs typeface="Liter" pitchFamily="34" charset="-120"/>
              </a:rPr>
              <a:t>01</a:t>
            </a:r>
            <a:endParaRPr lang="en-US" sz="2400" dirty="0"/>
          </a:p>
        </p:txBody>
      </p:sp>
      <p:sp>
        <p:nvSpPr>
          <p:cNvPr id="8" name="Text 6"/>
          <p:cNvSpPr/>
          <p:nvPr/>
        </p:nvSpPr>
        <p:spPr>
          <a:xfrm>
            <a:off x="812800" y="1828800"/>
            <a:ext cx="4495800" cy="1778000"/>
          </a:xfrm>
          <a:prstGeom prst="rect">
            <a:avLst/>
          </a:prstGeom>
          <a:noFill/>
          <a:ln/>
        </p:spPr>
        <p:txBody>
          <a:bodyPr wrap="square" lIns="0" tIns="0" rIns="0" bIns="0" rtlCol="0" anchor="t"/>
          <a:lstStyle/>
          <a:p>
            <a:pPr algn="l">
              <a:lnSpc>
                <a:spcPct val="150000"/>
              </a:lnSpc>
            </a:pPr>
            <a:r>
              <a:rPr lang="en-US" sz="1400" b="1" dirty="0">
                <a:solidFill>
                  <a:srgbClr val="2C2C2C"/>
                </a:solidFill>
                <a:latin typeface="MiSans" pitchFamily="34" charset="0"/>
                <a:ea typeface="MiSans" pitchFamily="34" charset="-122"/>
                <a:cs typeface="MiSans" pitchFamily="34" charset="-120"/>
              </a:rPr>
              <a:t>Content + Data + Social = The Marketing Trinity</a:t>
            </a:r>
            <a:endParaRPr lang="en-US" sz="1400" dirty="0"/>
          </a:p>
          <a:p>
            <a:pPr algn="l">
              <a:lnSpc>
                <a:spcPct val="150000"/>
              </a:lnSpc>
              <a:spcBef>
                <a:spcPts val="400"/>
              </a:spcBef>
            </a:pPr>
            <a:r>
              <a:rPr lang="en-US" sz="1400" dirty="0">
                <a:solidFill>
                  <a:srgbClr val="888888"/>
                </a:solidFill>
                <a:latin typeface="MiSans" pitchFamily="34" charset="0"/>
                <a:ea typeface="MiSans" pitchFamily="34" charset="-122"/>
                <a:cs typeface="MiSans" pitchFamily="34" charset="-120"/>
              </a:rPr>
              <a:t>These three pillars build startup visibility. Content creates assets, data optimizes spend, social amplifies reach. Neglect one and the system weakens.</a:t>
            </a:r>
            <a:endParaRPr lang="en-US" sz="1400" dirty="0"/>
          </a:p>
        </p:txBody>
      </p:sp>
      <p:sp>
        <p:nvSpPr>
          <p:cNvPr id="9" name="Shape 7"/>
          <p:cNvSpPr/>
          <p:nvPr/>
        </p:nvSpPr>
        <p:spPr>
          <a:xfrm>
            <a:off x="5715000" y="1346200"/>
            <a:ext cx="4826000" cy="2159000"/>
          </a:xfrm>
          <a:prstGeom prst="rect">
            <a:avLst/>
          </a:prstGeom>
          <a:solidFill>
            <a:srgbClr val="FFFFFF"/>
          </a:solidFill>
          <a:ln w="12700">
            <a:solidFill>
              <a:srgbClr val="DDDDDD"/>
            </a:solidFill>
            <a:prstDash val="solid"/>
          </a:ln>
        </p:spPr>
      </p:sp>
      <p:sp>
        <p:nvSpPr>
          <p:cNvPr id="10" name="Shape 8"/>
          <p:cNvSpPr/>
          <p:nvPr/>
        </p:nvSpPr>
        <p:spPr>
          <a:xfrm>
            <a:off x="5715000" y="1346200"/>
            <a:ext cx="50800" cy="2159000"/>
          </a:xfrm>
          <a:prstGeom prst="rect">
            <a:avLst/>
          </a:prstGeom>
          <a:solidFill>
            <a:srgbClr val="D91E18"/>
          </a:solidFill>
          <a:ln/>
        </p:spPr>
      </p:sp>
      <p:sp>
        <p:nvSpPr>
          <p:cNvPr id="11" name="Text 9"/>
          <p:cNvSpPr/>
          <p:nvPr/>
        </p:nvSpPr>
        <p:spPr>
          <a:xfrm>
            <a:off x="5892800" y="1422400"/>
            <a:ext cx="635000" cy="381000"/>
          </a:xfrm>
          <a:prstGeom prst="rect">
            <a:avLst/>
          </a:prstGeom>
          <a:noFill/>
          <a:ln/>
        </p:spPr>
        <p:txBody>
          <a:bodyPr wrap="none" lIns="0" tIns="0" rIns="0" bIns="0" rtlCol="0" anchor="ctr"/>
          <a:lstStyle/>
          <a:p>
            <a:pPr algn="l">
              <a:lnSpc>
                <a:spcPct val="120000"/>
              </a:lnSpc>
            </a:pPr>
            <a:r>
              <a:rPr lang="en-US" sz="2400" b="1" dirty="0">
                <a:solidFill>
                  <a:srgbClr val="D91E18"/>
                </a:solidFill>
                <a:latin typeface="Liter" pitchFamily="34" charset="0"/>
                <a:ea typeface="Liter" pitchFamily="34" charset="-122"/>
                <a:cs typeface="Liter" pitchFamily="34" charset="-120"/>
              </a:rPr>
              <a:t>02</a:t>
            </a:r>
            <a:endParaRPr lang="en-US" sz="2400" dirty="0"/>
          </a:p>
        </p:txBody>
      </p:sp>
      <p:sp>
        <p:nvSpPr>
          <p:cNvPr id="12" name="Text 10"/>
          <p:cNvSpPr/>
          <p:nvPr/>
        </p:nvSpPr>
        <p:spPr>
          <a:xfrm>
            <a:off x="5892800" y="1828800"/>
            <a:ext cx="4495800" cy="1574800"/>
          </a:xfrm>
          <a:prstGeom prst="rect">
            <a:avLst/>
          </a:prstGeom>
          <a:noFill/>
          <a:ln/>
        </p:spPr>
        <p:txBody>
          <a:bodyPr wrap="square" lIns="0" tIns="0" rIns="0" bIns="0" rtlCol="0" anchor="t"/>
          <a:lstStyle/>
          <a:p>
            <a:pPr algn="l">
              <a:lnSpc>
                <a:spcPct val="150000"/>
              </a:lnSpc>
            </a:pPr>
            <a:r>
              <a:rPr lang="en-US" sz="1400" b="1" dirty="0">
                <a:solidFill>
                  <a:srgbClr val="2C2C2C"/>
                </a:solidFill>
                <a:latin typeface="MiSans" pitchFamily="34" charset="0"/>
                <a:ea typeface="MiSans" pitchFamily="34" charset="-122"/>
                <a:cs typeface="MiSans" pitchFamily="34" charset="-120"/>
              </a:rPr>
              <a:t>All Five GTM Components Must Work Together</a:t>
            </a:r>
            <a:endParaRPr lang="en-US" sz="1400" dirty="0"/>
          </a:p>
          <a:p>
            <a:pPr algn="l">
              <a:lnSpc>
                <a:spcPct val="150000"/>
              </a:lnSpc>
              <a:spcBef>
                <a:spcPts val="400"/>
              </a:spcBef>
            </a:pPr>
            <a:r>
              <a:rPr lang="en-US" sz="1400" dirty="0">
                <a:solidFill>
                  <a:srgbClr val="888888"/>
                </a:solidFill>
                <a:latin typeface="MiSans" pitchFamily="34" charset="0"/>
                <a:ea typeface="MiSans" pitchFamily="34" charset="-122"/>
                <a:cs typeface="MiSans" pitchFamily="34" charset="-120"/>
              </a:rPr>
              <a:t>Market definition, ICP, value prop, channels, pricing — miss one and the system breaks. The ICP is the most important document in your GTM.</a:t>
            </a:r>
            <a:endParaRPr lang="en-US" sz="1400" dirty="0"/>
          </a:p>
        </p:txBody>
      </p:sp>
      <p:sp>
        <p:nvSpPr>
          <p:cNvPr id="13" name="Shape 11"/>
          <p:cNvSpPr/>
          <p:nvPr/>
        </p:nvSpPr>
        <p:spPr>
          <a:xfrm>
            <a:off x="10795000" y="1346200"/>
            <a:ext cx="4826000" cy="2349500"/>
          </a:xfrm>
          <a:prstGeom prst="rect">
            <a:avLst/>
          </a:prstGeom>
          <a:solidFill>
            <a:srgbClr val="FFFFFF"/>
          </a:solidFill>
          <a:ln w="12700">
            <a:solidFill>
              <a:srgbClr val="DDDDDD"/>
            </a:solidFill>
            <a:prstDash val="solid"/>
          </a:ln>
        </p:spPr>
      </p:sp>
      <p:sp>
        <p:nvSpPr>
          <p:cNvPr id="14" name="Shape 12"/>
          <p:cNvSpPr/>
          <p:nvPr/>
        </p:nvSpPr>
        <p:spPr>
          <a:xfrm>
            <a:off x="10795000" y="1346200"/>
            <a:ext cx="50800" cy="2349500"/>
          </a:xfrm>
          <a:prstGeom prst="rect">
            <a:avLst/>
          </a:prstGeom>
          <a:solidFill>
            <a:srgbClr val="D91E18"/>
          </a:solidFill>
          <a:ln/>
        </p:spPr>
      </p:sp>
      <p:sp>
        <p:nvSpPr>
          <p:cNvPr id="15" name="Text 13"/>
          <p:cNvSpPr/>
          <p:nvPr/>
        </p:nvSpPr>
        <p:spPr>
          <a:xfrm>
            <a:off x="10972800" y="1422400"/>
            <a:ext cx="635000" cy="381000"/>
          </a:xfrm>
          <a:prstGeom prst="rect">
            <a:avLst/>
          </a:prstGeom>
          <a:noFill/>
          <a:ln/>
        </p:spPr>
        <p:txBody>
          <a:bodyPr wrap="none" lIns="0" tIns="0" rIns="0" bIns="0" rtlCol="0" anchor="ctr"/>
          <a:lstStyle/>
          <a:p>
            <a:pPr algn="l">
              <a:lnSpc>
                <a:spcPct val="120000"/>
              </a:lnSpc>
            </a:pPr>
            <a:r>
              <a:rPr lang="en-US" sz="2400" b="1" dirty="0">
                <a:solidFill>
                  <a:srgbClr val="D91E18"/>
                </a:solidFill>
                <a:latin typeface="Liter" pitchFamily="34" charset="0"/>
                <a:ea typeface="Liter" pitchFamily="34" charset="-122"/>
                <a:cs typeface="Liter" pitchFamily="34" charset="-120"/>
              </a:rPr>
              <a:t>03</a:t>
            </a:r>
            <a:endParaRPr lang="en-US" sz="2400" dirty="0"/>
          </a:p>
        </p:txBody>
      </p:sp>
      <p:sp>
        <p:nvSpPr>
          <p:cNvPr id="16" name="Text 14"/>
          <p:cNvSpPr/>
          <p:nvPr/>
        </p:nvSpPr>
        <p:spPr>
          <a:xfrm>
            <a:off x="10972800" y="1828800"/>
            <a:ext cx="4495800" cy="1778000"/>
          </a:xfrm>
          <a:prstGeom prst="rect">
            <a:avLst/>
          </a:prstGeom>
          <a:noFill/>
          <a:ln/>
        </p:spPr>
        <p:txBody>
          <a:bodyPr wrap="square" lIns="0" tIns="0" rIns="0" bIns="0" rtlCol="0" anchor="t"/>
          <a:lstStyle/>
          <a:p>
            <a:pPr algn="l">
              <a:lnSpc>
                <a:spcPct val="150000"/>
              </a:lnSpc>
            </a:pPr>
            <a:r>
              <a:rPr lang="en-US" sz="1400" b="1" dirty="0">
                <a:solidFill>
                  <a:srgbClr val="2C2C2C"/>
                </a:solidFill>
                <a:latin typeface="MiSans" pitchFamily="34" charset="0"/>
                <a:ea typeface="MiSans" pitchFamily="34" charset="-122"/>
                <a:cs typeface="MiSans" pitchFamily="34" charset="-120"/>
              </a:rPr>
              <a:t>First 90 Days = Learning Velocity, Not Revenue</a:t>
            </a:r>
            <a:endParaRPr lang="en-US" sz="1400" dirty="0"/>
          </a:p>
          <a:p>
            <a:pPr algn="l">
              <a:lnSpc>
                <a:spcPct val="150000"/>
              </a:lnSpc>
              <a:spcBef>
                <a:spcPts val="400"/>
              </a:spcBef>
            </a:pPr>
            <a:r>
              <a:rPr lang="en-US" sz="1400" dirty="0">
                <a:solidFill>
                  <a:srgbClr val="888888"/>
                </a:solidFill>
                <a:latin typeface="MiSans" pitchFamily="34" charset="0"/>
                <a:ea typeface="MiSans" pitchFamily="34" charset="-122"/>
                <a:cs typeface="MiSans" pitchFamily="34" charset="-120"/>
              </a:rPr>
              <a:t>The goal of your first 90 days is discovering what is true about your market as fast as possible. Everything after day 90 should be based on evidence.</a:t>
            </a:r>
            <a:endParaRPr lang="en-US" sz="1400" dirty="0"/>
          </a:p>
        </p:txBody>
      </p:sp>
      <p:sp>
        <p:nvSpPr>
          <p:cNvPr id="17" name="Shape 15"/>
          <p:cNvSpPr/>
          <p:nvPr/>
        </p:nvSpPr>
        <p:spPr>
          <a:xfrm>
            <a:off x="635000" y="3810000"/>
            <a:ext cx="4826000" cy="2349500"/>
          </a:xfrm>
          <a:prstGeom prst="rect">
            <a:avLst/>
          </a:prstGeom>
          <a:solidFill>
            <a:srgbClr val="FFFFFF"/>
          </a:solidFill>
          <a:ln w="12700">
            <a:solidFill>
              <a:srgbClr val="DDDDDD"/>
            </a:solidFill>
            <a:prstDash val="solid"/>
          </a:ln>
        </p:spPr>
      </p:sp>
      <p:sp>
        <p:nvSpPr>
          <p:cNvPr id="18" name="Shape 16"/>
          <p:cNvSpPr/>
          <p:nvPr/>
        </p:nvSpPr>
        <p:spPr>
          <a:xfrm>
            <a:off x="635000" y="3810000"/>
            <a:ext cx="50800" cy="2349500"/>
          </a:xfrm>
          <a:prstGeom prst="rect">
            <a:avLst/>
          </a:prstGeom>
          <a:solidFill>
            <a:srgbClr val="00A3A1"/>
          </a:solidFill>
          <a:ln/>
        </p:spPr>
      </p:sp>
      <p:sp>
        <p:nvSpPr>
          <p:cNvPr id="19" name="Text 17"/>
          <p:cNvSpPr/>
          <p:nvPr/>
        </p:nvSpPr>
        <p:spPr>
          <a:xfrm>
            <a:off x="812800" y="3886200"/>
            <a:ext cx="635000" cy="381000"/>
          </a:xfrm>
          <a:prstGeom prst="rect">
            <a:avLst/>
          </a:prstGeom>
          <a:noFill/>
          <a:ln/>
        </p:spPr>
        <p:txBody>
          <a:bodyPr wrap="none" lIns="0" tIns="0" rIns="0" bIns="0" rtlCol="0" anchor="ctr"/>
          <a:lstStyle/>
          <a:p>
            <a:pPr algn="l">
              <a:lnSpc>
                <a:spcPct val="120000"/>
              </a:lnSpc>
            </a:pPr>
            <a:r>
              <a:rPr lang="en-US" sz="2400" b="1" dirty="0">
                <a:solidFill>
                  <a:srgbClr val="00A3A1"/>
                </a:solidFill>
                <a:latin typeface="Liter" pitchFamily="34" charset="0"/>
                <a:ea typeface="Liter" pitchFamily="34" charset="-122"/>
                <a:cs typeface="Liter" pitchFamily="34" charset="-120"/>
              </a:rPr>
              <a:t>04</a:t>
            </a:r>
            <a:endParaRPr lang="en-US" sz="2400" dirty="0"/>
          </a:p>
        </p:txBody>
      </p:sp>
      <p:sp>
        <p:nvSpPr>
          <p:cNvPr id="20" name="Text 18"/>
          <p:cNvSpPr/>
          <p:nvPr/>
        </p:nvSpPr>
        <p:spPr>
          <a:xfrm>
            <a:off x="812800" y="4292600"/>
            <a:ext cx="4495800" cy="1778000"/>
          </a:xfrm>
          <a:prstGeom prst="rect">
            <a:avLst/>
          </a:prstGeom>
          <a:noFill/>
          <a:ln/>
        </p:spPr>
        <p:txBody>
          <a:bodyPr wrap="square" lIns="0" tIns="0" rIns="0" bIns="0" rtlCol="0" anchor="t"/>
          <a:lstStyle/>
          <a:p>
            <a:pPr algn="l">
              <a:lnSpc>
                <a:spcPct val="150000"/>
              </a:lnSpc>
            </a:pPr>
            <a:r>
              <a:rPr lang="en-US" sz="1400" b="1" dirty="0">
                <a:solidFill>
                  <a:srgbClr val="2C2C2C"/>
                </a:solidFill>
                <a:latin typeface="MiSans" pitchFamily="34" charset="0"/>
                <a:ea typeface="MiSans" pitchFamily="34" charset="-122"/>
                <a:cs typeface="MiSans" pitchFamily="34" charset="-120"/>
              </a:rPr>
              <a:t>AI GTM Delivers 47% Productivity &amp; 4-7x Conversions</a:t>
            </a:r>
            <a:endParaRPr lang="en-US" sz="1400" dirty="0"/>
          </a:p>
          <a:p>
            <a:pPr algn="l">
              <a:lnSpc>
                <a:spcPct val="150000"/>
              </a:lnSpc>
              <a:spcBef>
                <a:spcPts val="400"/>
              </a:spcBef>
            </a:pPr>
            <a:r>
              <a:rPr lang="en-US" sz="1400" dirty="0">
                <a:solidFill>
                  <a:srgbClr val="888888"/>
                </a:solidFill>
                <a:latin typeface="MiSans" pitchFamily="34" charset="0"/>
                <a:ea typeface="MiSans" pitchFamily="34" charset="-122"/>
                <a:cs typeface="MiSans" pitchFamily="34" charset="-120"/>
              </a:rPr>
              <a:t>Startups are the best candidates for AI GTM — no legacy processes, smaller teams where every hour counts, and ability to iterate fast.</a:t>
            </a:r>
            <a:endParaRPr lang="en-US" sz="1400" dirty="0"/>
          </a:p>
        </p:txBody>
      </p:sp>
      <p:sp>
        <p:nvSpPr>
          <p:cNvPr id="21" name="Shape 19"/>
          <p:cNvSpPr/>
          <p:nvPr/>
        </p:nvSpPr>
        <p:spPr>
          <a:xfrm>
            <a:off x="5715000" y="3810000"/>
            <a:ext cx="4826000" cy="2349500"/>
          </a:xfrm>
          <a:prstGeom prst="rect">
            <a:avLst/>
          </a:prstGeom>
          <a:solidFill>
            <a:srgbClr val="FFFFFF"/>
          </a:solidFill>
          <a:ln w="12700">
            <a:solidFill>
              <a:srgbClr val="DDDDDD"/>
            </a:solidFill>
            <a:prstDash val="solid"/>
          </a:ln>
        </p:spPr>
      </p:sp>
      <p:sp>
        <p:nvSpPr>
          <p:cNvPr id="22" name="Shape 20"/>
          <p:cNvSpPr/>
          <p:nvPr/>
        </p:nvSpPr>
        <p:spPr>
          <a:xfrm>
            <a:off x="5715000" y="3810000"/>
            <a:ext cx="50800" cy="2349500"/>
          </a:xfrm>
          <a:prstGeom prst="rect">
            <a:avLst/>
          </a:prstGeom>
          <a:solidFill>
            <a:srgbClr val="00A3A1"/>
          </a:solidFill>
          <a:ln/>
        </p:spPr>
      </p:sp>
      <p:sp>
        <p:nvSpPr>
          <p:cNvPr id="23" name="Text 21"/>
          <p:cNvSpPr/>
          <p:nvPr/>
        </p:nvSpPr>
        <p:spPr>
          <a:xfrm>
            <a:off x="5892800" y="3886200"/>
            <a:ext cx="635000" cy="381000"/>
          </a:xfrm>
          <a:prstGeom prst="rect">
            <a:avLst/>
          </a:prstGeom>
          <a:noFill/>
          <a:ln/>
        </p:spPr>
        <p:txBody>
          <a:bodyPr wrap="none" lIns="0" tIns="0" rIns="0" bIns="0" rtlCol="0" anchor="ctr"/>
          <a:lstStyle/>
          <a:p>
            <a:pPr algn="l">
              <a:lnSpc>
                <a:spcPct val="120000"/>
              </a:lnSpc>
            </a:pPr>
            <a:r>
              <a:rPr lang="en-US" sz="2400" b="1" dirty="0">
                <a:solidFill>
                  <a:srgbClr val="00A3A1"/>
                </a:solidFill>
                <a:latin typeface="Liter" pitchFamily="34" charset="0"/>
                <a:ea typeface="Liter" pitchFamily="34" charset="-122"/>
                <a:cs typeface="Liter" pitchFamily="34" charset="-120"/>
              </a:rPr>
              <a:t>05</a:t>
            </a:r>
            <a:endParaRPr lang="en-US" sz="2400" dirty="0"/>
          </a:p>
        </p:txBody>
      </p:sp>
      <p:sp>
        <p:nvSpPr>
          <p:cNvPr id="24" name="Text 22"/>
          <p:cNvSpPr/>
          <p:nvPr/>
        </p:nvSpPr>
        <p:spPr>
          <a:xfrm>
            <a:off x="5892800" y="4292600"/>
            <a:ext cx="4495800" cy="1778000"/>
          </a:xfrm>
          <a:prstGeom prst="rect">
            <a:avLst/>
          </a:prstGeom>
          <a:noFill/>
          <a:ln/>
        </p:spPr>
        <p:txBody>
          <a:bodyPr wrap="square" lIns="0" tIns="0" rIns="0" bIns="0" rtlCol="0" anchor="t"/>
          <a:lstStyle/>
          <a:p>
            <a:pPr algn="l">
              <a:lnSpc>
                <a:spcPct val="150000"/>
              </a:lnSpc>
            </a:pPr>
            <a:r>
              <a:rPr lang="en-US" sz="1400" b="1" dirty="0">
                <a:solidFill>
                  <a:srgbClr val="2C2C2C"/>
                </a:solidFill>
                <a:latin typeface="MiSans" pitchFamily="34" charset="0"/>
                <a:ea typeface="MiSans" pitchFamily="34" charset="-122"/>
                <a:cs typeface="MiSans" pitchFamily="34" charset="-120"/>
              </a:rPr>
              <a:t>Start with One Motion, One Tool per Function</a:t>
            </a:r>
            <a:endParaRPr lang="en-US" sz="1400" dirty="0"/>
          </a:p>
          <a:p>
            <a:pPr algn="l">
              <a:lnSpc>
                <a:spcPct val="150000"/>
              </a:lnSpc>
              <a:spcBef>
                <a:spcPts val="400"/>
              </a:spcBef>
            </a:pPr>
            <a:r>
              <a:rPr lang="en-US" sz="1400" dirty="0">
                <a:solidFill>
                  <a:srgbClr val="888888"/>
                </a:solidFill>
                <a:latin typeface="MiSans" pitchFamily="34" charset="0"/>
                <a:ea typeface="MiSans" pitchFamily="34" charset="-122"/>
                <a:cs typeface="MiSans" pitchFamily="34" charset="-120"/>
              </a:rPr>
              <a:t>Pick outbound OR content. Deploy one AI tool per function. Set triggers, measure results, and iterate weekly. Complexity comes later.</a:t>
            </a:r>
            <a:endParaRPr lang="en-US" sz="1400" dirty="0"/>
          </a:p>
        </p:txBody>
      </p:sp>
      <p:sp>
        <p:nvSpPr>
          <p:cNvPr id="25" name="Shape 23"/>
          <p:cNvSpPr/>
          <p:nvPr/>
        </p:nvSpPr>
        <p:spPr>
          <a:xfrm>
            <a:off x="10795000" y="3810000"/>
            <a:ext cx="4826000" cy="2349500"/>
          </a:xfrm>
          <a:prstGeom prst="rect">
            <a:avLst/>
          </a:prstGeom>
          <a:solidFill>
            <a:srgbClr val="FFFFFF"/>
          </a:solidFill>
          <a:ln w="12700">
            <a:solidFill>
              <a:srgbClr val="DDDDDD"/>
            </a:solidFill>
            <a:prstDash val="solid"/>
          </a:ln>
        </p:spPr>
      </p:sp>
      <p:sp>
        <p:nvSpPr>
          <p:cNvPr id="26" name="Shape 24"/>
          <p:cNvSpPr/>
          <p:nvPr/>
        </p:nvSpPr>
        <p:spPr>
          <a:xfrm>
            <a:off x="10795000" y="3810000"/>
            <a:ext cx="50800" cy="2349500"/>
          </a:xfrm>
          <a:prstGeom prst="rect">
            <a:avLst/>
          </a:prstGeom>
          <a:solidFill>
            <a:srgbClr val="00A3A1"/>
          </a:solidFill>
          <a:ln/>
        </p:spPr>
      </p:sp>
      <p:sp>
        <p:nvSpPr>
          <p:cNvPr id="27" name="Text 25"/>
          <p:cNvSpPr/>
          <p:nvPr/>
        </p:nvSpPr>
        <p:spPr>
          <a:xfrm>
            <a:off x="10972800" y="3886200"/>
            <a:ext cx="635000" cy="381000"/>
          </a:xfrm>
          <a:prstGeom prst="rect">
            <a:avLst/>
          </a:prstGeom>
          <a:noFill/>
          <a:ln/>
        </p:spPr>
        <p:txBody>
          <a:bodyPr wrap="none" lIns="0" tIns="0" rIns="0" bIns="0" rtlCol="0" anchor="ctr"/>
          <a:lstStyle/>
          <a:p>
            <a:pPr algn="l">
              <a:lnSpc>
                <a:spcPct val="120000"/>
              </a:lnSpc>
            </a:pPr>
            <a:r>
              <a:rPr lang="en-US" sz="2400" b="1" dirty="0">
                <a:solidFill>
                  <a:srgbClr val="00A3A1"/>
                </a:solidFill>
                <a:latin typeface="Liter" pitchFamily="34" charset="0"/>
                <a:ea typeface="Liter" pitchFamily="34" charset="-122"/>
                <a:cs typeface="Liter" pitchFamily="34" charset="-120"/>
              </a:rPr>
              <a:t>06</a:t>
            </a:r>
            <a:endParaRPr lang="en-US" sz="2400" dirty="0"/>
          </a:p>
        </p:txBody>
      </p:sp>
      <p:sp>
        <p:nvSpPr>
          <p:cNvPr id="28" name="Text 26"/>
          <p:cNvSpPr/>
          <p:nvPr/>
        </p:nvSpPr>
        <p:spPr>
          <a:xfrm>
            <a:off x="10972800" y="4292600"/>
            <a:ext cx="4495800" cy="1778000"/>
          </a:xfrm>
          <a:prstGeom prst="rect">
            <a:avLst/>
          </a:prstGeom>
          <a:noFill/>
          <a:ln/>
        </p:spPr>
        <p:txBody>
          <a:bodyPr wrap="square" lIns="0" tIns="0" rIns="0" bIns="0" rtlCol="0" anchor="t"/>
          <a:lstStyle/>
          <a:p>
            <a:pPr algn="l">
              <a:lnSpc>
                <a:spcPct val="150000"/>
              </a:lnSpc>
            </a:pPr>
            <a:r>
              <a:rPr lang="en-US" sz="1400" b="1" dirty="0">
                <a:solidFill>
                  <a:srgbClr val="2C2C2C"/>
                </a:solidFill>
                <a:latin typeface="MiSans" pitchFamily="34" charset="0"/>
                <a:ea typeface="MiSans" pitchFamily="34" charset="-122"/>
                <a:cs typeface="MiSans" pitchFamily="34" charset="-120"/>
              </a:rPr>
              <a:t>The Weekly GTM Journal Separates Winners</a:t>
            </a:r>
            <a:endParaRPr lang="en-US" sz="1400" dirty="0"/>
          </a:p>
          <a:p>
            <a:pPr algn="l">
              <a:lnSpc>
                <a:spcPct val="150000"/>
              </a:lnSpc>
              <a:spcBef>
                <a:spcPts val="400"/>
              </a:spcBef>
            </a:pPr>
            <a:r>
              <a:rPr lang="en-US" sz="1400" dirty="0">
                <a:solidFill>
                  <a:srgbClr val="888888"/>
                </a:solidFill>
                <a:latin typeface="MiSans" pitchFamily="34" charset="0"/>
                <a:ea typeface="MiSans" pitchFamily="34" charset="-122"/>
                <a:cs typeface="MiSans" pitchFamily="34" charset="-120"/>
              </a:rPr>
              <a:t>Every Friday: 3 learnings, 1 wrong assumption, 1 change. After 30 days, patterns emerge that no dashboard can surface.</a:t>
            </a:r>
            <a:endParaRPr lang="en-US" sz="1400" dirty="0"/>
          </a:p>
        </p:txBody>
      </p:sp>
      <p:sp>
        <p:nvSpPr>
          <p:cNvPr id="29" name="Shape 27"/>
          <p:cNvSpPr/>
          <p:nvPr/>
        </p:nvSpPr>
        <p:spPr>
          <a:xfrm>
            <a:off x="635000" y="6350000"/>
            <a:ext cx="14986000" cy="1270000"/>
          </a:xfrm>
          <a:prstGeom prst="rect">
            <a:avLst/>
          </a:prstGeom>
          <a:solidFill>
            <a:srgbClr val="D91E18"/>
          </a:solidFill>
          <a:ln/>
        </p:spPr>
      </p:sp>
      <p:sp>
        <p:nvSpPr>
          <p:cNvPr id="30" name="Text 28"/>
          <p:cNvSpPr/>
          <p:nvPr/>
        </p:nvSpPr>
        <p:spPr>
          <a:xfrm>
            <a:off x="889000" y="6477000"/>
            <a:ext cx="14478000" cy="1016000"/>
          </a:xfrm>
          <a:prstGeom prst="rect">
            <a:avLst/>
          </a:prstGeom>
          <a:noFill/>
          <a:ln/>
        </p:spPr>
        <p:txBody>
          <a:bodyPr wrap="square" lIns="0" tIns="0" rIns="0" bIns="0" rtlCol="0" anchor="ctr"/>
          <a:lstStyle/>
          <a:p>
            <a:pPr algn="ctr">
              <a:lnSpc>
                <a:spcPct val="150000"/>
              </a:lnSpc>
            </a:pPr>
            <a:r>
              <a:rPr lang="en-US" sz="1600" b="1" dirty="0">
                <a:solidFill>
                  <a:srgbClr val="FFFFFF"/>
                </a:solidFill>
                <a:latin typeface="MiSans" pitchFamily="34" charset="0"/>
                <a:ea typeface="MiSans" pitchFamily="34" charset="-122"/>
                <a:cs typeface="MiSans" pitchFamily="34" charset="-120"/>
              </a:rPr>
              <a:t>The compound effect is unstoppable:</a:t>
            </a:r>
            <a:pPr algn="ctr">
              <a:lnSpc>
                <a:spcPct val="150000"/>
              </a:lnSpc>
            </a:pPr>
            <a:r>
              <a:rPr lang="en-US" sz="1600" dirty="0">
                <a:solidFill>
                  <a:srgbClr val="FFFFFF"/>
                </a:solidFill>
                <a:latin typeface="MiSans" pitchFamily="34" charset="0"/>
                <a:ea typeface="MiSans" pitchFamily="34" charset="-122"/>
                <a:cs typeface="MiSans" pitchFamily="34" charset="-120"/>
              </a:rPr>
              <a:t> Start with one motion. Automate one function. Learn one thing every week. Content builds trust, GTM creates structure, AI multiplies output. Together, they form a growth engine that compounds over time.</a:t>
            </a:r>
            <a:endParaRPr lang="en-US" sz="1600" dirty="0"/>
          </a:p>
        </p:txBody>
      </p:sp>
      <p:sp>
        <p:nvSpPr>
          <p:cNvPr id="31" name="Shape 29"/>
          <p:cNvSpPr/>
          <p:nvPr/>
        </p:nvSpPr>
        <p:spPr>
          <a:xfrm>
            <a:off x="635000" y="8331200"/>
            <a:ext cx="14986000" cy="0"/>
          </a:xfrm>
          <a:prstGeom prst="straightConnector1">
            <a:avLst/>
          </a:prstGeom>
          <a:noFill/>
          <a:ln w="12700">
            <a:solidFill>
              <a:srgbClr val="DDDDDD"/>
            </a:solidFill>
            <a:prstDash val="solid"/>
            <a:headEnd type="none"/>
            <a:tailEnd type="none"/>
          </a:ln>
        </p:spPr>
      </p:sp>
      <p:sp>
        <p:nvSpPr>
          <p:cNvPr id="32" name="Text 30"/>
          <p:cNvSpPr/>
          <p:nvPr/>
        </p:nvSpPr>
        <p:spPr>
          <a:xfrm>
            <a:off x="635000" y="8407400"/>
            <a:ext cx="8890000" cy="279400"/>
          </a:xfrm>
          <a:prstGeom prst="rect">
            <a:avLst/>
          </a:prstGeom>
          <a:noFill/>
          <a:ln/>
        </p:spPr>
        <p:txBody>
          <a:bodyPr wrap="none" lIns="0" tIns="0" rIns="0" bIns="0" rtlCol="0" anchor="t"/>
          <a:lstStyle/>
          <a:p>
            <a:pPr algn="l">
              <a:lnSpc>
                <a:spcPct val="120000"/>
              </a:lnSpc>
            </a:pPr>
            <a:r>
              <a:rPr lang="en-US" sz="1300" dirty="0">
                <a:solidFill>
                  <a:srgbClr val="888888"/>
                </a:solidFill>
                <a:latin typeface="Liter" pitchFamily="34" charset="0"/>
                <a:ea typeface="Liter" pitchFamily="34" charset="-122"/>
                <a:cs typeface="Liter" pitchFamily="34" charset="-120"/>
              </a:rPr>
              <a:t>Startup Growth Research | July 2026</a:t>
            </a:r>
            <a:endParaRPr lang="en-US" sz="1300" dirty="0"/>
          </a:p>
        </p:txBody>
      </p:sp>
      <p:sp>
        <p:nvSpPr>
          <p:cNvPr id="33" name="Text 31"/>
          <p:cNvSpPr/>
          <p:nvPr/>
        </p:nvSpPr>
        <p:spPr>
          <a:xfrm>
            <a:off x="14351000" y="8407400"/>
            <a:ext cx="1270000" cy="279400"/>
          </a:xfrm>
          <a:prstGeom prst="rect">
            <a:avLst/>
          </a:prstGeom>
          <a:noFill/>
          <a:ln/>
        </p:spPr>
        <p:txBody>
          <a:bodyPr wrap="none" lIns="0" tIns="0" rIns="0" bIns="0" rtlCol="0" anchor="ctr"/>
          <a:lstStyle/>
          <a:p>
            <a:pPr algn="r">
              <a:lnSpc>
                <a:spcPct val="120000"/>
              </a:lnSpc>
            </a:pPr>
            <a:r>
              <a:rPr lang="en-US" sz="1200" dirty="0">
                <a:solidFill>
                  <a:srgbClr val="888888"/>
                </a:solidFill>
                <a:latin typeface="MiSans" pitchFamily="34" charset="0"/>
                <a:ea typeface="MiSans" pitchFamily="34" charset="-122"/>
                <a:cs typeface="MiSans" pitchFamily="34" charset="-120"/>
              </a:rPr>
              <a:t>19</a:t>
            </a:r>
            <a:endParaRPr lang="en-US" sz="12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EFCFB"/>
        </a:solidFill>
      </p:bgPr>
    </p:bg>
    <p:spTree>
      <p:nvGrpSpPr>
        <p:cNvPr id="1" name=""/>
        <p:cNvGrpSpPr/>
        <p:nvPr/>
      </p:nvGrpSpPr>
      <p:grpSpPr>
        <a:xfrm>
          <a:off x="0" y="0"/>
          <a:ext cx="0" cy="0"/>
          <a:chOff x="0" y="0"/>
          <a:chExt cx="0" cy="0"/>
        </a:xfrm>
      </p:grpSpPr>
      <p:sp>
        <p:nvSpPr>
          <p:cNvPr id="2" name="Shape 0"/>
          <p:cNvSpPr/>
          <p:nvPr/>
        </p:nvSpPr>
        <p:spPr>
          <a:xfrm>
            <a:off x="0" y="0"/>
            <a:ext cx="16256000" cy="25400"/>
          </a:xfrm>
          <a:prstGeom prst="rect">
            <a:avLst/>
          </a:prstGeom>
          <a:solidFill>
            <a:srgbClr val="D91E18"/>
          </a:solidFill>
          <a:ln/>
        </p:spPr>
      </p:sp>
      <p:sp>
        <p:nvSpPr>
          <p:cNvPr id="3" name="Text 1"/>
          <p:cNvSpPr/>
          <p:nvPr/>
        </p:nvSpPr>
        <p:spPr>
          <a:xfrm>
            <a:off x="2032000" y="1778000"/>
            <a:ext cx="12192000" cy="1270000"/>
          </a:xfrm>
          <a:prstGeom prst="rect">
            <a:avLst/>
          </a:prstGeom>
          <a:noFill/>
          <a:ln/>
        </p:spPr>
        <p:txBody>
          <a:bodyPr wrap="none" lIns="0" tIns="0" rIns="0" bIns="0" rtlCol="0" anchor="ctr"/>
          <a:lstStyle/>
          <a:p>
            <a:pPr algn="ctr">
              <a:lnSpc>
                <a:spcPct val="120000"/>
              </a:lnSpc>
            </a:pPr>
            <a:r>
              <a:rPr lang="en-US" sz="5600" b="1" dirty="0">
                <a:solidFill>
                  <a:srgbClr val="2C2C2C"/>
                </a:solidFill>
                <a:latin typeface="Liter" pitchFamily="34" charset="0"/>
                <a:ea typeface="Liter" pitchFamily="34" charset="-122"/>
                <a:cs typeface="Liter" pitchFamily="34" charset="-120"/>
              </a:rPr>
              <a:t>READY TO SCALE?</a:t>
            </a:r>
            <a:endParaRPr lang="en-US" sz="5600" dirty="0"/>
          </a:p>
        </p:txBody>
      </p:sp>
      <p:sp>
        <p:nvSpPr>
          <p:cNvPr id="4" name="Shape 2"/>
          <p:cNvSpPr/>
          <p:nvPr/>
        </p:nvSpPr>
        <p:spPr>
          <a:xfrm>
            <a:off x="6858000" y="3200400"/>
            <a:ext cx="2540000" cy="0"/>
          </a:xfrm>
          <a:prstGeom prst="straightConnector1">
            <a:avLst/>
          </a:prstGeom>
          <a:noFill/>
          <a:ln w="25400">
            <a:solidFill>
              <a:srgbClr val="D91E18"/>
            </a:solidFill>
            <a:prstDash val="solid"/>
            <a:headEnd type="none"/>
            <a:tailEnd type="none"/>
          </a:ln>
        </p:spPr>
      </p:sp>
      <p:sp>
        <p:nvSpPr>
          <p:cNvPr id="5" name="Text 3"/>
          <p:cNvSpPr/>
          <p:nvPr/>
        </p:nvSpPr>
        <p:spPr>
          <a:xfrm>
            <a:off x="2032000" y="3403600"/>
            <a:ext cx="12192000" cy="406400"/>
          </a:xfrm>
          <a:prstGeom prst="rect">
            <a:avLst/>
          </a:prstGeom>
          <a:noFill/>
          <a:ln/>
        </p:spPr>
        <p:txBody>
          <a:bodyPr wrap="none" lIns="0" tIns="0" rIns="0" bIns="0" rtlCol="0" anchor="ctr"/>
          <a:lstStyle/>
          <a:p>
            <a:pPr algn="ctr">
              <a:lnSpc>
                <a:spcPct val="120000"/>
              </a:lnSpc>
            </a:pPr>
            <a:r>
              <a:rPr lang="en-US" sz="1800" dirty="0">
                <a:solidFill>
                  <a:srgbClr val="888888"/>
                </a:solidFill>
                <a:latin typeface="Liter" pitchFamily="34" charset="0"/>
                <a:ea typeface="Liter" pitchFamily="34" charset="-122"/>
                <a:cs typeface="Liter" pitchFamily="34" charset="-120"/>
              </a:rPr>
              <a:t>Start with one motion. Automate one function. Learn one thing every week.</a:t>
            </a:r>
            <a:endParaRPr lang="en-US" sz="1800" dirty="0"/>
          </a:p>
        </p:txBody>
      </p:sp>
      <p:sp>
        <p:nvSpPr>
          <p:cNvPr id="6" name="Shape 4"/>
          <p:cNvSpPr/>
          <p:nvPr/>
        </p:nvSpPr>
        <p:spPr>
          <a:xfrm>
            <a:off x="2032000" y="4165600"/>
            <a:ext cx="38100" cy="304800"/>
          </a:xfrm>
          <a:prstGeom prst="rect">
            <a:avLst/>
          </a:prstGeom>
          <a:solidFill>
            <a:srgbClr val="D91E18"/>
          </a:solidFill>
          <a:ln/>
        </p:spPr>
      </p:sp>
      <p:sp>
        <p:nvSpPr>
          <p:cNvPr id="7" name="Text 5"/>
          <p:cNvSpPr/>
          <p:nvPr/>
        </p:nvSpPr>
        <p:spPr>
          <a:xfrm>
            <a:off x="2133600" y="4165600"/>
            <a:ext cx="12090400" cy="304800"/>
          </a:xfrm>
          <a:prstGeom prst="rect">
            <a:avLst/>
          </a:prstGeom>
          <a:noFill/>
          <a:ln/>
        </p:spPr>
        <p:txBody>
          <a:bodyPr wrap="none" lIns="0" tIns="0" rIns="0" bIns="0" rtlCol="0" anchor="ctr"/>
          <a:lstStyle/>
          <a:p>
            <a:pPr algn="l">
              <a:lnSpc>
                <a:spcPct val="120000"/>
              </a:lnSpc>
            </a:pPr>
            <a:r>
              <a:rPr lang="en-US" sz="1100" b="1" dirty="0">
                <a:solidFill>
                  <a:srgbClr val="888888"/>
                </a:solidFill>
                <a:latin typeface="Liter" pitchFamily="34" charset="0"/>
                <a:ea typeface="Liter" pitchFamily="34" charset="-122"/>
                <a:cs typeface="Liter" pitchFamily="34" charset="-120"/>
              </a:rPr>
              <a:t>RECOMMENDED NEXT STEPS</a:t>
            </a:r>
            <a:endParaRPr lang="en-US" sz="1100" dirty="0"/>
          </a:p>
        </p:txBody>
      </p:sp>
      <p:sp>
        <p:nvSpPr>
          <p:cNvPr id="8" name="Text 6"/>
          <p:cNvSpPr/>
          <p:nvPr/>
        </p:nvSpPr>
        <p:spPr>
          <a:xfrm>
            <a:off x="2133600" y="4597400"/>
            <a:ext cx="3683000" cy="1524000"/>
          </a:xfrm>
          <a:prstGeom prst="rect">
            <a:avLst/>
          </a:prstGeom>
          <a:noFill/>
          <a:ln/>
        </p:spPr>
        <p:txBody>
          <a:bodyPr wrap="square" lIns="0" tIns="0" rIns="0" bIns="0" rtlCol="0" anchor="t"/>
          <a:lstStyle/>
          <a:p>
            <a:pPr algn="l">
              <a:lnSpc>
                <a:spcPct val="165000"/>
              </a:lnSpc>
            </a:pPr>
            <a:r>
              <a:rPr lang="en-US" sz="1300" b="1" dirty="0">
                <a:solidFill>
                  <a:srgbClr val="D91E18"/>
                </a:solidFill>
                <a:latin typeface="Liter" pitchFamily="34" charset="0"/>
                <a:ea typeface="Liter" pitchFamily="34" charset="-122"/>
                <a:cs typeface="Liter" pitchFamily="34" charset="-120"/>
              </a:rPr>
              <a:t>Step 1</a:t>
            </a:r>
            <a:endParaRPr lang="en-US" sz="1300" dirty="0"/>
          </a:p>
          <a:p>
            <a:pPr algn="l">
              <a:lnSpc>
                <a:spcPct val="165000"/>
              </a:lnSpc>
            </a:pPr>
            <a:r>
              <a:rPr lang="en-US" sz="1300" dirty="0">
                <a:solidFill>
                  <a:srgbClr val="2C2C2C"/>
                </a:solidFill>
                <a:latin typeface="Liter" pitchFamily="34" charset="0"/>
                <a:ea typeface="Liter" pitchFamily="34" charset="-122"/>
                <a:cs typeface="Liter" pitchFamily="34" charset="-120"/>
              </a:rPr>
              <a:t>Audit your current marketing and GTM setup. Identify the biggest bottleneck — is it lead gen, conversion, or retention?</a:t>
            </a:r>
            <a:endParaRPr lang="en-US" sz="1300" dirty="0"/>
          </a:p>
        </p:txBody>
      </p:sp>
      <p:sp>
        <p:nvSpPr>
          <p:cNvPr id="9" name="Text 7"/>
          <p:cNvSpPr/>
          <p:nvPr/>
        </p:nvSpPr>
        <p:spPr>
          <a:xfrm>
            <a:off x="6223000" y="4597400"/>
            <a:ext cx="3683000" cy="1524000"/>
          </a:xfrm>
          <a:prstGeom prst="rect">
            <a:avLst/>
          </a:prstGeom>
          <a:noFill/>
          <a:ln/>
        </p:spPr>
        <p:txBody>
          <a:bodyPr wrap="square" lIns="0" tIns="0" rIns="0" bIns="0" rtlCol="0" anchor="t"/>
          <a:lstStyle/>
          <a:p>
            <a:pPr algn="l">
              <a:lnSpc>
                <a:spcPct val="165000"/>
              </a:lnSpc>
            </a:pPr>
            <a:r>
              <a:rPr lang="en-US" sz="1300" b="1" dirty="0">
                <a:solidFill>
                  <a:srgbClr val="D91E18"/>
                </a:solidFill>
                <a:latin typeface="Liter" pitchFamily="34" charset="0"/>
                <a:ea typeface="Liter" pitchFamily="34" charset="-122"/>
                <a:cs typeface="Liter" pitchFamily="34" charset="-120"/>
              </a:rPr>
              <a:t>Step 2</a:t>
            </a:r>
            <a:endParaRPr lang="en-US" sz="1300" dirty="0"/>
          </a:p>
          <a:p>
            <a:pPr algn="l">
              <a:lnSpc>
                <a:spcPct val="165000"/>
              </a:lnSpc>
            </a:pPr>
            <a:r>
              <a:rPr lang="en-US" sz="1300" dirty="0">
                <a:solidFill>
                  <a:srgbClr val="2C2C2C"/>
                </a:solidFill>
                <a:latin typeface="Liter" pitchFamily="34" charset="0"/>
                <a:ea typeface="Liter" pitchFamily="34" charset="-122"/>
                <a:cs typeface="Liter" pitchFamily="34" charset="-120"/>
              </a:rPr>
              <a:t>Pick one AI tool for your biggest bottleneck. Deploy it for 30 days. Run the weekly GTM journal and measure before/after.</a:t>
            </a:r>
            <a:endParaRPr lang="en-US" sz="1300" dirty="0"/>
          </a:p>
        </p:txBody>
      </p:sp>
      <p:sp>
        <p:nvSpPr>
          <p:cNvPr id="10" name="Text 8"/>
          <p:cNvSpPr/>
          <p:nvPr/>
        </p:nvSpPr>
        <p:spPr>
          <a:xfrm>
            <a:off x="10312400" y="4597400"/>
            <a:ext cx="3911600" cy="1524000"/>
          </a:xfrm>
          <a:prstGeom prst="rect">
            <a:avLst/>
          </a:prstGeom>
          <a:noFill/>
          <a:ln/>
        </p:spPr>
        <p:txBody>
          <a:bodyPr wrap="square" lIns="0" tIns="0" rIns="0" bIns="0" rtlCol="0" anchor="t"/>
          <a:lstStyle/>
          <a:p>
            <a:pPr algn="l">
              <a:lnSpc>
                <a:spcPct val="165000"/>
              </a:lnSpc>
            </a:pPr>
            <a:r>
              <a:rPr lang="en-US" sz="1300" b="1" dirty="0">
                <a:solidFill>
                  <a:srgbClr val="D91E18"/>
                </a:solidFill>
                <a:latin typeface="Liter" pitchFamily="34" charset="0"/>
                <a:ea typeface="Liter" pitchFamily="34" charset="-122"/>
                <a:cs typeface="Liter" pitchFamily="34" charset="-120"/>
              </a:rPr>
              <a:t>Step 3</a:t>
            </a:r>
            <a:endParaRPr lang="en-US" sz="1300" dirty="0"/>
          </a:p>
          <a:p>
            <a:pPr algn="l">
              <a:lnSpc>
                <a:spcPct val="165000"/>
              </a:lnSpc>
            </a:pPr>
            <a:r>
              <a:rPr lang="en-US" sz="1300" dirty="0">
                <a:solidFill>
                  <a:srgbClr val="2C2C2C"/>
                </a:solidFill>
                <a:latin typeface="Liter" pitchFamily="34" charset="0"/>
                <a:ea typeface="Liter" pitchFamily="34" charset="-122"/>
                <a:cs typeface="Liter" pitchFamily="34" charset="-120"/>
              </a:rPr>
              <a:t>Scale what works. Add one new tool or channel per quarter. Build your AI GTM stack incrementally, not all at once.</a:t>
            </a:r>
            <a:endParaRPr lang="en-US" sz="1300" dirty="0"/>
          </a:p>
        </p:txBody>
      </p:sp>
      <p:sp>
        <p:nvSpPr>
          <p:cNvPr id="11" name="Shape 9"/>
          <p:cNvSpPr/>
          <p:nvPr/>
        </p:nvSpPr>
        <p:spPr>
          <a:xfrm>
            <a:off x="2032000" y="6400800"/>
            <a:ext cx="12192000" cy="1270000"/>
          </a:xfrm>
          <a:prstGeom prst="rect">
            <a:avLst/>
          </a:prstGeom>
          <a:solidFill>
            <a:srgbClr val="F4F4F4"/>
          </a:solidFill>
          <a:ln/>
        </p:spPr>
      </p:sp>
      <p:sp>
        <p:nvSpPr>
          <p:cNvPr id="12" name="Text 10"/>
          <p:cNvSpPr/>
          <p:nvPr/>
        </p:nvSpPr>
        <p:spPr>
          <a:xfrm>
            <a:off x="2540000" y="6604000"/>
            <a:ext cx="11176000" cy="914400"/>
          </a:xfrm>
          <a:prstGeom prst="rect">
            <a:avLst/>
          </a:prstGeom>
          <a:noFill/>
          <a:ln/>
        </p:spPr>
        <p:txBody>
          <a:bodyPr wrap="square" lIns="0" tIns="0" rIns="0" bIns="0" rtlCol="0" anchor="t"/>
          <a:lstStyle/>
          <a:p>
            <a:pPr algn="l">
              <a:lnSpc>
                <a:spcPct val="165000"/>
              </a:lnSpc>
            </a:pPr>
            <a:r>
              <a:rPr lang="en-US" sz="1300" b="1" dirty="0">
                <a:solidFill>
                  <a:srgbClr val="888888"/>
                </a:solidFill>
                <a:latin typeface="Liter" pitchFamily="34" charset="0"/>
                <a:ea typeface="Liter" pitchFamily="34" charset="-122"/>
                <a:cs typeface="Liter" pitchFamily="34" charset="-120"/>
              </a:rPr>
              <a:t>Questions?</a:t>
            </a:r>
            <a:pPr algn="l">
              <a:lnSpc>
                <a:spcPct val="165000"/>
              </a:lnSpc>
            </a:pPr>
            <a:r>
              <a:rPr lang="en-US" sz="1300" dirty="0">
                <a:solidFill>
                  <a:srgbClr val="2C2C2C"/>
                </a:solidFill>
                <a:latin typeface="Liter" pitchFamily="34" charset="0"/>
                <a:ea typeface="Liter" pitchFamily="34" charset="-122"/>
                <a:cs typeface="Liter" pitchFamily="34" charset="-120"/>
              </a:rPr>
              <a:t> This playbook is based on research from GTM Strategy Framework, The Growth Syndicate, Miniloop AI, and Planetary Labour.</a:t>
            </a:r>
            <a:endParaRPr lang="en-US" sz="1300" dirty="0"/>
          </a:p>
          <a:p>
            <a:pPr algn="l">
              <a:lnSpc>
                <a:spcPct val="165000"/>
              </a:lnSpc>
            </a:pPr>
            <a:r>
              <a:rPr lang="en-US" sz="1300" b="1" dirty="0">
                <a:solidFill>
                  <a:srgbClr val="888888"/>
                </a:solidFill>
                <a:latin typeface="Liter" pitchFamily="34" charset="0"/>
                <a:ea typeface="Liter" pitchFamily="34" charset="-122"/>
                <a:cs typeface="Liter" pitchFamily="34" charset="-120"/>
              </a:rPr>
              <a:t>Remember:</a:t>
            </a:r>
            <a:pPr algn="l">
              <a:lnSpc>
                <a:spcPct val="165000"/>
              </a:lnSpc>
            </a:pPr>
            <a:r>
              <a:rPr lang="en-US" sz="1300" dirty="0">
                <a:solidFill>
                  <a:srgbClr val="2C2C2C"/>
                </a:solidFill>
                <a:latin typeface="Liter" pitchFamily="34" charset="0"/>
                <a:ea typeface="Liter" pitchFamily="34" charset="-122"/>
                <a:cs typeface="Liter" pitchFamily="34" charset="-120"/>
              </a:rPr>
              <a:t> The compound effect is unstoppable. Start small, iterate fast, and let data guide every decision.</a:t>
            </a:r>
            <a:endParaRPr lang="en-US" sz="1300" dirty="0"/>
          </a:p>
        </p:txBody>
      </p:sp>
      <p:sp>
        <p:nvSpPr>
          <p:cNvPr id="13" name="Shape 11"/>
          <p:cNvSpPr/>
          <p:nvPr/>
        </p:nvSpPr>
        <p:spPr>
          <a:xfrm>
            <a:off x="0" y="9118600"/>
            <a:ext cx="16256000" cy="25400"/>
          </a:xfrm>
          <a:prstGeom prst="rect">
            <a:avLst/>
          </a:prstGeom>
          <a:solidFill>
            <a:srgbClr val="D91E18"/>
          </a:solidFill>
          <a:ln/>
        </p:spPr>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AMPLIFY YOUR STARTUP — Marketing, GTM &amp; AI Automation</dc:title>
  <dc:subject>AMPLIFY YOUR STARTUP — Marketing, GTM &amp; AI Automation</dc:subject>
  <dc:creator>Kimi</dc:creator>
  <cp:lastModifiedBy>Kimi</cp:lastModifiedBy>
  <cp:revision>1</cp:revision>
  <dcterms:created xsi:type="dcterms:W3CDTF">2026-07-14T17:58:38Z</dcterms:created>
  <dcterms:modified xsi:type="dcterms:W3CDTF">2026-07-14T17:58:38Z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{"Label":"AMPLIFY YOUR STARTUP — Marketing, GTM &amp; AI Automation","ContentProducer":"001191110108MACG2KBH8F10000","ProduceID":"19f61a3b-3872-8481-8000-0000017be5a4","ReservedCode1":"","ContentPropagator":"001191110108MACG2KBH8F20000","PropagateID":"19f619d4-6982-8c98-8000-094911d60c2d","ReservedCode2":""}</vt:lpwstr>
  </property>
</Properties>
</file>